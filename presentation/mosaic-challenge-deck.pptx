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MOSAIC means Multi-customer Orchestration System for Adaptive Intake and Continuous Delivery. It is AI-first business process automation and orchestration for the solution-engineering lifecycle, not merely a chatbot or document generator. In GitHub Copilot App, a business user describes a problem, requirement or opportunity in plain language. Adaptive intake asks relevant questions to clarify outcomes, scope, affected people, constraints and success measures. After explicit approval, MOSAIC acquires approved evidence, normalizes facts and unknowns, analyzes requirements and risks, compares exactly three options, prepares a proposed design and delivery-readiness plans, validates the package, and hands it to qualified people for decisions. The durable result is a 23-artifact dossier covering the business context, scope, requirements, assumptions, unknowns, risks, alternatives, proposed architecture, implementation, verification, interfaces, security, deployment and rollback, operations and adoption, measurement, evidence, validation, transcript, audit trail and meeting materials. This replaces repeated discovery, scattered research and reconstructed handoffs with one governed process. MOSAIC does not approve, implement or deploy the proposed customer solution. People still select the architecture, approve the exact dossier revision and authorize delivery. One isolated installation per customer supports the multi-customer distribution model. Reuse the process and controls, not restricted customer information. The executable reference uses prewritten scenario analysis; actual App evidence remains limited to saved instructions and source-tool calls. Cost, effort, reporting quality and lifecycle efficiency are evaluation targets, with illustrative planning economics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lossless crops from the entrant's authentic 2 minute 55.57 second contest recording captured on October 7, 2026. The left frame shows the selected MOSAIC Orchestrator in GitHub Copilot App accepting the fictional Contoso travel-policy request and presenting an adaptive follow-up with End intake and generate report as option 1. The right frame shows the generated browser dossier from the same recorded run, labeled unselected discussion draft and awaiting human review. The workflow accepts a plain-language need, preserves unknowns, discloses a bounded generation plan, acquires only approved synthetic evidence, and prepares exactly three contrasting options plus the 23-artifact package: ten HTML pages, nine Markdown reports and four JSON records. An authorized customer role must first select the architecture. The selected full dossier then requires separate approval against its exact revision. The reference records neither decision and releaseAuthorized remains false. No solution is implemented, deployed or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follows from reducing repeated intake and design preparation, not from removing accountable judgment. ECO-001 is the entrant-provided internal planning brief, economic inputs on pages 4, 13-15 and 21-22; the confidential source remains outside Git. The planning range is 48-144 manual hours, with a 96-hour midpoint and assumed retained review of 16 hours. Base arithmetic: 96-16=80 hours returned; 80/96=83.33%; 80*$200/hour=$16,000 gross capacity per eligible request. At an illustrative 100 eligible requests/year, this is 8,000 hours and $1.6 million of gross capacity before additional effort and costs. The displayed base case assumes no other retained effort. Account for actual coordination, correction and exception effort, plus platform, integration, governance, support and operating costs. Do not double-count retained review costs or call released capacity cash savings. Review-time sensitivity at 24/16/8 hours gives 72/80/88 hours returned. These are not measured MOSAIC outcomes, a customer forecast, staffing commitments or a Copilot-versus-Claude benchmark. MOSAIC is designed for adoption from small businesses through large enterprises. Each isolated customer can supply its own evidence policy, terminology, report templates, required document profile, reviewer roles and approval rules while baseline controls remain non-removable. The contest reference demonstrates shared templates, customer-configured roles and document compatibility checks; arbitrary zero-code customization is not claimed. Reuse spans account teams, customer success, solution sales and developers. GitHub's documented issue, instruction, change and review surfaces provide workflow fit; Claude Code supports overlapping patterns. Sources: docs/evaluation-plan.md#planning-economics, docs/adoption-playbook.md, https://docs.github.com/en/copilot/how-tos/github-copilot-app and https://code.claude.com/docs/en/desktop (product documentation accessed September 15,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SAIC">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85216" y="182880"/>
            <a:ext cx="6492240" cy="201168"/>
          </a:xfrm>
          <a:prstGeom prst="rect">
            <a:avLst/>
          </a:prstGeom>
          <a:noFill/>
          <a:ln/>
        </p:spPr>
        <p:txBody>
          <a:bodyPr wrap="square" lIns="0" tIns="0" rIns="0" bIns="0" rtlCol="0" anchor="ctr"/>
          <a:lstStyle/>
          <a:p>
            <a:pPr indent="0" marL="0">
              <a:buNone/>
            </a:pPr>
            <a:r>
              <a:rPr lang="en-US" sz="1100" b="1" dirty="0">
                <a:solidFill>
                  <a:srgbClr val="515151"/>
                </a:solidFill>
              </a:rPr>
              <a:t>MICROSOFT / CUSTOMER ENGINEERING</a:t>
            </a:r>
            <a:endParaRPr lang="en-US" sz="1100" dirty="0"/>
          </a:p>
        </p:txBody>
      </p:sp>
      <p:sp>
        <p:nvSpPr>
          <p:cNvPr id="3" name="Shape 1"/>
          <p:cNvSpPr/>
          <p:nvPr/>
        </p:nvSpPr>
        <p:spPr>
          <a:xfrm>
            <a:off x="10625328" y="182880"/>
            <a:ext cx="292608" cy="201168"/>
          </a:xfrm>
          <a:prstGeom prst="rect">
            <a:avLst/>
          </a:prstGeom>
          <a:solidFill>
            <a:srgbClr val="78E3EA"/>
          </a:solidFill>
          <a:ln w="12700">
            <a:solidFill>
              <a:srgbClr val="78E3EA"/>
            </a:solidFill>
            <a:prstDash val="solid"/>
          </a:ln>
        </p:spPr>
      </p:sp>
      <p:sp>
        <p:nvSpPr>
          <p:cNvPr id="4" name="Shape 2"/>
          <p:cNvSpPr/>
          <p:nvPr/>
        </p:nvSpPr>
        <p:spPr>
          <a:xfrm>
            <a:off x="10954512" y="182880"/>
            <a:ext cx="292608" cy="201168"/>
          </a:xfrm>
          <a:prstGeom prst="rect">
            <a:avLst/>
          </a:prstGeom>
          <a:solidFill>
            <a:srgbClr val="FF785D"/>
          </a:solidFill>
          <a:ln w="12700">
            <a:solidFill>
              <a:srgbClr val="FF785D"/>
            </a:solidFill>
            <a:prstDash val="solid"/>
          </a:ln>
        </p:spPr>
      </p:sp>
      <p:sp>
        <p:nvSpPr>
          <p:cNvPr id="5" name="Shape 3"/>
          <p:cNvSpPr/>
          <p:nvPr/>
        </p:nvSpPr>
        <p:spPr>
          <a:xfrm>
            <a:off x="11283696" y="182880"/>
            <a:ext cx="292608" cy="201168"/>
          </a:xfrm>
          <a:prstGeom prst="rect">
            <a:avLst/>
          </a:prstGeom>
          <a:solidFill>
            <a:srgbClr val="F4CA58"/>
          </a:solidFill>
          <a:ln w="12700">
            <a:solidFill>
              <a:srgbClr val="F4CA58"/>
            </a:solidFill>
            <a:prstDash val="solid"/>
          </a:ln>
        </p:spPr>
      </p:sp>
      <p:sp>
        <p:nvSpPr>
          <p:cNvPr id="6" name="Shape 4"/>
          <p:cNvSpPr/>
          <p:nvPr/>
        </p:nvSpPr>
        <p:spPr>
          <a:xfrm>
            <a:off x="585216" y="6510528"/>
            <a:ext cx="10991088" cy="0"/>
          </a:xfrm>
          <a:prstGeom prst="line">
            <a:avLst/>
          </a:prstGeom>
          <a:noFill/>
          <a:ln w="10160">
            <a:solidFill>
              <a:srgbClr val="C8C8C8"/>
            </a:solidFill>
            <a:prstDash val="solid"/>
          </a:ln>
        </p:spPr>
      </p:sp>
      <p:sp>
        <p:nvSpPr>
          <p:cNvPr id="7" name="Text 5"/>
          <p:cNvSpPr/>
          <p:nvPr/>
        </p:nvSpPr>
        <p:spPr>
          <a:xfrm>
            <a:off x="585216" y="6601968"/>
            <a:ext cx="10058400" cy="182880"/>
          </a:xfrm>
          <a:prstGeom prst="rect">
            <a:avLst/>
          </a:prstGeom>
          <a:noFill/>
          <a:ln/>
        </p:spPr>
        <p:txBody>
          <a:bodyPr wrap="square" lIns="0" tIns="0" rIns="0" bIns="0" rtlCol="0" anchor="ctr"/>
          <a:lstStyle/>
          <a:p>
            <a:pPr indent="0" marL="0">
              <a:buNone/>
            </a:pPr>
            <a:r>
              <a:rPr lang="en-US" sz="1100" dirty="0">
                <a:solidFill>
                  <a:srgbClr val="515151"/>
                </a:solidFill>
              </a:rPr>
              <a:t>Synthetic reference. Impact not yet measured. Human approval required.</a:t>
            </a:r>
            <a:endParaRPr lang="en-US" sz="1100" dirty="0"/>
          </a:p>
        </p:txBody>
      </p:sp>
      <p:sp>
        <p:nvSpPr>
          <p:cNvPr id="25" name="Slide Number Placeholder 0"/>
          <p:cNvSpPr>
            <a:spLocks noGrp="1"/>
          </p:cNvSpPr>
          <p:nvPr>
            <p:ph type="sldNum" sz="quarter" idx="4294967295"/>
          </p:nvPr>
        </p:nvSpPr>
        <p:spPr>
          <a:xfrm>
            <a:off x="11109960" y="6601968"/>
            <a:ext cx="457200" cy="182880"/>
          </a:xfrm>
          <a:prstGeom prst="rect">
            <a:avLst/>
          </a:prstGeom>
          <a:extLst>
            <a:ext uri="{C572A759-6A51-4108-AA02-DFA0A04FC94B}">
              <ma14:wrappingTextBoxFlag xmlns:ma14="http://schemas.microsoft.com/office/mac/drawingml/2011/main" val="0"/>
            </a:ext>
          </a:extLst>
        </p:spPr>
        <p:txBody>
          <a:bodyPr/>
          <a:lstStyle>
            <a:lvl1pPr>
              <a:defRPr sz="1100">
                <a:solidFill>
                  <a:srgbClr val="515151"/>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601968"/>
            <a:ext cx="457200" cy="182880"/>
          </a:xfrm>
          <a:prstGeom prst="rect">
            <a:avLst/>
          </a:prstGeom>
          <a:extLst>
            <a:ext uri="{C572A759-6A51-4108-AA02-DFA0A04FC94B}">
              <ma14:wrappingTextBoxFlag xmlns:ma14="http://schemas.microsoft.com/office/mac/drawingml/2011/main" val="0"/>
            </a:ext>
          </a:extLst>
        </p:spPr>
        <p:txBody>
          <a:bodyPr/>
          <a:lstStyle>
            <a:lvl1pPr>
              <a:defRPr sz="1100">
                <a:solidFill>
                  <a:srgbClr val="51515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566928"/>
            <a:ext cx="12191695" cy="3255264"/>
          </a:xfrm>
          <a:prstGeom prst="rect">
            <a:avLst/>
          </a:prstGeom>
          <a:solidFill>
            <a:srgbClr val="171717"/>
          </a:solidFill>
          <a:ln w="10160">
            <a:solidFill>
              <a:srgbClr val="171717"/>
            </a:solidFill>
            <a:prstDash val="solid"/>
          </a:ln>
        </p:spPr>
      </p:sp>
      <p:sp>
        <p:nvSpPr>
          <p:cNvPr id="3" name="Text 1"/>
          <p:cNvSpPr txBox="1"/>
          <p:nvPr/>
        </p:nvSpPr>
        <p:spPr>
          <a:xfrm>
            <a:off x="585216" y="667512"/>
            <a:ext cx="10881360" cy="932688"/>
          </a:xfrm>
          <a:prstGeom prst="rect">
            <a:avLst/>
          </a:prstGeom>
          <a:noFill/>
          <a:ln/>
        </p:spPr>
        <p:txBody>
          <a:bodyPr wrap="square" lIns="0" tIns="0" rIns="0" bIns="0" rtlCol="0" anchor="ctr"/>
          <a:lstStyle/>
          <a:p>
            <a:pPr algn="l" indent="0" marL="0">
              <a:buNone/>
            </a:pPr>
            <a:r>
              <a:rPr lang="en-US" sz="6200" b="1" dirty="0">
                <a:solidFill>
                  <a:srgbClr val="78E3EA"/>
                </a:solidFill>
                <a:latin typeface="Bahnschrift" pitchFamily="34" charset="0"/>
                <a:ea typeface="Bahnschrift" pitchFamily="34" charset="-122"/>
                <a:cs typeface="Bahnschrift" pitchFamily="34" charset="-120"/>
              </a:rPr>
              <a:t>MOSAIC</a:t>
            </a:r>
            <a:endParaRPr lang="en-US" sz="6200" dirty="0"/>
          </a:p>
        </p:txBody>
      </p:sp>
      <p:sp>
        <p:nvSpPr>
          <p:cNvPr id="4" name="Text 2"/>
          <p:cNvSpPr txBox="1"/>
          <p:nvPr/>
        </p:nvSpPr>
        <p:spPr>
          <a:xfrm>
            <a:off x="630936" y="1627632"/>
            <a:ext cx="10835640" cy="274320"/>
          </a:xfrm>
          <a:prstGeom prst="rect">
            <a:avLst/>
          </a:prstGeom>
          <a:noFill/>
          <a:ln/>
        </p:spPr>
        <p:txBody>
          <a:bodyPr wrap="square" lIns="0" tIns="0" rIns="0" bIns="0" rtlCol="0" anchor="ctr"/>
          <a:lstStyle/>
          <a:p>
            <a:pPr algn="l" indent="0" marL="0">
              <a:buNone/>
            </a:pPr>
            <a:r>
              <a:rPr lang="en-US" sz="1600" dirty="0">
                <a:solidFill>
                  <a:srgbClr val="FFFFFF"/>
                </a:solidFill>
                <a:latin typeface="Bahnschrift" pitchFamily="34" charset="0"/>
                <a:ea typeface="Bahnschrift" pitchFamily="34" charset="-122"/>
                <a:cs typeface="Bahnschrift" pitchFamily="34" charset="-120"/>
              </a:rPr>
              <a:t>Multi-customer Orchestration System for Adaptive Intake and Continuous Delivery</a:t>
            </a:r>
            <a:endParaRPr lang="en-US" sz="1600" dirty="0"/>
          </a:p>
        </p:txBody>
      </p:sp>
      <p:sp>
        <p:nvSpPr>
          <p:cNvPr id="5" name="Text 3"/>
          <p:cNvSpPr txBox="1"/>
          <p:nvPr/>
        </p:nvSpPr>
        <p:spPr>
          <a:xfrm>
            <a:off x="612648" y="1938528"/>
            <a:ext cx="10881360" cy="1133856"/>
          </a:xfrm>
          <a:prstGeom prst="rect">
            <a:avLst/>
          </a:prstGeom>
          <a:noFill/>
          <a:ln/>
        </p:spPr>
        <p:txBody>
          <a:bodyPr wrap="square" lIns="0" tIns="0" rIns="0" bIns="0" rtlCol="0" anchor="ctr"/>
          <a:lstStyle/>
          <a:p>
            <a:pPr algn="l" indent="0" marL="0">
              <a:buNone/>
            </a:pPr>
            <a:r>
              <a:rPr lang="en-US" sz="3700" b="1" dirty="0">
                <a:solidFill>
                  <a:srgbClr val="FFFFFF"/>
                </a:solidFill>
                <a:latin typeface="Bahnschrift" pitchFamily="34" charset="0"/>
                <a:ea typeface="Bahnschrift" pitchFamily="34" charset="-122"/>
                <a:cs typeface="Bahnschrift" pitchFamily="34" charset="-120"/>
              </a:rPr>
              <a:t>From business need to governed</a:t>
            </a:r>
            <a:endParaRPr lang="en-US" sz="3700" dirty="0"/>
          </a:p>
          <a:p>
            <a:pPr algn="l" indent="0" marL="0">
              <a:buNone/>
            </a:pPr>
            <a:r>
              <a:rPr lang="en-US" sz="3700" b="1" dirty="0">
                <a:solidFill>
                  <a:srgbClr val="FFFFFF"/>
                </a:solidFill>
                <a:latin typeface="Bahnschrift" pitchFamily="34" charset="0"/>
                <a:ea typeface="Bahnschrift" pitchFamily="34" charset="-122"/>
                <a:cs typeface="Bahnschrift" pitchFamily="34" charset="-120"/>
              </a:rPr>
              <a:t>solution dossier—in minutes, not days.</a:t>
            </a:r>
            <a:endParaRPr lang="en-US" sz="3700" dirty="0"/>
          </a:p>
        </p:txBody>
      </p:sp>
      <p:sp>
        <p:nvSpPr>
          <p:cNvPr id="6" name="Text 4"/>
          <p:cNvSpPr txBox="1"/>
          <p:nvPr/>
        </p:nvSpPr>
        <p:spPr>
          <a:xfrm>
            <a:off x="630936" y="3072384"/>
            <a:ext cx="10835640" cy="594360"/>
          </a:xfrm>
          <a:prstGeom prst="rect">
            <a:avLst/>
          </a:prstGeom>
          <a:noFill/>
          <a:ln/>
        </p:spPr>
        <p:txBody>
          <a:bodyPr wrap="square" lIns="0" tIns="0" rIns="0" bIns="0" rtlCol="0" anchor="ctr"/>
          <a:lstStyle/>
          <a:p>
            <a:pPr algn="l" indent="0" marL="0">
              <a:buNone/>
            </a:pPr>
            <a:r>
              <a:rPr lang="en-US" sz="2000" dirty="0">
                <a:solidFill>
                  <a:srgbClr val="FFFFFF"/>
                </a:solidFill>
                <a:latin typeface="Bahnschrift" pitchFamily="34" charset="0"/>
                <a:ea typeface="Bahnschrift" pitchFamily="34" charset="-122"/>
                <a:cs typeface="Bahnschrift" pitchFamily="34" charset="-120"/>
              </a:rPr>
              <a:t>Business user -&gt; GitHub Copilot App -&gt; governed analysis -&gt; 23-file dossier -&gt; human decisions.</a:t>
            </a:r>
            <a:endParaRPr lang="en-US" sz="2000" dirty="0"/>
          </a:p>
        </p:txBody>
      </p:sp>
      <p:sp>
        <p:nvSpPr>
          <p:cNvPr id="7" name="Shape 5"/>
          <p:cNvSpPr/>
          <p:nvPr/>
        </p:nvSpPr>
        <p:spPr>
          <a:xfrm>
            <a:off x="621792" y="4105656"/>
            <a:ext cx="384048" cy="73152"/>
          </a:xfrm>
          <a:prstGeom prst="rect">
            <a:avLst/>
          </a:prstGeom>
          <a:solidFill>
            <a:srgbClr val="78E3EA"/>
          </a:solidFill>
          <a:ln w="10160">
            <a:solidFill>
              <a:srgbClr val="78E3EA"/>
            </a:solidFill>
            <a:prstDash val="solid"/>
          </a:ln>
        </p:spPr>
      </p:sp>
      <p:sp>
        <p:nvSpPr>
          <p:cNvPr id="8" name="Text 6"/>
          <p:cNvSpPr txBox="1"/>
          <p:nvPr/>
        </p:nvSpPr>
        <p:spPr>
          <a:xfrm>
            <a:off x="621792" y="4379976"/>
            <a:ext cx="3447288" cy="384048"/>
          </a:xfrm>
          <a:prstGeom prst="rect">
            <a:avLst/>
          </a:prstGeom>
          <a:noFill/>
          <a:ln/>
        </p:spPr>
        <p:txBody>
          <a:bodyPr wrap="square" lIns="0" tIns="0" rIns="0" bIns="0" rtlCol="0" anchor="ctr"/>
          <a:lstStyle/>
          <a:p>
            <a:pPr algn="l" indent="0" marL="0">
              <a:buNone/>
            </a:pPr>
            <a:r>
              <a:rPr lang="en-US" sz="2300" b="1" dirty="0">
                <a:solidFill>
                  <a:srgbClr val="171717"/>
                </a:solidFill>
                <a:latin typeface="Bahnschrift" pitchFamily="34" charset="0"/>
                <a:ea typeface="Bahnschrift" pitchFamily="34" charset="-122"/>
                <a:cs typeface="Bahnschrift" pitchFamily="34" charset="-120"/>
              </a:rPr>
              <a:t>Before</a:t>
            </a:r>
            <a:endParaRPr lang="en-US" sz="2300" dirty="0"/>
          </a:p>
        </p:txBody>
      </p:sp>
      <p:sp>
        <p:nvSpPr>
          <p:cNvPr id="9" name="Text 7"/>
          <p:cNvSpPr txBox="1"/>
          <p:nvPr/>
        </p:nvSpPr>
        <p:spPr>
          <a:xfrm>
            <a:off x="621792" y="4800600"/>
            <a:ext cx="3337560" cy="941832"/>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Repeated discovery, copied notes and inconsistent handoffs.</a:t>
            </a:r>
            <a:endParaRPr lang="en-US" sz="2000" dirty="0"/>
          </a:p>
        </p:txBody>
      </p:sp>
      <p:sp>
        <p:nvSpPr>
          <p:cNvPr id="10" name="Shape 8"/>
          <p:cNvSpPr/>
          <p:nvPr/>
        </p:nvSpPr>
        <p:spPr>
          <a:xfrm>
            <a:off x="4315968" y="4105656"/>
            <a:ext cx="384048" cy="73152"/>
          </a:xfrm>
          <a:prstGeom prst="rect">
            <a:avLst/>
          </a:prstGeom>
          <a:solidFill>
            <a:srgbClr val="FF785D"/>
          </a:solidFill>
          <a:ln w="10160">
            <a:solidFill>
              <a:srgbClr val="FF785D"/>
            </a:solidFill>
            <a:prstDash val="solid"/>
          </a:ln>
        </p:spPr>
      </p:sp>
      <p:sp>
        <p:nvSpPr>
          <p:cNvPr id="11" name="Text 9"/>
          <p:cNvSpPr txBox="1"/>
          <p:nvPr/>
        </p:nvSpPr>
        <p:spPr>
          <a:xfrm>
            <a:off x="4315968" y="4379976"/>
            <a:ext cx="3447288" cy="384048"/>
          </a:xfrm>
          <a:prstGeom prst="rect">
            <a:avLst/>
          </a:prstGeom>
          <a:noFill/>
          <a:ln/>
        </p:spPr>
        <p:txBody>
          <a:bodyPr wrap="square" lIns="0" tIns="0" rIns="0" bIns="0" rtlCol="0" anchor="ctr"/>
          <a:lstStyle/>
          <a:p>
            <a:pPr algn="l" indent="0" marL="0">
              <a:buNone/>
            </a:pPr>
            <a:r>
              <a:rPr lang="en-US" sz="2300" b="1" dirty="0">
                <a:solidFill>
                  <a:srgbClr val="171717"/>
                </a:solidFill>
                <a:latin typeface="Bahnschrift" pitchFamily="34" charset="0"/>
                <a:ea typeface="Bahnschrift" pitchFamily="34" charset="-122"/>
                <a:cs typeface="Bahnschrift" pitchFamily="34" charset="-120"/>
              </a:rPr>
              <a:t>With MOSAIC</a:t>
            </a:r>
            <a:endParaRPr lang="en-US" sz="2300" dirty="0"/>
          </a:p>
        </p:txBody>
      </p:sp>
      <p:sp>
        <p:nvSpPr>
          <p:cNvPr id="12" name="Text 10"/>
          <p:cNvSpPr txBox="1"/>
          <p:nvPr/>
        </p:nvSpPr>
        <p:spPr>
          <a:xfrm>
            <a:off x="4315968" y="4800600"/>
            <a:ext cx="3337560" cy="941832"/>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Adaptive intake, approved evidence and one review package.</a:t>
            </a:r>
            <a:endParaRPr lang="en-US" sz="2000" dirty="0"/>
          </a:p>
        </p:txBody>
      </p:sp>
      <p:sp>
        <p:nvSpPr>
          <p:cNvPr id="13" name="Shape 11"/>
          <p:cNvSpPr/>
          <p:nvPr/>
        </p:nvSpPr>
        <p:spPr>
          <a:xfrm>
            <a:off x="8010144" y="4105656"/>
            <a:ext cx="384048" cy="73152"/>
          </a:xfrm>
          <a:prstGeom prst="rect">
            <a:avLst/>
          </a:prstGeom>
          <a:solidFill>
            <a:srgbClr val="F4CA58"/>
          </a:solidFill>
          <a:ln w="10160">
            <a:solidFill>
              <a:srgbClr val="F4CA58"/>
            </a:solidFill>
            <a:prstDash val="solid"/>
          </a:ln>
        </p:spPr>
      </p:sp>
      <p:sp>
        <p:nvSpPr>
          <p:cNvPr id="14" name="Text 12"/>
          <p:cNvSpPr txBox="1"/>
          <p:nvPr/>
        </p:nvSpPr>
        <p:spPr>
          <a:xfrm>
            <a:off x="8010144" y="4379976"/>
            <a:ext cx="3447288" cy="384048"/>
          </a:xfrm>
          <a:prstGeom prst="rect">
            <a:avLst/>
          </a:prstGeom>
          <a:noFill/>
          <a:ln/>
        </p:spPr>
        <p:txBody>
          <a:bodyPr wrap="square" lIns="0" tIns="0" rIns="0" bIns="0" rtlCol="0" anchor="ctr"/>
          <a:lstStyle/>
          <a:p>
            <a:pPr algn="l" indent="0" marL="0">
              <a:buNone/>
            </a:pPr>
            <a:r>
              <a:rPr lang="en-US" sz="2300" b="1" dirty="0">
                <a:solidFill>
                  <a:srgbClr val="171717"/>
                </a:solidFill>
                <a:latin typeface="Bahnschrift" pitchFamily="34" charset="0"/>
                <a:ea typeface="Bahnschrift" pitchFamily="34" charset="-122"/>
                <a:cs typeface="Bahnschrift" pitchFamily="34" charset="-120"/>
              </a:rPr>
              <a:t>Business value</a:t>
            </a:r>
            <a:endParaRPr lang="en-US" sz="2300" dirty="0"/>
          </a:p>
        </p:txBody>
      </p:sp>
      <p:sp>
        <p:nvSpPr>
          <p:cNvPr id="15" name="Text 13"/>
          <p:cNvSpPr txBox="1"/>
          <p:nvPr/>
        </p:nvSpPr>
        <p:spPr>
          <a:xfrm>
            <a:off x="8010144" y="4800600"/>
            <a:ext cx="3337560" cy="941832"/>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Less preparation and rework; experts focus on decisions.</a:t>
            </a:r>
            <a:endParaRPr lang="en-US" sz="2000" dirty="0"/>
          </a:p>
        </p:txBody>
      </p:sp>
      <p:sp>
        <p:nvSpPr>
          <p:cNvPr id="16" name="Shape 14"/>
          <p:cNvSpPr/>
          <p:nvPr/>
        </p:nvSpPr>
        <p:spPr>
          <a:xfrm>
            <a:off x="0" y="5870448"/>
            <a:ext cx="12191695" cy="502920"/>
          </a:xfrm>
          <a:prstGeom prst="rect">
            <a:avLst/>
          </a:prstGeom>
          <a:solidFill>
            <a:srgbClr val="171717"/>
          </a:solidFill>
          <a:ln w="10160">
            <a:solidFill>
              <a:srgbClr val="171717"/>
            </a:solidFill>
            <a:prstDash val="solid"/>
          </a:ln>
        </p:spPr>
      </p:sp>
      <p:sp>
        <p:nvSpPr>
          <p:cNvPr id="17" name="Text 15"/>
          <p:cNvSpPr txBox="1"/>
          <p:nvPr/>
        </p:nvSpPr>
        <p:spPr>
          <a:xfrm>
            <a:off x="603504" y="5916168"/>
            <a:ext cx="10972800" cy="402336"/>
          </a:xfrm>
          <a:prstGeom prst="rect">
            <a:avLst/>
          </a:prstGeom>
          <a:noFill/>
          <a:ln/>
        </p:spPr>
        <p:txBody>
          <a:bodyPr wrap="square" lIns="0" tIns="0" rIns="0" bIns="0" rtlCol="0" anchor="ctr"/>
          <a:lstStyle/>
          <a:p>
            <a:pPr algn="l" indent="0" marL="0">
              <a:buNone/>
            </a:pPr>
            <a:r>
              <a:rPr lang="en-US" sz="2000" b="1" dirty="0">
                <a:solidFill>
                  <a:srgbClr val="FFFFFF"/>
                </a:solidFill>
                <a:latin typeface="Bahnschrift" pitchFamily="34" charset="0"/>
                <a:ea typeface="Bahnschrift" pitchFamily="34" charset="-122"/>
                <a:cs typeface="Bahnschrift" pitchFamily="34" charset="-120"/>
              </a:rPr>
              <a:t>Scale the expertise. Keep the accountability.</a:t>
            </a:r>
            <a:endParaRPr lang="en-US" sz="2000" dirty="0"/>
          </a:p>
        </p:txBody>
      </p:sp>
      <p:sp>
        <p:nvSpPr>
          <p:cNvPr id="25" name="Slide Number Placeholder 0"/>
          <p:cNvSpPr>
            <a:spLocks noGrp="1"/>
          </p:cNvSpPr>
          <p:nvPr>
            <p:ph type="sldNum" sz="quarter" idx="4294967295"/>
          </p:nvPr>
        </p:nvSpPr>
        <p:spPr>
          <a:xfrm>
            <a:off x="11109960" y="6601968"/>
            <a:ext cx="457200" cy="182880"/>
          </a:xfrm>
          <a:prstGeom prst="rect">
            <a:avLst/>
          </a:prstGeom>
          <a:extLst>
            <a:ext uri="{C572A759-6A51-4108-AA02-DFA0A04FC94B}">
              <ma14:wrappingTextBoxFlag xmlns:ma14="http://schemas.microsoft.com/office/mac/drawingml/2011/main" val="0"/>
            </a:ext>
          </a:extLst>
        </p:spPr>
        <p:txBody>
          <a:bodyPr/>
          <a:lstStyle>
            <a:lvl1pPr>
              <a:defRPr sz="1100">
                <a:solidFill>
                  <a:srgbClr val="51515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85216" y="694944"/>
            <a:ext cx="10972800" cy="557784"/>
          </a:xfrm>
          <a:prstGeom prst="rect">
            <a:avLst/>
          </a:prstGeom>
          <a:noFill/>
          <a:ln/>
        </p:spPr>
        <p:txBody>
          <a:bodyPr wrap="square" lIns="0" tIns="0" rIns="0" bIns="0" rtlCol="0" anchor="ctr"/>
          <a:lstStyle/>
          <a:p>
            <a:pPr algn="l" indent="0" marL="0">
              <a:buNone/>
            </a:pPr>
            <a:r>
              <a:rPr lang="en-US" sz="3200" b="1" dirty="0">
                <a:solidFill>
                  <a:srgbClr val="171717"/>
                </a:solidFill>
                <a:latin typeface="Bahnschrift" pitchFamily="34" charset="0"/>
                <a:ea typeface="Bahnschrift" pitchFamily="34" charset="-122"/>
                <a:cs typeface="Bahnschrift" pitchFamily="34" charset="-120"/>
              </a:rPr>
              <a:t>One governed flow, proven in the App.</a:t>
            </a:r>
            <a:endParaRPr lang="en-US" sz="3200" dirty="0"/>
          </a:p>
        </p:txBody>
      </p:sp>
      <p:sp>
        <p:nvSpPr>
          <p:cNvPr id="3" name="Text 1"/>
          <p:cNvSpPr txBox="1"/>
          <p:nvPr/>
        </p:nvSpPr>
        <p:spPr>
          <a:xfrm>
            <a:off x="603504" y="1353312"/>
            <a:ext cx="10972800" cy="484632"/>
          </a:xfrm>
          <a:prstGeom prst="rect">
            <a:avLst/>
          </a:prstGeom>
          <a:noFill/>
          <a:ln/>
        </p:spPr>
        <p:txBody>
          <a:bodyPr wrap="square" lIns="0" tIns="0" rIns="0" bIns="0" rtlCol="0" anchor="ctr"/>
          <a:lstStyle/>
          <a:p>
            <a:pPr algn="l" indent="0" marL="0">
              <a:buNone/>
            </a:pPr>
            <a:r>
              <a:rPr lang="en-US" sz="2000" dirty="0">
                <a:solidFill>
                  <a:srgbClr val="515151"/>
                </a:solidFill>
                <a:latin typeface="Bahnschrift" pitchFamily="34" charset="0"/>
                <a:ea typeface="Bahnschrift" pitchFamily="34" charset="-122"/>
                <a:cs typeface="Bahnschrift" pitchFamily="34" charset="-120"/>
              </a:rPr>
              <a:t>Synthetic example: trusted travel-policy guidance for 250 field employees.</a:t>
            </a:r>
            <a:endParaRPr lang="en-US" sz="2000" dirty="0"/>
          </a:p>
        </p:txBody>
      </p:sp>
      <p:sp>
        <p:nvSpPr>
          <p:cNvPr id="4" name="Text 2"/>
          <p:cNvSpPr txBox="1"/>
          <p:nvPr/>
        </p:nvSpPr>
        <p:spPr>
          <a:xfrm>
            <a:off x="640080" y="1847088"/>
            <a:ext cx="5257800" cy="201168"/>
          </a:xfrm>
          <a:prstGeom prst="rect">
            <a:avLst/>
          </a:prstGeom>
          <a:noFill/>
          <a:ln/>
        </p:spPr>
        <p:txBody>
          <a:bodyPr wrap="square" lIns="0" tIns="0" rIns="0" bIns="0" rtlCol="0" anchor="ctr"/>
          <a:lstStyle/>
          <a:p>
            <a:pPr algn="l" indent="0" marL="0">
              <a:buNone/>
            </a:pPr>
            <a:r>
              <a:rPr lang="en-US" sz="1300" b="1" dirty="0">
                <a:solidFill>
                  <a:srgbClr val="515151"/>
                </a:solidFill>
                <a:latin typeface="Bahnschrift" pitchFamily="34" charset="0"/>
                <a:ea typeface="Bahnschrift" pitchFamily="34" charset="-122"/>
                <a:cs typeface="Bahnschrift" pitchFamily="34" charset="-120"/>
              </a:rPr>
              <a:t>AUTHENTIC APP INTAKE</a:t>
            </a:r>
            <a:endParaRPr lang="en-US" sz="1300" dirty="0"/>
          </a:p>
        </p:txBody>
      </p:sp>
      <p:sp>
        <p:nvSpPr>
          <p:cNvPr id="5" name="Text 3"/>
          <p:cNvSpPr txBox="1"/>
          <p:nvPr/>
        </p:nvSpPr>
        <p:spPr>
          <a:xfrm>
            <a:off x="6291072" y="1847088"/>
            <a:ext cx="5257800" cy="201168"/>
          </a:xfrm>
          <a:prstGeom prst="rect">
            <a:avLst/>
          </a:prstGeom>
          <a:noFill/>
          <a:ln/>
        </p:spPr>
        <p:txBody>
          <a:bodyPr wrap="square" lIns="0" tIns="0" rIns="0" bIns="0" rtlCol="0" anchor="ctr"/>
          <a:lstStyle/>
          <a:p>
            <a:pPr algn="l" indent="0" marL="0">
              <a:buNone/>
            </a:pPr>
            <a:r>
              <a:rPr lang="en-US" sz="1300" b="1" dirty="0">
                <a:solidFill>
                  <a:srgbClr val="515151"/>
                </a:solidFill>
                <a:latin typeface="Bahnschrift" pitchFamily="34" charset="0"/>
                <a:ea typeface="Bahnschrift" pitchFamily="34" charset="-122"/>
                <a:cs typeface="Bahnschrift" pitchFamily="34" charset="-120"/>
              </a:rPr>
              <a:t>AUTHENTIC GENERATED OUTPUT</a:t>
            </a:r>
            <a:endParaRPr lang="en-US" sz="1300" dirty="0"/>
          </a:p>
        </p:txBody>
      </p:sp>
      <p:pic>
        <p:nvPicPr>
          <p:cNvPr id="6" name="Image 0" descr="C:\tempgithub\mosaic-challenge\presentation\assets\contest-app-intake.png">    </p:cNvPr>
          <p:cNvPicPr>
            <a:picLocks noChangeAspect="1"/>
          </p:cNvPicPr>
          <p:nvPr/>
        </p:nvPicPr>
        <p:blipFill>
          <a:blip r:embed="rId1"/>
          <a:stretch>
            <a:fillRect/>
          </a:stretch>
        </p:blipFill>
        <p:spPr>
          <a:xfrm>
            <a:off x="1462688" y="2093976"/>
            <a:ext cx="3612583" cy="1956816"/>
          </a:xfrm>
          <a:prstGeom prst="rect">
            <a:avLst/>
          </a:prstGeom>
        </p:spPr>
      </p:pic>
      <p:pic>
        <p:nvPicPr>
          <p:cNvPr id="7" name="Image 1" descr="C:\tempgithub\mosaic-challenge\presentation\assets\contest-report-review.png">    </p:cNvPr>
          <p:cNvPicPr>
            <a:picLocks noChangeAspect="1"/>
          </p:cNvPicPr>
          <p:nvPr/>
        </p:nvPicPr>
        <p:blipFill>
          <a:blip r:embed="rId2"/>
          <a:stretch>
            <a:fillRect/>
          </a:stretch>
        </p:blipFill>
        <p:spPr>
          <a:xfrm>
            <a:off x="7022453" y="2093976"/>
            <a:ext cx="3795037" cy="1956816"/>
          </a:xfrm>
          <a:prstGeom prst="rect">
            <a:avLst/>
          </a:prstGeom>
        </p:spPr>
      </p:pic>
      <p:sp>
        <p:nvSpPr>
          <p:cNvPr id="8" name="Text 4"/>
          <p:cNvSpPr txBox="1"/>
          <p:nvPr/>
        </p:nvSpPr>
        <p:spPr>
          <a:xfrm>
            <a:off x="640080" y="4133088"/>
            <a:ext cx="5257800" cy="512064"/>
          </a:xfrm>
          <a:prstGeom prst="rect">
            <a:avLst/>
          </a:prstGeom>
          <a:noFill/>
          <a:ln/>
        </p:spPr>
        <p:txBody>
          <a:bodyPr wrap="square" lIns="0" tIns="0" rIns="0" bIns="0" rtlCol="0" anchor="ctr"/>
          <a:lstStyle/>
          <a:p>
            <a:pPr algn="l" indent="0" marL="0">
              <a:buNone/>
            </a:pPr>
            <a:r>
              <a:rPr lang="en-US" sz="1600" dirty="0">
                <a:solidFill>
                  <a:srgbClr val="515151"/>
                </a:solidFill>
                <a:latin typeface="Bahnschrift" pitchFamily="34" charset="0"/>
                <a:ea typeface="Bahnschrift" pitchFamily="34" charset="-122"/>
                <a:cs typeface="Bahnschrift" pitchFamily="34" charset="-120"/>
              </a:rPr>
              <a:t>GitHub Copilot App: plain-language request -&gt; adaptive intake.</a:t>
            </a:r>
            <a:endParaRPr lang="en-US" sz="1600" dirty="0"/>
          </a:p>
        </p:txBody>
      </p:sp>
      <p:sp>
        <p:nvSpPr>
          <p:cNvPr id="9" name="Text 5"/>
          <p:cNvSpPr txBox="1"/>
          <p:nvPr/>
        </p:nvSpPr>
        <p:spPr>
          <a:xfrm>
            <a:off x="6291072" y="4133088"/>
            <a:ext cx="5257800" cy="512064"/>
          </a:xfrm>
          <a:prstGeom prst="rect">
            <a:avLst/>
          </a:prstGeom>
          <a:noFill/>
          <a:ln/>
        </p:spPr>
        <p:txBody>
          <a:bodyPr wrap="square" lIns="0" tIns="0" rIns="0" bIns="0" rtlCol="0" anchor="ctr"/>
          <a:lstStyle/>
          <a:p>
            <a:pPr algn="l" indent="0" marL="0">
              <a:buNone/>
            </a:pPr>
            <a:r>
              <a:rPr lang="en-US" sz="1600" dirty="0">
                <a:solidFill>
                  <a:srgbClr val="515151"/>
                </a:solidFill>
                <a:latin typeface="Bahnschrift" pitchFamily="34" charset="0"/>
                <a:ea typeface="Bahnschrift" pitchFamily="34" charset="-122"/>
                <a:cs typeface="Bahnschrift" pitchFamily="34" charset="-120"/>
              </a:rPr>
              <a:t>Generated dossier: unselected discussion draft -&gt; awaiting human review.</a:t>
            </a:r>
            <a:endParaRPr lang="en-US" sz="1600" dirty="0"/>
          </a:p>
        </p:txBody>
      </p:sp>
      <p:sp>
        <p:nvSpPr>
          <p:cNvPr id="10" name="Shape 6"/>
          <p:cNvSpPr/>
          <p:nvPr/>
        </p:nvSpPr>
        <p:spPr>
          <a:xfrm>
            <a:off x="640080" y="4782312"/>
            <a:ext cx="2569464" cy="64008"/>
          </a:xfrm>
          <a:prstGeom prst="rect">
            <a:avLst/>
          </a:prstGeom>
          <a:solidFill>
            <a:srgbClr val="78E3EA"/>
          </a:solidFill>
          <a:ln w="10160">
            <a:solidFill>
              <a:srgbClr val="78E3EA"/>
            </a:solidFill>
            <a:prstDash val="solid"/>
          </a:ln>
        </p:spPr>
      </p:sp>
      <p:sp>
        <p:nvSpPr>
          <p:cNvPr id="11" name="Text 7"/>
          <p:cNvSpPr txBox="1"/>
          <p:nvPr/>
        </p:nvSpPr>
        <p:spPr>
          <a:xfrm>
            <a:off x="640080" y="4910328"/>
            <a:ext cx="2560320" cy="182880"/>
          </a:xfrm>
          <a:prstGeom prst="rect">
            <a:avLst/>
          </a:prstGeom>
          <a:noFill/>
          <a:ln/>
        </p:spPr>
        <p:txBody>
          <a:bodyPr wrap="square" lIns="0" tIns="0" rIns="0" bIns="0" rtlCol="0" anchor="ctr"/>
          <a:lstStyle/>
          <a:p>
            <a:pPr algn="l" indent="0" marL="0">
              <a:buNone/>
            </a:pPr>
            <a:r>
              <a:rPr lang="en-US" sz="1200" b="1" dirty="0">
                <a:solidFill>
                  <a:srgbClr val="515151"/>
                </a:solidFill>
                <a:latin typeface="Bahnschrift" pitchFamily="34" charset="0"/>
                <a:ea typeface="Bahnschrift" pitchFamily="34" charset="-122"/>
                <a:cs typeface="Bahnschrift" pitchFamily="34" charset="-120"/>
              </a:rPr>
              <a:t>1 INTAKE</a:t>
            </a:r>
            <a:endParaRPr lang="en-US" sz="1200" dirty="0"/>
          </a:p>
        </p:txBody>
      </p:sp>
      <p:sp>
        <p:nvSpPr>
          <p:cNvPr id="12" name="Text 8"/>
          <p:cNvSpPr txBox="1"/>
          <p:nvPr/>
        </p:nvSpPr>
        <p:spPr>
          <a:xfrm>
            <a:off x="640080" y="5129784"/>
            <a:ext cx="2615184" cy="530352"/>
          </a:xfrm>
          <a:prstGeom prst="rect">
            <a:avLst/>
          </a:prstGeom>
          <a:noFill/>
          <a:ln/>
        </p:spPr>
        <p:txBody>
          <a:bodyPr wrap="square" lIns="0" tIns="0" rIns="0" bIns="0" rtlCol="0" anchor="ctr"/>
          <a:lstStyle/>
          <a:p>
            <a:pPr algn="l" indent="0" marL="0">
              <a:buNone/>
            </a:pPr>
            <a:r>
              <a:rPr lang="en-US" sz="1700" b="1" dirty="0">
                <a:solidFill>
                  <a:srgbClr val="171717"/>
                </a:solidFill>
                <a:latin typeface="Bahnschrift" pitchFamily="34" charset="0"/>
                <a:ea typeface="Bahnschrift" pitchFamily="34" charset="-122"/>
                <a:cs typeface="Bahnschrift" pitchFamily="34" charset="-120"/>
              </a:rPr>
              <a:t>Need, scope</a:t>
            </a:r>
            <a:endParaRPr lang="en-US" sz="1700" dirty="0"/>
          </a:p>
          <a:p>
            <a:pPr algn="l" indent="0" marL="0">
              <a:buNone/>
            </a:pPr>
            <a:r>
              <a:rPr lang="en-US" sz="1700" b="1" dirty="0">
                <a:solidFill>
                  <a:srgbClr val="171717"/>
                </a:solidFill>
                <a:latin typeface="Bahnschrift" pitchFamily="34" charset="0"/>
                <a:ea typeface="Bahnschrift" pitchFamily="34" charset="-122"/>
                <a:cs typeface="Bahnschrift" pitchFamily="34" charset="-120"/>
              </a:rPr>
              <a:t>+ risks</a:t>
            </a:r>
            <a:endParaRPr lang="en-US" sz="1700" dirty="0"/>
          </a:p>
        </p:txBody>
      </p:sp>
      <p:sp>
        <p:nvSpPr>
          <p:cNvPr id="13" name="Shape 9"/>
          <p:cNvSpPr/>
          <p:nvPr/>
        </p:nvSpPr>
        <p:spPr>
          <a:xfrm>
            <a:off x="3419856" y="4782312"/>
            <a:ext cx="2569464" cy="64008"/>
          </a:xfrm>
          <a:prstGeom prst="rect">
            <a:avLst/>
          </a:prstGeom>
          <a:solidFill>
            <a:srgbClr val="FF785D"/>
          </a:solidFill>
          <a:ln w="10160">
            <a:solidFill>
              <a:srgbClr val="FF785D"/>
            </a:solidFill>
            <a:prstDash val="solid"/>
          </a:ln>
        </p:spPr>
      </p:sp>
      <p:sp>
        <p:nvSpPr>
          <p:cNvPr id="14" name="Text 10"/>
          <p:cNvSpPr txBox="1"/>
          <p:nvPr/>
        </p:nvSpPr>
        <p:spPr>
          <a:xfrm>
            <a:off x="3419856" y="4910328"/>
            <a:ext cx="2560320" cy="182880"/>
          </a:xfrm>
          <a:prstGeom prst="rect">
            <a:avLst/>
          </a:prstGeom>
          <a:noFill/>
          <a:ln/>
        </p:spPr>
        <p:txBody>
          <a:bodyPr wrap="square" lIns="0" tIns="0" rIns="0" bIns="0" rtlCol="0" anchor="ctr"/>
          <a:lstStyle/>
          <a:p>
            <a:pPr algn="l" indent="0" marL="0">
              <a:buNone/>
            </a:pPr>
            <a:r>
              <a:rPr lang="en-US" sz="1200" b="1" dirty="0">
                <a:solidFill>
                  <a:srgbClr val="515151"/>
                </a:solidFill>
                <a:latin typeface="Bahnschrift" pitchFamily="34" charset="0"/>
                <a:ea typeface="Bahnschrift" pitchFamily="34" charset="-122"/>
                <a:cs typeface="Bahnschrift" pitchFamily="34" charset="-120"/>
              </a:rPr>
              <a:t>2 GOVERN</a:t>
            </a:r>
            <a:endParaRPr lang="en-US" sz="1200" dirty="0"/>
          </a:p>
        </p:txBody>
      </p:sp>
      <p:sp>
        <p:nvSpPr>
          <p:cNvPr id="15" name="Text 11"/>
          <p:cNvSpPr txBox="1"/>
          <p:nvPr/>
        </p:nvSpPr>
        <p:spPr>
          <a:xfrm>
            <a:off x="3419856" y="5129784"/>
            <a:ext cx="2615184" cy="530352"/>
          </a:xfrm>
          <a:prstGeom prst="rect">
            <a:avLst/>
          </a:prstGeom>
          <a:noFill/>
          <a:ln/>
        </p:spPr>
        <p:txBody>
          <a:bodyPr wrap="square" lIns="0" tIns="0" rIns="0" bIns="0" rtlCol="0" anchor="ctr"/>
          <a:lstStyle/>
          <a:p>
            <a:pPr algn="l" indent="0" marL="0">
              <a:buNone/>
            </a:pPr>
            <a:r>
              <a:rPr lang="en-US" sz="1700" b="1" dirty="0">
                <a:solidFill>
                  <a:srgbClr val="171717"/>
                </a:solidFill>
                <a:latin typeface="Bahnschrift" pitchFamily="34" charset="0"/>
                <a:ea typeface="Bahnschrift" pitchFamily="34" charset="-122"/>
                <a:cs typeface="Bahnschrift" pitchFamily="34" charset="-120"/>
              </a:rPr>
              <a:t>Approved evidence</a:t>
            </a:r>
            <a:endParaRPr lang="en-US" sz="1700" dirty="0"/>
          </a:p>
          <a:p>
            <a:pPr algn="l" indent="0" marL="0">
              <a:buNone/>
            </a:pPr>
            <a:r>
              <a:rPr lang="en-US" sz="1700" b="1" dirty="0">
                <a:solidFill>
                  <a:srgbClr val="171717"/>
                </a:solidFill>
                <a:latin typeface="Bahnschrift" pitchFamily="34" charset="0"/>
                <a:ea typeface="Bahnschrift" pitchFamily="34" charset="-122"/>
                <a:cs typeface="Bahnschrift" pitchFamily="34" charset="-120"/>
              </a:rPr>
              <a:t>+ bounded plan</a:t>
            </a:r>
            <a:endParaRPr lang="en-US" sz="1700" dirty="0"/>
          </a:p>
        </p:txBody>
      </p:sp>
      <p:sp>
        <p:nvSpPr>
          <p:cNvPr id="16" name="Shape 12"/>
          <p:cNvSpPr/>
          <p:nvPr/>
        </p:nvSpPr>
        <p:spPr>
          <a:xfrm>
            <a:off x="6199632" y="4782312"/>
            <a:ext cx="2569464" cy="64008"/>
          </a:xfrm>
          <a:prstGeom prst="rect">
            <a:avLst/>
          </a:prstGeom>
          <a:solidFill>
            <a:srgbClr val="F4CA58"/>
          </a:solidFill>
          <a:ln w="10160">
            <a:solidFill>
              <a:srgbClr val="F4CA58"/>
            </a:solidFill>
            <a:prstDash val="solid"/>
          </a:ln>
        </p:spPr>
      </p:sp>
      <p:sp>
        <p:nvSpPr>
          <p:cNvPr id="17" name="Text 13"/>
          <p:cNvSpPr txBox="1"/>
          <p:nvPr/>
        </p:nvSpPr>
        <p:spPr>
          <a:xfrm>
            <a:off x="6199632" y="4910328"/>
            <a:ext cx="2560320" cy="182880"/>
          </a:xfrm>
          <a:prstGeom prst="rect">
            <a:avLst/>
          </a:prstGeom>
          <a:noFill/>
          <a:ln/>
        </p:spPr>
        <p:txBody>
          <a:bodyPr wrap="square" lIns="0" tIns="0" rIns="0" bIns="0" rtlCol="0" anchor="ctr"/>
          <a:lstStyle/>
          <a:p>
            <a:pPr algn="l" indent="0" marL="0">
              <a:buNone/>
            </a:pPr>
            <a:r>
              <a:rPr lang="en-US" sz="1200" b="1" dirty="0">
                <a:solidFill>
                  <a:srgbClr val="515151"/>
                </a:solidFill>
                <a:latin typeface="Bahnschrift" pitchFamily="34" charset="0"/>
                <a:ea typeface="Bahnschrift" pitchFamily="34" charset="-122"/>
                <a:cs typeface="Bahnschrift" pitchFamily="34" charset="-120"/>
              </a:rPr>
              <a:t>3 PREPARE</a:t>
            </a:r>
            <a:endParaRPr lang="en-US" sz="1200" dirty="0"/>
          </a:p>
        </p:txBody>
      </p:sp>
      <p:sp>
        <p:nvSpPr>
          <p:cNvPr id="18" name="Text 14"/>
          <p:cNvSpPr txBox="1"/>
          <p:nvPr/>
        </p:nvSpPr>
        <p:spPr>
          <a:xfrm>
            <a:off x="6199632" y="5129784"/>
            <a:ext cx="2615184" cy="530352"/>
          </a:xfrm>
          <a:prstGeom prst="rect">
            <a:avLst/>
          </a:prstGeom>
          <a:noFill/>
          <a:ln/>
        </p:spPr>
        <p:txBody>
          <a:bodyPr wrap="square" lIns="0" tIns="0" rIns="0" bIns="0" rtlCol="0" anchor="ctr"/>
          <a:lstStyle/>
          <a:p>
            <a:pPr algn="l" indent="0" marL="0">
              <a:buNone/>
            </a:pPr>
            <a:r>
              <a:rPr lang="en-US" sz="1700" b="1" dirty="0">
                <a:solidFill>
                  <a:srgbClr val="171717"/>
                </a:solidFill>
                <a:latin typeface="Bahnschrift" pitchFamily="34" charset="0"/>
                <a:ea typeface="Bahnschrift" pitchFamily="34" charset="-122"/>
                <a:cs typeface="Bahnschrift" pitchFamily="34" charset="-120"/>
              </a:rPr>
              <a:t>Three options</a:t>
            </a:r>
            <a:endParaRPr lang="en-US" sz="1700" dirty="0"/>
          </a:p>
          <a:p>
            <a:pPr algn="l" indent="0" marL="0">
              <a:buNone/>
            </a:pPr>
            <a:r>
              <a:rPr lang="en-US" sz="1700" b="1" dirty="0">
                <a:solidFill>
                  <a:srgbClr val="171717"/>
                </a:solidFill>
                <a:latin typeface="Bahnschrift" pitchFamily="34" charset="0"/>
                <a:ea typeface="Bahnschrift" pitchFamily="34" charset="-122"/>
                <a:cs typeface="Bahnschrift" pitchFamily="34" charset="-120"/>
              </a:rPr>
              <a:t>+ 23 files</a:t>
            </a:r>
            <a:endParaRPr lang="en-US" sz="1700" dirty="0"/>
          </a:p>
        </p:txBody>
      </p:sp>
      <p:sp>
        <p:nvSpPr>
          <p:cNvPr id="19" name="Shape 15"/>
          <p:cNvSpPr/>
          <p:nvPr/>
        </p:nvSpPr>
        <p:spPr>
          <a:xfrm>
            <a:off x="8979408" y="4782312"/>
            <a:ext cx="2569464" cy="64008"/>
          </a:xfrm>
          <a:prstGeom prst="rect">
            <a:avLst/>
          </a:prstGeom>
          <a:solidFill>
            <a:srgbClr val="C8C8C8"/>
          </a:solidFill>
          <a:ln w="10160">
            <a:solidFill>
              <a:srgbClr val="C8C8C8"/>
            </a:solidFill>
            <a:prstDash val="solid"/>
          </a:ln>
        </p:spPr>
      </p:sp>
      <p:sp>
        <p:nvSpPr>
          <p:cNvPr id="20" name="Text 16"/>
          <p:cNvSpPr txBox="1"/>
          <p:nvPr/>
        </p:nvSpPr>
        <p:spPr>
          <a:xfrm>
            <a:off x="8979408" y="4910328"/>
            <a:ext cx="2560320" cy="182880"/>
          </a:xfrm>
          <a:prstGeom prst="rect">
            <a:avLst/>
          </a:prstGeom>
          <a:noFill/>
          <a:ln/>
        </p:spPr>
        <p:txBody>
          <a:bodyPr wrap="square" lIns="0" tIns="0" rIns="0" bIns="0" rtlCol="0" anchor="ctr"/>
          <a:lstStyle/>
          <a:p>
            <a:pPr algn="l" indent="0" marL="0">
              <a:buNone/>
            </a:pPr>
            <a:r>
              <a:rPr lang="en-US" sz="1200" b="1" dirty="0">
                <a:solidFill>
                  <a:srgbClr val="515151"/>
                </a:solidFill>
                <a:latin typeface="Bahnschrift" pitchFamily="34" charset="0"/>
                <a:ea typeface="Bahnschrift" pitchFamily="34" charset="-122"/>
                <a:cs typeface="Bahnschrift" pitchFamily="34" charset="-120"/>
              </a:rPr>
              <a:t>4 REVIEW</a:t>
            </a:r>
            <a:endParaRPr lang="en-US" sz="1200" dirty="0"/>
          </a:p>
        </p:txBody>
      </p:sp>
      <p:sp>
        <p:nvSpPr>
          <p:cNvPr id="21" name="Text 17"/>
          <p:cNvSpPr txBox="1"/>
          <p:nvPr/>
        </p:nvSpPr>
        <p:spPr>
          <a:xfrm>
            <a:off x="8979408" y="5129784"/>
            <a:ext cx="2615184" cy="530352"/>
          </a:xfrm>
          <a:prstGeom prst="rect">
            <a:avLst/>
          </a:prstGeom>
          <a:noFill/>
          <a:ln/>
        </p:spPr>
        <p:txBody>
          <a:bodyPr wrap="square" lIns="0" tIns="0" rIns="0" bIns="0" rtlCol="0" anchor="ctr"/>
          <a:lstStyle/>
          <a:p>
            <a:pPr algn="l" indent="0" marL="0">
              <a:buNone/>
            </a:pPr>
            <a:r>
              <a:rPr lang="en-US" sz="1700" b="1" dirty="0">
                <a:solidFill>
                  <a:srgbClr val="171717"/>
                </a:solidFill>
                <a:latin typeface="Bahnschrift" pitchFamily="34" charset="0"/>
                <a:ea typeface="Bahnschrift" pitchFamily="34" charset="-122"/>
                <a:cs typeface="Bahnschrift" pitchFamily="34" charset="-120"/>
              </a:rPr>
              <a:t>Select architecture;</a:t>
            </a:r>
            <a:endParaRPr lang="en-US" sz="1700" dirty="0"/>
          </a:p>
          <a:p>
            <a:pPr algn="l" indent="0" marL="0">
              <a:buNone/>
            </a:pPr>
            <a:r>
              <a:rPr lang="en-US" sz="1700" b="1" dirty="0">
                <a:solidFill>
                  <a:srgbClr val="171717"/>
                </a:solidFill>
                <a:latin typeface="Bahnschrift" pitchFamily="34" charset="0"/>
                <a:ea typeface="Bahnschrift" pitchFamily="34" charset="-122"/>
                <a:cs typeface="Bahnschrift" pitchFamily="34" charset="-120"/>
              </a:rPr>
              <a:t>approve revision later</a:t>
            </a:r>
            <a:endParaRPr lang="en-US" sz="1700" dirty="0"/>
          </a:p>
        </p:txBody>
      </p:sp>
      <p:sp>
        <p:nvSpPr>
          <p:cNvPr id="22" name="Shape 18"/>
          <p:cNvSpPr/>
          <p:nvPr/>
        </p:nvSpPr>
        <p:spPr>
          <a:xfrm>
            <a:off x="0" y="5870448"/>
            <a:ext cx="12191695" cy="502920"/>
          </a:xfrm>
          <a:prstGeom prst="rect">
            <a:avLst/>
          </a:prstGeom>
          <a:solidFill>
            <a:srgbClr val="171717"/>
          </a:solidFill>
          <a:ln w="10160">
            <a:solidFill>
              <a:srgbClr val="171717"/>
            </a:solidFill>
            <a:prstDash val="solid"/>
          </a:ln>
        </p:spPr>
      </p:sp>
      <p:sp>
        <p:nvSpPr>
          <p:cNvPr id="23" name="Text 19"/>
          <p:cNvSpPr txBox="1"/>
          <p:nvPr/>
        </p:nvSpPr>
        <p:spPr>
          <a:xfrm>
            <a:off x="603504" y="5916168"/>
            <a:ext cx="10972800" cy="402336"/>
          </a:xfrm>
          <a:prstGeom prst="rect">
            <a:avLst/>
          </a:prstGeom>
          <a:noFill/>
          <a:ln/>
        </p:spPr>
        <p:txBody>
          <a:bodyPr wrap="square" lIns="0" tIns="0" rIns="0" bIns="0" rtlCol="0" anchor="ctr"/>
          <a:lstStyle/>
          <a:p>
            <a:pPr algn="l" indent="0" marL="0">
              <a:buNone/>
            </a:pPr>
            <a:r>
              <a:rPr lang="en-US" sz="2000" b="1" dirty="0">
                <a:solidFill>
                  <a:srgbClr val="FFFFFF"/>
                </a:solidFill>
                <a:latin typeface="Bahnschrift" pitchFamily="34" charset="0"/>
                <a:ea typeface="Bahnschrift" pitchFamily="34" charset="-122"/>
                <a:cs typeface="Bahnschrift" pitchFamily="34" charset="-120"/>
              </a:rPr>
              <a:t>Authentic 2:55 recording. Architecture selection and design approval remain separate.</a:t>
            </a:r>
            <a:endParaRPr lang="en-US" sz="2000" dirty="0"/>
          </a:p>
        </p:txBody>
      </p:sp>
      <p:sp>
        <p:nvSpPr>
          <p:cNvPr id="25" name="Slide Number Placeholder 0"/>
          <p:cNvSpPr>
            <a:spLocks noGrp="1"/>
          </p:cNvSpPr>
          <p:nvPr>
            <p:ph type="sldNum" sz="quarter" idx="4294967295"/>
          </p:nvPr>
        </p:nvSpPr>
        <p:spPr>
          <a:xfrm>
            <a:off x="11109960" y="6601968"/>
            <a:ext cx="457200" cy="182880"/>
          </a:xfrm>
          <a:prstGeom prst="rect">
            <a:avLst/>
          </a:prstGeom>
          <a:extLst>
            <a:ext uri="{C572A759-6A51-4108-AA02-DFA0A04FC94B}">
              <ma14:wrappingTextBoxFlag xmlns:ma14="http://schemas.microsoft.com/office/mac/drawingml/2011/main" val="0"/>
            </a:ext>
          </a:extLst>
        </p:spPr>
        <p:txBody>
          <a:bodyPr/>
          <a:lstStyle>
            <a:lvl1pPr>
              <a:defRPr sz="1100">
                <a:solidFill>
                  <a:srgbClr val="51515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85216" y="694944"/>
            <a:ext cx="10972800" cy="557784"/>
          </a:xfrm>
          <a:prstGeom prst="rect">
            <a:avLst/>
          </a:prstGeom>
          <a:noFill/>
          <a:ln/>
        </p:spPr>
        <p:txBody>
          <a:bodyPr wrap="square" lIns="0" tIns="0" rIns="0" bIns="0" rtlCol="0" anchor="ctr"/>
          <a:lstStyle/>
          <a:p>
            <a:pPr algn="l" indent="0" marL="0">
              <a:buNone/>
            </a:pPr>
            <a:r>
              <a:rPr lang="en-US" sz="3200" b="1" dirty="0">
                <a:solidFill>
                  <a:srgbClr val="171717"/>
                </a:solidFill>
                <a:latin typeface="Bahnschrift" pitchFamily="34" charset="0"/>
                <a:ea typeface="Bahnschrift" pitchFamily="34" charset="-122"/>
                <a:cs typeface="Bahnschrift" pitchFamily="34" charset="-120"/>
              </a:rPr>
              <a:t>Adoption motion and expected value.</a:t>
            </a:r>
            <a:endParaRPr lang="en-US" sz="3200" dirty="0"/>
          </a:p>
        </p:txBody>
      </p:sp>
      <p:sp>
        <p:nvSpPr>
          <p:cNvPr id="3" name="Text 1"/>
          <p:cNvSpPr txBox="1"/>
          <p:nvPr/>
        </p:nvSpPr>
        <p:spPr>
          <a:xfrm>
            <a:off x="603504" y="1353312"/>
            <a:ext cx="10972800" cy="484632"/>
          </a:xfrm>
          <a:prstGeom prst="rect">
            <a:avLst/>
          </a:prstGeom>
          <a:noFill/>
          <a:ln/>
        </p:spPr>
        <p:txBody>
          <a:bodyPr wrap="square" lIns="0" tIns="0" rIns="0" bIns="0" rtlCol="0" anchor="ctr"/>
          <a:lstStyle/>
          <a:p>
            <a:pPr algn="l" indent="0" marL="0">
              <a:buNone/>
            </a:pPr>
            <a:r>
              <a:rPr lang="en-US" sz="2000" dirty="0">
                <a:solidFill>
                  <a:srgbClr val="515151"/>
                </a:solidFill>
                <a:latin typeface="Bahnschrift" pitchFamily="34" charset="0"/>
                <a:ea typeface="Bahnschrift" pitchFamily="34" charset="-122"/>
                <a:cs typeface="Bahnschrift" pitchFamily="34" charset="-120"/>
              </a:rPr>
              <a:t>Illustrative planning model—not measured savings or a customer forecast.</a:t>
            </a:r>
            <a:endParaRPr lang="en-US" sz="2000" dirty="0"/>
          </a:p>
        </p:txBody>
      </p:sp>
      <p:sp>
        <p:nvSpPr>
          <p:cNvPr id="4" name="Shape 2"/>
          <p:cNvSpPr/>
          <p:nvPr/>
        </p:nvSpPr>
        <p:spPr>
          <a:xfrm>
            <a:off x="640080" y="2176272"/>
            <a:ext cx="3410712" cy="0"/>
          </a:xfrm>
          <a:prstGeom prst="line">
            <a:avLst/>
          </a:prstGeom>
          <a:noFill/>
          <a:ln w="38100">
            <a:solidFill>
              <a:srgbClr val="78E3EA"/>
            </a:solidFill>
            <a:prstDash val="solid"/>
            <a:headEnd type="none"/>
            <a:tailEnd type="none"/>
          </a:ln>
        </p:spPr>
      </p:sp>
      <p:sp>
        <p:nvSpPr>
          <p:cNvPr id="5" name="Text 3"/>
          <p:cNvSpPr txBox="1"/>
          <p:nvPr/>
        </p:nvSpPr>
        <p:spPr>
          <a:xfrm>
            <a:off x="640080" y="2395728"/>
            <a:ext cx="3410712" cy="585216"/>
          </a:xfrm>
          <a:prstGeom prst="rect">
            <a:avLst/>
          </a:prstGeom>
          <a:noFill/>
          <a:ln/>
        </p:spPr>
        <p:txBody>
          <a:bodyPr wrap="square" lIns="0" tIns="0" rIns="0" bIns="0" rtlCol="0" anchor="ctr"/>
          <a:lstStyle/>
          <a:p>
            <a:pPr algn="l" indent="0" marL="0">
              <a:buNone/>
            </a:pPr>
            <a:r>
              <a:rPr lang="en-US" sz="3800" b="1" dirty="0">
                <a:solidFill>
                  <a:srgbClr val="171717"/>
                </a:solidFill>
                <a:latin typeface="Bahnschrift" pitchFamily="34" charset="0"/>
                <a:ea typeface="Bahnschrift" pitchFamily="34" charset="-122"/>
                <a:cs typeface="Bahnschrift" pitchFamily="34" charset="-120"/>
              </a:rPr>
              <a:t>96 hours</a:t>
            </a:r>
            <a:endParaRPr lang="en-US" sz="3800" dirty="0"/>
          </a:p>
        </p:txBody>
      </p:sp>
      <p:sp>
        <p:nvSpPr>
          <p:cNvPr id="6" name="Text 4"/>
          <p:cNvSpPr txBox="1"/>
          <p:nvPr/>
        </p:nvSpPr>
        <p:spPr>
          <a:xfrm>
            <a:off x="640080" y="3072384"/>
            <a:ext cx="3410712" cy="365760"/>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Manual preparation</a:t>
            </a:r>
            <a:endParaRPr lang="en-US" sz="2000" dirty="0"/>
          </a:p>
        </p:txBody>
      </p:sp>
      <p:sp>
        <p:nvSpPr>
          <p:cNvPr id="7" name="Shape 5"/>
          <p:cNvSpPr/>
          <p:nvPr/>
        </p:nvSpPr>
        <p:spPr>
          <a:xfrm>
            <a:off x="4334256" y="2176272"/>
            <a:ext cx="3410712" cy="0"/>
          </a:xfrm>
          <a:prstGeom prst="line">
            <a:avLst/>
          </a:prstGeom>
          <a:noFill/>
          <a:ln w="38100">
            <a:solidFill>
              <a:srgbClr val="FF785D"/>
            </a:solidFill>
            <a:prstDash val="solid"/>
            <a:headEnd type="none"/>
            <a:tailEnd type="none"/>
          </a:ln>
        </p:spPr>
      </p:sp>
      <p:sp>
        <p:nvSpPr>
          <p:cNvPr id="8" name="Text 6"/>
          <p:cNvSpPr txBox="1"/>
          <p:nvPr/>
        </p:nvSpPr>
        <p:spPr>
          <a:xfrm>
            <a:off x="4334256" y="2395728"/>
            <a:ext cx="3410712" cy="585216"/>
          </a:xfrm>
          <a:prstGeom prst="rect">
            <a:avLst/>
          </a:prstGeom>
          <a:noFill/>
          <a:ln/>
        </p:spPr>
        <p:txBody>
          <a:bodyPr wrap="square" lIns="0" tIns="0" rIns="0" bIns="0" rtlCol="0" anchor="ctr"/>
          <a:lstStyle/>
          <a:p>
            <a:pPr algn="l" indent="0" marL="0">
              <a:buNone/>
            </a:pPr>
            <a:r>
              <a:rPr lang="en-US" sz="3800" b="1" dirty="0">
                <a:solidFill>
                  <a:srgbClr val="171717"/>
                </a:solidFill>
                <a:latin typeface="Bahnschrift" pitchFamily="34" charset="0"/>
                <a:ea typeface="Bahnschrift" pitchFamily="34" charset="-122"/>
                <a:cs typeface="Bahnschrift" pitchFamily="34" charset="-120"/>
              </a:rPr>
              <a:t>16 hours</a:t>
            </a:r>
            <a:endParaRPr lang="en-US" sz="3800" dirty="0"/>
          </a:p>
        </p:txBody>
      </p:sp>
      <p:sp>
        <p:nvSpPr>
          <p:cNvPr id="9" name="Text 7"/>
          <p:cNvSpPr txBox="1"/>
          <p:nvPr/>
        </p:nvSpPr>
        <p:spPr>
          <a:xfrm>
            <a:off x="4334256" y="3072384"/>
            <a:ext cx="3410712" cy="365760"/>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Retained human review</a:t>
            </a:r>
            <a:endParaRPr lang="en-US" sz="2000" dirty="0"/>
          </a:p>
        </p:txBody>
      </p:sp>
      <p:sp>
        <p:nvSpPr>
          <p:cNvPr id="10" name="Shape 8"/>
          <p:cNvSpPr/>
          <p:nvPr/>
        </p:nvSpPr>
        <p:spPr>
          <a:xfrm>
            <a:off x="8028432" y="2176272"/>
            <a:ext cx="3410712" cy="0"/>
          </a:xfrm>
          <a:prstGeom prst="line">
            <a:avLst/>
          </a:prstGeom>
          <a:noFill/>
          <a:ln w="38100">
            <a:solidFill>
              <a:srgbClr val="F4CA58"/>
            </a:solidFill>
            <a:prstDash val="solid"/>
            <a:headEnd type="none"/>
            <a:tailEnd type="none"/>
          </a:ln>
        </p:spPr>
      </p:sp>
      <p:sp>
        <p:nvSpPr>
          <p:cNvPr id="11" name="Text 9"/>
          <p:cNvSpPr txBox="1"/>
          <p:nvPr/>
        </p:nvSpPr>
        <p:spPr>
          <a:xfrm>
            <a:off x="8028432" y="2395728"/>
            <a:ext cx="3410712" cy="585216"/>
          </a:xfrm>
          <a:prstGeom prst="rect">
            <a:avLst/>
          </a:prstGeom>
          <a:noFill/>
          <a:ln/>
        </p:spPr>
        <p:txBody>
          <a:bodyPr wrap="square" lIns="0" tIns="0" rIns="0" bIns="0" rtlCol="0" anchor="ctr"/>
          <a:lstStyle/>
          <a:p>
            <a:pPr algn="l" indent="0" marL="0">
              <a:buNone/>
            </a:pPr>
            <a:r>
              <a:rPr lang="en-US" sz="3800" b="1" dirty="0">
                <a:solidFill>
                  <a:srgbClr val="171717"/>
                </a:solidFill>
                <a:latin typeface="Bahnschrift" pitchFamily="34" charset="0"/>
                <a:ea typeface="Bahnschrift" pitchFamily="34" charset="-122"/>
                <a:cs typeface="Bahnschrift" pitchFamily="34" charset="-120"/>
              </a:rPr>
              <a:t>80 hours</a:t>
            </a:r>
            <a:endParaRPr lang="en-US" sz="3800" dirty="0"/>
          </a:p>
        </p:txBody>
      </p:sp>
      <p:sp>
        <p:nvSpPr>
          <p:cNvPr id="12" name="Text 10"/>
          <p:cNvSpPr txBox="1"/>
          <p:nvPr/>
        </p:nvSpPr>
        <p:spPr>
          <a:xfrm>
            <a:off x="8028432" y="3072384"/>
            <a:ext cx="3410712" cy="365760"/>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Potential effort saved: 83%</a:t>
            </a:r>
            <a:endParaRPr lang="en-US" sz="2000" dirty="0"/>
          </a:p>
        </p:txBody>
      </p:sp>
      <p:sp>
        <p:nvSpPr>
          <p:cNvPr id="13" name="Text 11"/>
          <p:cNvSpPr txBox="1"/>
          <p:nvPr/>
        </p:nvSpPr>
        <p:spPr>
          <a:xfrm>
            <a:off x="640080" y="3767328"/>
            <a:ext cx="10954512" cy="448056"/>
          </a:xfrm>
          <a:prstGeom prst="rect">
            <a:avLst/>
          </a:prstGeom>
          <a:noFill/>
          <a:ln/>
        </p:spPr>
        <p:txBody>
          <a:bodyPr wrap="square" lIns="0" tIns="0" rIns="0" bIns="0" rtlCol="0" anchor="ctr"/>
          <a:lstStyle/>
          <a:p>
            <a:pPr algn="l" indent="0" marL="0">
              <a:buNone/>
            </a:pPr>
            <a:r>
              <a:rPr lang="en-US" sz="2700" b="1" dirty="0">
                <a:solidFill>
                  <a:srgbClr val="171717"/>
                </a:solidFill>
                <a:latin typeface="Bahnschrift" pitchFamily="34" charset="0"/>
                <a:ea typeface="Bahnschrift" pitchFamily="34" charset="-122"/>
                <a:cs typeface="Bahnschrift" pitchFamily="34" charset="-120"/>
              </a:rPr>
              <a:t>At $200/hour: $16,000 gross capacity per request.</a:t>
            </a:r>
            <a:endParaRPr lang="en-US" sz="2700" dirty="0"/>
          </a:p>
        </p:txBody>
      </p:sp>
      <p:sp>
        <p:nvSpPr>
          <p:cNvPr id="14" name="Text 12"/>
          <p:cNvSpPr txBox="1"/>
          <p:nvPr/>
        </p:nvSpPr>
        <p:spPr>
          <a:xfrm>
            <a:off x="640080" y="4325112"/>
            <a:ext cx="10954512" cy="393192"/>
          </a:xfrm>
          <a:prstGeom prst="rect">
            <a:avLst/>
          </a:prstGeom>
          <a:noFill/>
          <a:ln/>
        </p:spPr>
        <p:txBody>
          <a:bodyPr wrap="square" lIns="0" tIns="0" rIns="0" bIns="0" rtlCol="0" anchor="ctr"/>
          <a:lstStyle/>
          <a:p>
            <a:pPr algn="l" indent="0" marL="0">
              <a:buNone/>
            </a:pPr>
            <a:r>
              <a:rPr lang="en-US" sz="2000" dirty="0">
                <a:solidFill>
                  <a:srgbClr val="515151"/>
                </a:solidFill>
                <a:latin typeface="Bahnschrift" pitchFamily="34" charset="0"/>
                <a:ea typeface="Bahnschrift" pitchFamily="34" charset="-122"/>
                <a:cs typeface="Bahnschrift" pitchFamily="34" charset="-120"/>
              </a:rPr>
              <a:t>$1.6M at 100 requests/year, before additional effort and operating costs.</a:t>
            </a:r>
            <a:endParaRPr lang="en-US" sz="2000" dirty="0"/>
          </a:p>
        </p:txBody>
      </p:sp>
      <p:sp>
        <p:nvSpPr>
          <p:cNvPr id="15" name="Text 13"/>
          <p:cNvSpPr txBox="1"/>
          <p:nvPr/>
        </p:nvSpPr>
        <p:spPr>
          <a:xfrm>
            <a:off x="640080" y="4965192"/>
            <a:ext cx="10954512" cy="365760"/>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Adoption: synthetic proof -&gt; customer benchmark -&gt; isolated rollout -&gt; scale.</a:t>
            </a:r>
            <a:endParaRPr lang="en-US" sz="2000" dirty="0"/>
          </a:p>
        </p:txBody>
      </p:sp>
      <p:sp>
        <p:nvSpPr>
          <p:cNvPr id="16" name="Text 14"/>
          <p:cNvSpPr txBox="1"/>
          <p:nvPr/>
        </p:nvSpPr>
        <p:spPr>
          <a:xfrm>
            <a:off x="640080" y="5449824"/>
            <a:ext cx="10954512" cy="329184"/>
          </a:xfrm>
          <a:prstGeom prst="rect">
            <a:avLst/>
          </a:prstGeom>
          <a:noFill/>
          <a:ln/>
        </p:spPr>
        <p:txBody>
          <a:bodyPr wrap="square" lIns="0" tIns="0" rIns="0" bIns="0" rtlCol="0" anchor="ctr"/>
          <a:lstStyle/>
          <a:p>
            <a:pPr algn="l" indent="0" marL="0">
              <a:buNone/>
            </a:pPr>
            <a:r>
              <a:rPr lang="en-US" sz="2000" dirty="0">
                <a:solidFill>
                  <a:srgbClr val="171717"/>
                </a:solidFill>
                <a:latin typeface="Bahnschrift" pitchFamily="34" charset="0"/>
                <a:ea typeface="Bahnschrift" pitchFamily="34" charset="-122"/>
                <a:cs typeface="Bahnschrift" pitchFamily="34" charset="-120"/>
              </a:rPr>
              <a:t>Customer-specific evidence, templates, roles and approval rules.</a:t>
            </a:r>
            <a:endParaRPr lang="en-US" sz="2000" dirty="0"/>
          </a:p>
        </p:txBody>
      </p:sp>
      <p:sp>
        <p:nvSpPr>
          <p:cNvPr id="17" name="Shape 15"/>
          <p:cNvSpPr/>
          <p:nvPr/>
        </p:nvSpPr>
        <p:spPr>
          <a:xfrm>
            <a:off x="0" y="5870448"/>
            <a:ext cx="12191695" cy="502920"/>
          </a:xfrm>
          <a:prstGeom prst="rect">
            <a:avLst/>
          </a:prstGeom>
          <a:solidFill>
            <a:srgbClr val="171717"/>
          </a:solidFill>
          <a:ln w="10160">
            <a:solidFill>
              <a:srgbClr val="171717"/>
            </a:solidFill>
            <a:prstDash val="solid"/>
          </a:ln>
        </p:spPr>
      </p:sp>
      <p:sp>
        <p:nvSpPr>
          <p:cNvPr id="18" name="Text 16"/>
          <p:cNvSpPr txBox="1"/>
          <p:nvPr/>
        </p:nvSpPr>
        <p:spPr>
          <a:xfrm>
            <a:off x="603504" y="5916168"/>
            <a:ext cx="10972800" cy="402336"/>
          </a:xfrm>
          <a:prstGeom prst="rect">
            <a:avLst/>
          </a:prstGeom>
          <a:noFill/>
          <a:ln/>
        </p:spPr>
        <p:txBody>
          <a:bodyPr wrap="square" lIns="0" tIns="0" rIns="0" bIns="0" rtlCol="0" anchor="ctr"/>
          <a:lstStyle/>
          <a:p>
            <a:pPr algn="l" indent="0" marL="0">
              <a:buNone/>
            </a:pPr>
            <a:r>
              <a:rPr lang="en-US" sz="2000" b="1" dirty="0">
                <a:solidFill>
                  <a:srgbClr val="FFFFFF"/>
                </a:solidFill>
                <a:latin typeface="Bahnschrift" pitchFamily="34" charset="0"/>
                <a:ea typeface="Bahnschrift" pitchFamily="34" charset="-122"/>
                <a:cs typeface="Bahnschrift" pitchFamily="34" charset="-120"/>
              </a:rPr>
              <a:t>Scale the expertise. Keep the accountability.</a:t>
            </a:r>
            <a:endParaRPr lang="en-US" sz="2000" dirty="0"/>
          </a:p>
        </p:txBody>
      </p:sp>
      <p:sp>
        <p:nvSpPr>
          <p:cNvPr id="25" name="Slide Number Placeholder 0"/>
          <p:cNvSpPr>
            <a:spLocks noGrp="1"/>
          </p:cNvSpPr>
          <p:nvPr>
            <p:ph type="sldNum" sz="quarter" idx="4294967295"/>
          </p:nvPr>
        </p:nvSpPr>
        <p:spPr>
          <a:xfrm>
            <a:off x="11109960" y="6601968"/>
            <a:ext cx="457200" cy="182880"/>
          </a:xfrm>
          <a:prstGeom prst="rect">
            <a:avLst/>
          </a:prstGeom>
          <a:extLst>
            <a:ext uri="{C572A759-6A51-4108-AA02-DFA0A04FC94B}">
              <ma14:wrappingTextBoxFlag xmlns:ma14="http://schemas.microsoft.com/office/mac/drawingml/2011/main" val="0"/>
            </a:ext>
          </a:extLst>
        </p:spPr>
        <p:txBody>
          <a:bodyPr/>
          <a:lstStyle>
            <a:lvl1pPr>
              <a:defRPr sz="1100">
                <a:solidFill>
                  <a:srgbClr val="515151"/>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hnschrif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MOSAIC: Multi-customer Orchestration System for Adaptive Intake and Continuous Delivery</dc:title>
  <dc:subject>FY27 GitHub Copilot App Enterprise Challenge</dc:subject>
  <dc:creator>Greg Unger</dc:creator>
  <cp:lastModifiedBy>Greg Unger</cp:lastModifiedBy>
  <cp:revision>1</cp:revision>
  <dcterms:created xsi:type="dcterms:W3CDTF">2026-10-07T14:28:48Z</dcterms:created>
  <dcterms:modified xsi:type="dcterms:W3CDTF">2026-10-07T14:28:48Z</dcterms:modified>
</cp:coreProperties>
</file>