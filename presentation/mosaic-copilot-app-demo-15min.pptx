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5-minute customer demo" id="{bcd251f9-3ff1-4381-790b-1f45367ca59f}">
          <p14:sldIdLst>
            <p14:sldId id="256"/>
            <p14:sldId id="257"/>
            <p14:sldId id="258"/>
            <p14:sldId id="259"/>
            <p14:sldId id="260"/>
            <p14:sldId id="261"/>
            <p14:sldId id="262"/>
            <p14:sldId id="263"/>
            <p14:sldId id="264"/>
            <p14:sldId id="265"/>
            <p14:sldId id="266"/>
            <p14:sldId id="267"/>
            <p14:sldId id="268"/>
            <p14:sldId id="269"/>
            <p14:sldId id="270"/>
          </p14:sldIdLst>
        </p14:section>
        <p14:section name="Feature reference - optional Q&amp;A" id="{00e1374b-cd46-c8c5-1bef-313a8c41564b}">
          <p14:sldIdLst>
            <p14:sldId id="271"/>
            <p14:sldId id="272"/>
            <p14:sldId id="273"/>
            <p14:sldId id="274"/>
            <p14:sldId id="275"/>
            <p14:sldId id="276"/>
            <p14:sldId id="277"/>
            <p14:sldId id="278"/>
            <p14:sldId id="279"/>
            <p14:sldId id="280"/>
            <p14:sldId id="281"/>
          </p14:sldIdLst>
        </p14:section>
        <p14:section name="Presenter setup and sources" id="{87554de7-c1b3-3e86-bc48-afb5907b8236}">
          <p14:sldIdLst>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00:00-00:35 (35 seconds)
Claim framing: recommendation. Public product sources verified 2026-10-19.
SPEAKER TALK TRACK
What if your team's expertise could become a repeatable workflow, rather than another prompt someone has to reconstruct? GitHub Copilot App is a dedicated workspace for directing agent work, connecting context and reviewing results. MOSAIC is our proof point: a business conversation becomes a governed solution-engineering discussion draft. Today, evaluate the App as the working environment, not just the model answering the question. Watch the workflow, then imagine the expertise your team could package next.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00:35-01:20 (45 seconds)
Claim framing: recommendation. Public product sources verified 2026-10-19.
SPEAKER TALK TRACK
A requester describes a need. A solution engineer searches for the right guidance. Reviewers ask for the missing assumptions and alternatives. Too often, each handoff means rebuilding context. The opportunity is not another chat window. It is a repeatable way to carry intent, evidence and decisions through the work. In the App, a conversation, an attached approved brief or an issue can become the starting point. MOSAIC adds the domain process. The target is less repeated preparation and clearer review, not the removal of the people accountable for the result.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S03 - Sessions, modes, worktrees, models, voice and history
https://docs.github.com/en/copilot/how-tos/github-copilot-app/agent-sessions
M02 - MOSAIC architecture and implementation boundaries
https://github.com/gregunger/ghca-mosaic-challenge-official/blob/4d1865687cdd0cdf6fe0777ac102085a2f1d5c9e/docs/architecture.md
M06 - Field reuse and adoption path
https://github.com/gregunger/ghca-mosaic-challenge-official/blob/4d1865687cdd0cdf6fe0777ac102085a2f1d5c9e/docs/adoption-playbook.md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01:20-02:15 (55 seconds)
Claim framing: recommendation. Public product sources verified 2026-10-19.
SPEAKER TALK TRACK
Choose the working experience, not a feature checklist. Use an IDE when the main activity is hands-on coding and debugging. Evaluate Copilot App when the main activity is directing agents, supervising parallel work and reviewing results in a GitHub-connected workspace. Build a standalone application when you need a dedicated customer experience and are prepared to own its integration and operations. These choices can coexist. IDEs and other agent applications also offer agents, MCP and Git integration. Our case is the combination in one working environment, not feature exclusivity. MOSAIC demonstrates why that experience matters for preparation beyond code editing.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S03 - Sessions, modes, worktrees, models, voice and history
https://docs.github.com/en/copilot/how-tos/github-copilot-app/agent-sessions
S12 - My work, issues, PRs, checks and agent merge
https://docs.github.com/en/copilot/how-tos/github-copilot-app/managing-issues-and-pull-requests
S15 - Copilot SDK: programmatic use of the CLI engine
https://github.com/github/copilot-sdk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02:15-05:35 (200 seconds)
Claim framing: fact. Public product sources verified 2026-10-19.
SPEAKER TALK TRACK
Watch three things: the App carries the conversation, bounded preparation turns intent into inspectable work, and the requester opens the dossier without writing JSON. This is authentic recorded App use. MOSAIC supplies the domain rules and validation. The result remains a discussion draft.
PRESENTER ACTION / BOUNDARY
Allow 24.43 seconds for this introduction and the playback handoff, then play the complete 2:55.57 published clip: https://youtu.be/RP4CeCYt4VE. Do not add the separate 10:12 walkthrough. If playback is unavailable, use the authentic intake image here, the report image on slide 9, and the MCP crop on slide 5 for a rehearsed 2:55 narration; return to slide 5 afterward. State that these are recorded evidence, not a live run. The MCP crop is a separate September rehearsal, not part of the October video. No model, tenant or deployment action is needed to present the deck.
EVIDENCE BOUNDARY
App proof = authentic recorded use; Configured = assets exist, not execution proof; Extension = proposed MOSAIC use of documented capabilities. A local validation is not App footage. No customer approval, implementation or deployment is claimed.
SOURCES
M01 - Authentic App/report captures and provenance
https://github.com/gregunger/ghca-mosaic-challenge-official/blob/4d1865687cdd0cdf6fe0777ac102085a2f1d5c9e/presentation/assets/README.md
M02 - MOSAIC architecture and implementation boundaries
https://github.com/gregunger/ghca-mosaic-challenge-official/blob/4d1865687cdd0cdf6fe0777ac102085a2f1d5c9e/docs/architecture.md
M03 - Canonical synthetic dossier and human-review record
https://github.com/gregunger/ghca-mosaic-challenge-official/tree/4d1865687cdd0cdf6fe0777ac102085a2f1d5c9e/examples/synthetic/expected
M07 - Observed App skill and read-only MCP rehearsal
https://github.com/gregunger/ghca-mosaic-challenge-official/blob/4d1865687cdd0cdf6fe0777ac102085a2f1d5c9e/docs/product-feedback-observation-log.md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05:35-06:40 (65 seconds)
Claim framing: recommendation. Public product sources verified 2026-10-19.
SPEAKER TALK TRACK
Connected context is where a reusable workflow becomes relevant to a customer. MCP is the App's extension interface to tools and data. MOSAIC has already shown a narrow local example: two read-only tools retrieving four approved synthetic sources. WorkIQ opens a much broader possibility: permissioned Microsoft 365 context from documents, meetings, email, Teams and people. Its marketplace also includes WorkIQ preview, productivity insights and the Microsoft 365 Agents Toolkit. Azure DevOps or a customer-specific MCP server can add other approved context. These are extension proposals for MOSAIC, not connected customer systems in this demo. WorkIQ is in public preview, requires tenant consent and can expose writes; our proposed starting point permits only separately authorized reads.
EVIDENCE BOUNDARY
App proof = authentic recorded use; Configured = assets exist, not execution proof; Extension = proposed MOSAIC use of documented capabilities. A local validation is not App footage. No customer approval, implementation or deployment is claimed.
SOURCES
S02 - App instructions, skills, agents, MCP and plugins
https://docs.github.com/en/copilot/how-tos/github-copilot-app/customize-github-copilot-app
S08 - Microsoft Work IQ: all four marketplace plugins
https://github.com/microsoft/work-iq/blob/main/PLUGINS.md
S09 - Work IQ preview status and tenant consent
https://github.com/microsoft/work-iq
S14 - MCP, server toolsets, Registry and Agent Finder
https://docs.github.com/en/copilot/concepts/context/mcp
S20 - Azure DevOps MCP integration
https://github.com/microsoft/azure-devops-mcp
M07 - Observed App skill and read-only MCP rehearsal
https://github.com/gregunger/ghca-mosaic-challenge-official/blob/4d1865687cdd0cdf6fe0777ac102085a2f1d5c9e/docs/product-feedback-observation-log.md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06:40-07:35 (55 seconds)
Claim framing: recommendation. Public product sources verified 2026-10-19.
SPEAKER TALK TRACK
The App lets expertise travel with the work. Instructions set expectations. Skills package a repeatable procedure together with the resources it needs. Plugins can distribute skills, agents, hooks, MCP configurations and canvas extensions, while marketplaces and Agent Finder help teams discover the right building blocks. Plugin formats also support language-server configuration, with client-specific support to verify. For MOSAIC, the immediate asset is a reusable intake and review practice rather than a prompt copied between people. A future approved plugin could make field distribution easier. Those packages still need versioning, review and testing; installing one is not evidence that every capability is authorized or has run.
EVIDENCE BOUNDARY
App proof = authentic recorded use; Configured = assets exist, not execution proof; Extension = proposed MOSAIC use of documented capabilities. A local validation is not App footage. No customer approval, implementation or deployment is claimed.
SOURCES
S02 - App instructions, skills, agents, MCP and plugins
https://docs.github.com/en/copilot/how-tos/github-copilot-app/customize-github-copilot-app
S05 - All six GitHub-provided built-in App skills
https://docs.github.com/en/copilot/reference/github-copilot-app-reference/built-in-skills
S06 - Plugin formats, hooks, LSP and marketplaces
https://docs.github.com/en/copilot/concepts/agents/about-plugins
S17 - Reusable project and personal agent skills
https://docs.github.com/en/copilot/concepts/agents/about-agent-skills
M02 - MOSAIC architecture and implementation boundaries
https://github.com/gregunger/ghca-mosaic-challenge-official/blob/4d1865687cdd0cdf6fe0777ac102085a2f1d5c9e/docs/architecture.md
M07 - Observed App skill and read-only MCP rehearsal
https://github.com/gregunger/ghca-mosaic-challenge-official/blob/4d1865687cdd0cdf6fe0777ac102085a2f1d5c9e/docs/product-feedback-observation-log.md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07:35-08:25 (50 seconds)
Claim framing: recommendation. Public product sources verified 2026-10-19.
SPEAKER TALK TRACK
MOSAIC defines an Orchestrator and four specialist profiles: intake, evidence, architecture and engagement. The App provides several ways to make that pattern more powerful: a custom-agent picker, focused child sessions, parallel fleets, orchestration across sessions or repositories, and isolated worktrees. Fork and merge let a team explore a branch of the work deliberately. The opportunity is to parallelize independent preparation, then reconcile the result in one accountable conversation. These profiles are configured; the current footage is not proof that a native specialist fleet executed. Separate branches also do not provide customer or tenant isolation.
EVIDENCE BOUNDARY
App proof = authentic recorded use; Configured = assets exist, not execution proof; Extension = proposed MOSAIC use of documented capabilities. A local validation is not App footage. No customer approval, implementation or deployment is claimed.
SOURCES
S03 - Sessions, modes, worktrees, models, voice and history
https://docs.github.com/en/copilot/how-tos/github-copilot-app/agent-sessions
S04 - Complete public App slash-command reference
https://docs.github.com/en/copilot/reference/github-copilot-app-reference/slash-commands
S05 - All six GitHub-provided built-in App skills
https://docs.github.com/en/copilot/reference/github-copilot-app-reference/built-in-skills
S18 - Custom agents and profile/tool scopes
https://docs.github.com/en/copilot/concepts/agents/cloud-agent/about-custom-agents
M04 - Five configured MOSAIC agent profiles
https://github.com/gregunger/ghca-mosaic-challenge-official/tree/4d1865687cdd0cdf6fe0777ac102085a2f1d5c9e/.github/agents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08:25-09:10 (45 seconds)
Claim framing: fact. Public product sources verified 2026-10-19.
SPEAKER TALK TRACK
The App builds on Copilot CLI's agent engine, adding the workspace around execution. MOSAIC contributes its eight-stage process, approved evidence and deterministic validation; it does not have to invent the whole agent environment. Choose models, Auto or reasoning effort in the App; evaluate approved BYOK providers in preview. Research and different-model critique can challenge assumptions. The separate MOSAIC worker still needs its own explicit model and limits. The SDK is a future embedding path, not an implemented service. Extensibility lets the workflow evolve without tying its domain expertise to one model.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S03 - Sessions, modes, worktrees, models, voice and history
https://docs.github.com/en/copilot/how-tos/github-copilot-app/agent-sessions
S04 - Complete public App slash-command reference
https://docs.github.com/en/copilot/reference/github-copilot-app-reference/slash-commands
S06 - Plugin formats, hooks, LSP and marketplaces
https://docs.github.com/en/copilot/concepts/agents/about-plugins
S10 - App BYOK providers and requirements
https://docs.github.com/en/copilot/how-tos/github-copilot-app/use-byok-models
S15 - Copilot SDK: programmatic use of the CLI engine
https://github.com/github/copilot-sdk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09:10-09:55 (45 seconds)
Claim framing: recommendation. Public product sources verified 2026-10-19.
SPEAKER TALK TRACK
The demonstrated output is a browser dossier: ten HTML pages, nine Markdown reports and four JSON records. People can inspect options, evidence and unresolved decisions instead of hunting through a chat. The App's canvases offer a next step: a shared options board or evidence queue that both people and agents can update. Browser tools can help inspect approved interfaces. Opt-in computer use can reach GUI-only applications on supported desktops when a direct tool is unavailable. The image is today's browser handoff; a native MOSAIC canvas and desktop automation remain proposed extensions.
EVIDENCE BOUNDARY
App proof = authentic recorded use; Configured = assets exist, not execution proof; Extension = proposed MOSAIC use of documented capabilities. A local validation is not App footage. No customer approval, implementation or deployment is claimed.
SOURCES
S07 - Bidirectional canvases and canvas extensions
https://docs.github.com/en/copilot/how-tos/github-copilot-app/working-with-canvas-extensions
S11 - Computer use: capabilities, permissions and risks
https://docs.github.com/en/copilot/concepts/agent-capabilities/agent-powered-workflows-and-operations/computer-use
S19 - Playwright MCP browser tools
https://github.com/microsoft/playwright-mcp
M01 - Authentic App/report captures and provenance
https://github.com/gregunger/ghca-mosaic-challenge-official/blob/4d1865687cdd0cdf6fe0777ac102085a2f1d5c9e/presentation/assets/README.md
M03 - Canonical synthetic dossier and human-review record
https://github.com/gregunger/ghca-mosaic-challenge-official/tree/4d1865687cdd0cdf6fe0777ac102085a2f1d5c9e/examples/synthetic/expected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09:55-10:40 (45 seconds)
Claim framing: recommendation. Public product sources verified 2026-10-19.
SPEAKER TALK TRACK
For teams already using GitHub, evaluate the handoff cost. My work brings issues and pull requests into the App. Start a session with issue context, inspect diffs and review activity, respond to comments and failing checks, then reconcile changes through the permitted review process. Other tools integrate with GitHub too; the App's proposition is doing this inside the agent workspace rather than treating review as an export. MOSAIC's hosted issue, PR and CI sequence still needs demonstration. A merge is never customer architecture or dossier approval.
EVIDENCE BOUNDARY
App proof = authentic recorded use; Configured = assets exist, not execution proof; Extension = proposed MOSAIC use of documented capabilities. A local validation is not App footage. No customer approval, implementation or deployment is claimed.
SOURCES
S04 - Complete public App slash-command reference
https://docs.github.com/en/copilot/reference/github-copilot-app-reference/slash-commands
S05 - All six GitHub-provided built-in App skills
https://docs.github.com/en/copilot/reference/github-copilot-app-reference/built-in-skills
S12 - My work, issues, PRs, checks and agent merge
https://docs.github.com/en/copilot/how-tos/github-copilot-app/managing-issues-and-pull-requests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10:40-11:25 (45 seconds)
Claim framing: recommendation. Public product sources verified 2026-10-19.
SPEAKER TALK TRACK
A valuable workflow should be easy to return to and improve. Automations can run recurring tasks on demand or on a schedule. Chronicle can search past work, summarize progress and suggest improvements. Context inspection and compaction help with long conversations; session management keeps work organized. Remote control extends access where policy allows it. For MOSAIC, a useful next step is a proposed evidence-refresh draft, not an automatically approved dossier. Session history is not an approved source, and transcript or debug exports need their own disclosure controls. The customer's authoritative record remains separate from convenience history.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S03 - Sessions, modes, worktrees, models, voice and history
https://docs.github.com/en/copilot/how-tos/github-copilot-app/agent-sessions
S04 - Complete public App slash-command reference
https://docs.github.com/en/copilot/reference/github-copilot-app-reference/slash-commands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11:25-12:20 (55 seconds)
Claim framing: fact. Public product sources verified 2026-10-19.
SPEAKER TALK TRACK
The App gives people choices about session mode, tools, sandboxes and enterprise-managed settings. MOSAIC adds the domain boundary: approved sources, visible unknowns, three alternatives and a blocked review state. Keep two customer decisions distinct. First, an authorized person selects the architecture before a selected full dossier. Later, the customer approves that exact dossier revision in the customer's workflow. This reference records neither decision. Plan approval is only permission for bounded preparation; a pull request is review evidence. Worktrees are not tenant isolation, instructions are not enforcement, and an automated security review is not certification. Customer deployment, training and operations require separate authority.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S03 - Sessions, modes, worktrees, models, voice and history
https://docs.github.com/en/copilot/how-tos/github-copilot-app/agent-sessions
S04 - Complete public App slash-command reference
https://docs.github.com/en/copilot/reference/github-copilot-app-reference/slash-commands
S11 - Computer use: capabilities, permissions and risks
https://docs.github.com/en/copilot/concepts/agent-capabilities/agent-powered-workflows-and-operations/computer-use
S13 - Enterprise-managed settings and client coverage
https://docs.github.com/en/copilot/how-tos/administer-copilot/manage-for-enterprise/use-managed-settings/get-started
M02 - MOSAIC architecture and implementation boundaries
https://github.com/gregunger/ghca-mosaic-challenge-official/blob/4d1865687cdd0cdf6fe0777ac102085a2f1d5c9e/docs/architecture.md
M03 - Canonical synthetic dossier and human-review record
https://github.com/gregunger/ghca-mosaic-challenge-official/tree/4d1865687cdd0cdf6fe0777ac102085a2f1d5c9e/examples/synthetic/expected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12:20-13:20 (60 seconds)
Claim framing: assumption. Public product sources verified 2026-10-19.
SPEAKER TALK TRACK
Here is a transparent way to discuss value without presenting estimates as results. The planning case assumes ninety-six hours of manual intake and design preparation and sixteen hours of retained human review. That leaves a potential eighty hours of capacity, or about eighty-three percent. At an illustrative two hundred dollars per hour, it is sixteen thousand dollars of gross capacity per request. Additional coordination, corrections, model and platform consumption, integration and operations reduce the opportunity. Capacity is not cash savings. Use the App's usage visibility and a customer baseline to measure actual effort, review quality, rework, elapsed time and all incremental costs before making a business commitment.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S04 - Complete public App slash-command reference
https://docs.github.com/en/copilot/reference/github-copilot-app-reference/slash-commands
M05 - Illustrative economics and measurement plan
https://github.com/gregunger/ghca-mosaic-challenge-official/blob/4d1865687cdd0cdf6fe0777ac102085a2f1d5c9e/docs/evaluation-plan.md#planning-economics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13:20-14:15 (55 seconds)
Claim framing: recommendation. Public product sources verified 2026-10-19.
SPEAKER TALK TRACK
Start with the synthetic MOSAIC workflow. Then compare Copilot App with your current IDE or execution tool on the same approved task. Keep inputs, evidence, acceptance criteria and reviewer standards comparable; record tool versions, models and all costs. Measure operator effort, handoffs, elapsed time, corrections and output quality. For a Claude Code comparison, run that same task rather than guessing from feature lists. Add approved context or parallelism only when it improves the result. The App complements existing tools; choose it where the working experience earns its place. This demo is not a comparative benchmark.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S03 - Sessions, modes, worktrees, models, voice and history
https://docs.github.com/en/copilot/how-tos/github-copilot-app/agent-sessions
S08 - Microsoft Work IQ: all four marketplace plugins
https://github.com/microsoft/work-iq/blob/main/PLUGINS.md
M06 - Field reuse and adoption path
https://github.com/gregunger/ghca-mosaic-challenge-official/blob/4d1865687cdd0cdf6fe0777ac102085a2f1d5c9e/docs/adoption-playbook.md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14:15-15:00 (45 seconds)
Claim framing: recommendation. Public product sources verified 2026-10-19.
SPEAKER TALK TRACK
Bring one workflow your team keeps reconstructing. Replay MOSAIC, identify the expertise you could package, and evaluate Copilot App against your current way of working. The App brings the agent engine, extensible workspace and GitHub-connected review. Your team brings approved context, domain expertise and decision rights. MOSAIC shows those pieces working together, with a clear boundary around what is demonstrated and what comes next. The next step is a measured pilot, not a platform replacement promise. Start with one workflow and earn the case to scale.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S16 - App deep links from tickets, portals and scripts
https://docs.github.com/en/copilot/how-tos/github-copilot-app/open-with-deep-links
M02 - MOSAIC architecture and implementation boundaries
https://github.com/gregunger/ghca-mosaic-challenge-official/blob/4d1865687cdd0cdf6fe0777ac102085a2f1d5c9e/docs/architecture.md
M06 - Field reuse and adoption path
https://github.com/gregunger/ghca-mosaic-challenge-official/blob/4d1865687cdd0cdf6fe0777ac102085a2f1d5c9e/docs/adoption-playbook.md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F01: Chats before a workspace. MOSAIC use: Scope a need before opening an implementation workstream. State: Extension. Main story: slide 2. Commands: UI/configuration. Built-in skills: none. Sources: S01, S03.
F02: Interactive sessions. MOSAIC use: Ask relevant business questions in the App; keep the requester involved. State: App proof. Main story: slide 4. Commands: /interactive. Built-in skills: none. Sources: S03, M01.
F03: Plan mode. MOSAIC use: Declare sources, tools, output and stop conditions before generation. State: Configured. Main story: slide 12. Commands: /plan. Built-in skills: none. Sources: S03, M02.
F04: Autopilot mode. MOSAIC use: Run an approved, bounded preparation task; never bypass customer decisions. State: Extension. Main story: slide 12. Commands: /autopilot. Built-in skills: none. Sources: S03, M02.
F05: File and folder attachments. MOSAIC use: Bring approved briefs into context; @ files and # issues reduce re-entry. State: Extension. Main story: slide 2. Commands: /attach-files, /attach-folder. Built-in skills: none. Sources: S03, S04.
F06: Voice dictation. MOSAIC use: Speak an intake prompt, then review the locally transcribed text before sending. State: Extension. Main story: slide 2. Commands: UI/configuration. Built-in skills: none. Sources: S03.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S03 - Sessions, modes, worktrees, models, voice and history
https://docs.github.com/en/copilot/how-tos/github-copilot-app/agent-sessions
M01 - Authentic App/report captures and provenance
https://github.com/gregunger/ghca-mosaic-challenge-official/blob/4d1865687cdd0cdf6fe0777ac102085a2f1d5c9e/presentation/assets/README.md
M02 - MOSAIC architecture and implementation boundaries
https://github.com/gregunger/ghca-mosaic-challenge-official/blob/4d1865687cdd0cdf6fe0777ac102085a2f1d5c9e/docs/architecture.md
S04 - Complete public App slash-command reference
https://docs.github.com/en/copilot/reference/github-copilot-app-reference/slash-commands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F07: Parallel sessions and worktrees. MOSAIC use: Prepare independent workstreams on separate branches, then reconcile changes. State: Extension. Main story: slide 7. Commands: UI/configuration. Built-in skills: none. Sources: S01, S03.
F08: Local folders and Git URLs. MOSAIC use: Reuse the workflow in an approved local repo, including non-GitHub Git hosts. State: Extension. Main story: slide 14. Commands: UI/configuration. Built-in skills: none. Sources: S03.
F09: Cloud sandboxes + setup skill. MOSAIC use: Move suitable work off the laptop; configure the cloud environment explicitly. State: Extension. Main story: slide 14. Commands: UI/configuration. Built-in skills: customize-cloud-agent. Sources: S03, S05.
F10: Local sandbox controls. MOSAIC use: Limit tool access to files, networks and credentials where supported. State: Extension. Main story: slide 12. Commands: /sandbox on, /sandbox off. Built-in skills: none. Sources: S03, S04.
F11: Remote session control. MOSAIC use: Steer an authorized session from GitHub.com or GitHub Mobile, subject to policy. State: Extension. Main story: slide 11. Commands: /remote. Built-in skills: none. Sources: S04.
F12: Deep links into the App. MOSAIC use: Launch a scoped intake from an internal portal or ticket; never put secrets in URLs. State: Extension. Main story: slide 15. Commands: UI/configuration. Built-in skills: none. Sources: S16.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S03 - Sessions, modes, worktrees, models, voice and history
https://docs.github.com/en/copilot/how-tos/github-copilot-app/agent-sessions
S05 - All six GitHub-provided built-in App skills
https://docs.github.com/en/copilot/reference/github-copilot-app-reference/built-in-skills
S04 - Complete public App slash-command reference
https://docs.github.com/en/copilot/reference/github-copilot-app-reference/slash-commands
S16 - App deep links from tickets, portals and scripts
https://docs.github.com/en/copilot/how-tos/github-copilot-app/open-with-deep-links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F13: Copilot CLI agent harness. MOSAIC use: Reuse planning and tool execution; MOSAIC supplies domain rules and validation. State: App + worker. Main story: slide 8. Commands: UI/configuration. Built-in skills: none. Sources: S01, S15, M02.
F14: Model selection. MOSAIC use: Choose a permitted model for the task instead of tying the workflow to one model. State: Extension. Main story: slide 8. Commands: /model, /models. Built-in skills: none. Sources: S03, S04.
F15: Auto model selection. MOSAIC use: Let the App select a model for task complexity; evaluate quality and consumption. State: Extension. Main story: slide 8. Commands: UI/configuration. Built-in skills: none. Sources: S03.
F16: Reasoning effort. MOSAIC use: Allocate more reasoning to difficult tradeoffs, less to straightforward preparation. State: Extension. Main story: slide 8. Commands: UI/configuration. Built-in skills: none. Sources: S03.
F17: Bring your own key (BYOK). MOSAIC use: Evaluate approved hosted or local providers; this is a preview App capability. State: Extension. Main story: slide 8. Commands: UI/configuration. Built-in skills: none. Sources: S10.
F18: Copilot SDK integration. MOSAIC use: Embed the same CLI engine in a future service; separate from this App experience. State: SDK path. Main story: slide 8. Commands: UI/configuration. Built-in skills: none. Sources: S15, M02.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S15 - Copilot SDK: programmatic use of the CLI engine
https://github.com/github/copilot-sdk
M02 - MOSAIC architecture and implementation boundaries
https://github.com/gregunger/ghca-mosaic-challenge-official/blob/4d1865687cdd0cdf6fe0777ac102085a2f1d5c9e/docs/architecture.md
S03 - Sessions, modes, worktrees, models, voice and history
https://docs.github.com/en/copilot/how-tos/github-copilot-app/agent-sessions
S04 - Complete public App slash-command reference
https://docs.github.com/en/copilot/reference/github-copilot-app-reference/slash-commands
S10 - App BYOK providers and requirements
https://docs.github.com/en/copilot/how-tos/github-copilot-app/use-byok-models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F19: Local / remote MCP and toolsets. MOSAIC use: Connect approved tools. App proof: two read-only tools, four synthetic sources. State: App proof. Main story: slide 5. Commands: UI/configuration. Built-in skills: none. Sources: S02, S14, M07.
F20: WorkIQ. MOSAIC use: Propose permissioned M365 evidence retrieval; its full tool surface also has writes. State: Extension. Main story: slide 5. Commands: UI/configuration. Built-in skills: none. Sources: S08, S09.
F21: WorkIQ preview. MOSAIC use: Evaluate retrieve-first grounding and exact operations; tenant-gated, not automatic. State: Extension. Main story: slide 5. Commands: UI/configuration. Built-in skills: none. Sources: S08, S09.
F22: WorkIQ productivity. MOSAIC use: Use the ten read-only insight skills for approved project and engagement context. State: Extension. Main story: slide 5. Commands: UI/configuration. Built-in skills: none. Sources: S08.
F23: Azure DevOps MCP. MOSAIC use: Bring approved work items, repo, wiki, pipeline and test context into preparation. State: Extension. Main story: slide 5. Commands: UI/configuration. Built-in skills: none. Sources: S20, S14.
F24: Browser tools via Playwright MCP. MOSAIC use: Inspect and exercise approved report UIs; an optional integration, not App footage. State: Extension. Main story: slide 9. Commands: UI/configuration. Built-in skills: none. Sources: S19, M02.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S02 - App instructions, skills, agents, MCP and plugins
https://docs.github.com/en/copilot/how-tos/github-copilot-app/customize-github-copilot-app
S14 - MCP, server toolsets, Registry and Agent Finder
https://docs.github.com/en/copilot/concepts/context/mcp
M07 - Observed App skill and read-only MCP rehearsal
https://github.com/gregunger/ghca-mosaic-challenge-official/blob/4d1865687cdd0cdf6fe0777ac102085a2f1d5c9e/docs/product-feedback-observation-log.md
S08 - Microsoft Work IQ: all four marketplace plugins
https://github.com/microsoft/work-iq/blob/main/PLUGINS.md
S09 - Work IQ preview status and tenant consent
https://github.com/microsoft/work-iq
S20 - Azure DevOps MCP integration
https://github.com/microsoft/azure-devops-mcp
S19 - Playwright MCP browser tools
https://github.com/microsoft/playwright-mcp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F25: Global App instructions. MOSAIC use: Set organization-approved expectations for every session, not just one prompt. State: Extension. Main story: slide 6. Commands: UI/configuration. Built-in skills: none. Sources: S02.
F26: Repository instructions + /init. MOSAIC use: Version MOSAIC workflow, evidence boundaries and human-review requirements. State: Configured. Main story: slide 6. Commands: /init. Built-in skills: none. Sources: S02, S04, M02.
F27: Project and personal skills. MOSAIC use: Package repeatable intake/review procedures; manage and reload skills as needed. State: App proof. Main story: slide 6. Commands: /skills, /skills reload. Built-in skills: none. Sources: S17, S04, M07.
F28: Custom agents and tool scopes. MOSAIC use: Select the Orchestrator and reuse four specialist profiles; constrain their tools. State: Configured. Main story: slide 7. Commands: /agent. Built-in skills: none. Sources: S18, M04.
F29: Plugins and marketplaces. MOSAIC use: Distribute approved skills, agents, hooks, MCP and canvases as a reusable package. State: Extension. Main story: slide 6. Commands: UI/configuration. Built-in skills: none. Sources: S02, S06.
F30: Agent Finder + MCP Registry. MOSAIC use: Discover relevant tools, agents, skills and servers; inspect before installing. State: Extension. Main story: slide 6. Commands: /af. Built-in skills: af. Sources: S05, S14.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S02 - App instructions, skills, agents, MCP and plugins
https://docs.github.com/en/copilot/how-tos/github-copilot-app/customize-github-copilot-app
S04 - Complete public App slash-command reference
https://docs.github.com/en/copilot/reference/github-copilot-app-reference/slash-commands
M02 - MOSAIC architecture and implementation boundaries
https://github.com/gregunger/ghca-mosaic-challenge-official/blob/4d1865687cdd0cdf6fe0777ac102085a2f1d5c9e/docs/architecture.md
S17 - Reusable project and personal agent skills
https://docs.github.com/en/copilot/concepts/agents/about-agent-skills
M07 - Observed App skill and read-only MCP rehearsal
https://github.com/gregunger/ghca-mosaic-challenge-official/blob/4d1865687cdd0cdf6fe0777ac102085a2f1d5c9e/docs/product-feedback-observation-log.md
S18 - Custom agents and profile/tool scopes
https://docs.github.com/en/copilot/concepts/agents/cloud-agent/about-custom-agents
M04 - Five configured MOSAIC agent profiles
https://github.com/gregunger/ghca-mosaic-challenge-official/tree/4d1865687cdd0cdf6fe0777ac102085a2f1d5c9e/.github/agents
S06 - Plugin formats, hooks, LSP and marketplaces
https://docs.github.com/en/copilot/concepts/agents/about-plugins
S05 - All six GitHub-provided built-in App skills
https://docs.github.com/en/copilot/reference/github-copilot-app-reference/built-in-skills
S14 - MCP, server toolsets, Registry and Agent Finder
https://docs.github.com/en/copilot/concepts/context/mcp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F31: Plugin hooks. MOSAIC use: Add supported lifecycle checks or audit integrations; validate enforcement behavior. State: Extension. Main story: slide 6. Commands: UI/configuration. Built-in skills: none. Sources: S02, S06.
F32: Plugin LSP configurations. MOSAIC use: Supply language-aware context for future code work; client support must be verified. State: Extension. Main story: slide 6. Commands: UI/configuration. Built-in skills: none. Sources: S06.
F33: Canvases and canvas extensions. MOSAIC use: Build a shared intake, options or evidence board with human and agent actions. State: Extension. Main story: slide 9. Commands: /create-canvas. Built-in skills: create-canvas. Sources: S07, S05.
F34: Computer use. MOSAIC use: Reach GUI-only applications on Windows/macOS; opt-in preview, disabled by default. State: Extension. Main story: slide 9. Commands: UI/configuration. Built-in skills: none. Sources: S11.
F35: M365 Agents Toolkit plugin. MOSAIC use: Support a later M365 agent build/evaluation handoff under separate implementation authority. State: Extension. Main story: slide 5. Commands: UI/configuration. Built-in skills: none. Sources: S08.
F36: Customer-specific MCP adapters. MOSAIC use: Extend to approved knowledge or business systems; no prebuilt adapter is assumed. State: Extension. Main story: slide 5. Commands: UI/configuration. Built-in skills: none. Sources: S14, M02.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S02 - App instructions, skills, agents, MCP and plugins
https://docs.github.com/en/copilot/how-tos/github-copilot-app/customize-github-copilot-app
S06 - Plugin formats, hooks, LSP and marketplaces
https://docs.github.com/en/copilot/concepts/agents/about-plugins
S07 - Bidirectional canvases and canvas extensions
https://docs.github.com/en/copilot/how-tos/github-copilot-app/working-with-canvas-extensions
S05 - All six GitHub-provided built-in App skills
https://docs.github.com/en/copilot/reference/github-copilot-app-reference/built-in-skills
S11 - Computer use: capabilities, permissions and risks
https://docs.github.com/en/copilot/concepts/agent-capabilities/agent-powered-workflows-and-operations/computer-use
S08 - Microsoft Work IQ: all four marketplace plugins
https://github.com/microsoft/work-iq/blob/main/PLUGINS.md
S14 - MCP, server toolsets, Registry and Agent Finder
https://docs.github.com/en/copilot/concepts/context/mcp
M02 - MOSAIC architecture and implementation boundaries
https://github.com/gregunger/ghca-mosaic-challenge-official/blob/4d1865687cdd0cdf6fe0777ac102085a2f1d5c9e/docs/architecture.md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F37: Cross-session orchestration. MOSAIC use: Coordinate child sessions and repositories for a larger, explicitly scoped engagement. State: Extension. Main story: slide 7. Commands: /orchestrate. Built-in skills: orchestrate. Sources: S04, S05.
F38: Parallel agent fleets. MOSAIC use: Split an independent task into parallel specialist work, then reconcile the result. State: Extension. Main story: slide 7. Commands: /fleet. Built-in skills: none. Sources: S04, M04.
F39: Focused child sessions. MOSAIC use: Delegate a bounded evidence or architecture question without losing the parent task. State: Extension. Main story: slide 7. Commands: /spawn. Built-in skills: none. Sources: S04.
F40: Session fork and merge. MOSAIC use: Explore a branch of the work and deliberately bring accepted changes back. State: Extension. Main story: slide 7. Commands: /fork, /merge-to-parent. Built-in skills: none. Sources: S04.
F41: Cited research. MOSAIC use: Investigate approved sources and retain citations; findings still need qualified review. State: Extension. Main story: slide 8. Commands: /research. Built-in skills: none. Sources: S04.
F42: Rubber duck and sparring. MOSAIC use: Use a different-model critique and adversarial reasoning; neither grants approval. State: Extension. Main story: slide 8. Commands: /rubber-duck, /spar. Built-in skills: none. Sources: S03, S04.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S04 - Complete public App slash-command reference
https://docs.github.com/en/copilot/reference/github-copilot-app-reference/slash-commands
S05 - All six GitHub-provided built-in App skills
https://docs.github.com/en/copilot/reference/github-copilot-app-reference/built-in-skills
M04 - Five configured MOSAIC agent profiles
https://github.com/gregunger/ghca-mosaic-challenge-official/tree/4d1865687cdd0cdf6fe0777ac102085a2f1d5c9e/.github/agents
S03 - Sessions, modes, worktrees, models, voice and history
https://docs.github.com/en/copilot/how-tos/github-copilot-app/agent-sessions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F43: My work, filters and inbox. MOSAIC use: Find requests and review obligations in one App workspace. State: Extension. Main story: slide 10. Commands: /inbox. Built-in skills: none. Sources: S12, S04.
F44: Issue context and templates. MOSAIC use: Start an intake from an issue, or create a scoped follow-up using repo conventions. State: Extension. Main story: slide 10. Commands: UI/configuration. Built-in skills: none. Sources: S12.
F45: PRs, diffs and review comments. MOSAIC use: Open a reviewable change, inspect it, and address feedback using the repo template. State: Extension. Main story: slide 10. Commands: /pr-open, /review, /pr-resolve-comments. Built-in skills: none. Sources: S12, S04.
F46: CI checks and targeted fixes. MOSAIC use: See check results and ask for fixes; local tests are not evidence of hosted CI. State: Extension. Main story: slide 10. Commands: /pr-fix-checks. Built-in skills: none. Sources: S12, S04, M02.
F47: Stacked pull requests. MOSAIC use: Separate dependent changes into reviewable layers with child sessions. State: Extension. Main story: slide 10. Commands: /pr-stack. Built-in skills: pr-stack. Sources: S05.
F48: Agent merge and PR merge. MOSAIC use: App can resolve blockers and merge. MOSAIC does not treat a merge as customer approval. State: Restricted. Main story: slide 10. Commands: /pr-merge. Built-in skills: agent-merge. Sources: S12, S05, S04.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S12 - My work, issues, PRs, checks and agent merge
https://docs.github.com/en/copilot/how-tos/github-copilot-app/managing-issues-and-pull-requests
S04 - Complete public App slash-command reference
https://docs.github.com/en/copilot/reference/github-copilot-app-reference/slash-commands
M02 - MOSAIC architecture and implementation boundaries
https://github.com/gregunger/ghca-mosaic-challenge-official/blob/4d1865687cdd0cdf6fe0777ac102085a2f1d5c9e/docs/architecture.md
S05 - All six GitHub-provided built-in App skills
https://docs.github.com/en/copilot/reference/github-copilot-app-reference/built-in-skills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F49: Scheduled / on-demand automations. MOSAIC use: Propose recurring evidence-refresh drafts; no automatic customer approval or release. State: Extension. Main story: slide 11. Commands: UI/configuration. Built-in skills: none. Sources: S01, M02.
F50: Chronicle history and insights. MOSAIC use: Search, summarize, reindex and improve sessions; history is not approved evidence. State: Extension. Main story: slide 11. Commands: /chronicle, /chronicle cost-tips, /chronicle improve, /chronicle reindex, /chronicle search, /chronicle standup, /chronicle tips. Built-in skills: none. Sources: S03, S04.
F51: Context usage and compaction. MOSAIC use: Inspect context pressure and summarize long sessions; retain the authoritative dossier. State: Extension. Main story: slide 11. Commands: /context, /compact. Built-in skills: none. Sources: S04.
F52: Session and chat management. MOSAIC use: Rename, restart, clear, archive, restore, search and manage storage deliberately. State: Extension. Main story: slide 11. Commands: /rename, /restart-session, /clear, /reset. Built-in skills: none. Sources: S03, S04.
F53: Usage and rate-limit visibility. MOSAIC use: Monitor the App allowance and usage; distinguish it from MOSAIC worker cost records. State: Extension. Main story: slide 13. Commands: /usage. Built-in skills: none. Sources: S01, S04, M02.
F54: Terminal and local tool execution. MOSAIC use: Run approved preparation and validation workers from the App-directed workflow. State: App + worker. Main story: slide 8. Commands: /terminal. Built-in skills: none. Sources: S04, M02.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M02 - MOSAIC architecture and implementation boundaries
https://github.com/gregunger/ghca-mosaic-challenge-official/blob/4d1865687cdd0cdf6fe0777ac102085a2f1d5c9e/docs/architecture.md
S03 - Sessions, modes, worktrees, models, voice and history
https://docs.github.com/en/copilot/how-tos/github-copilot-app/agent-sessions
S04 - Complete public App slash-command reference
https://docs.github.com/en/copilot/reference/github-copilot-app-reference/slash-commands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F55: Tool permissions and auto-approval. MOSAIC use: Inspect or reset approvals. Broad auto-approval must not override MOSAIC boundaries. State: Restricted. Main story: slide 12. Commands: /allow-all-tools, /yolo, /reset-allowed-tools. Built-in skills: none. Sources: S04, M02.
F56: Enterprise-managed settings. MOSAIC use: Govern supported model, plugin, tool and sandbox settings; check client coverage. State: Extension. Main story: slide 12. Commands: UI/configuration. Built-in skills: none. Sources: S02, S13.
F57: Content exclusion. MOSAIC use: The App respects configured exclusions; confirm scope and other policy limitations. State: Extension. Main story: slide 12. Commands: UI/configuration. Built-in skills: none. Sources: S01.
F58: Security-focused review. MOSAIC use: Use the preview review command for code changes; not a certification or security sign-off. State: Extension. Main story: slide 12. Commands: /security-review. Built-in skills: none. Sources: S03, S04.
F59: Debug logs and transcript export. MOSAIC use: Debug locally under policy. Never export raw customer context to a gist by default. State: Restricted. Main story: slide 11. Commands: /debug, /collect-debug-logs, /export-gist. Built-in skills: none. Sources: S04, M02.
F60: Access, navigation and discovery. MOSAIC use: App on Windows/macOS/Linux; GitHub sign-in, App policy, keyboard shortcuts and / picker. State: Documented. Main story: slide 14. Commands: UI/configuration. Built-in skills: none. Sources: S01, S03, S04.
PRESENTER ACTION / BOUNDARY
Optional Q&amp;A. All listed product capabilities are documented; the State column describes MOSAIC adoption, not product availability. Extension rows are proposals, not evidence of installation, authorization or execution.
EVIDENCE BOUNDARY
App proof = authentic recorded use; Configured = assets exist, not execution proof; Extension = proposed MOSAIC use of documented capabilities. A local validation is not App footage. No customer approval, implementation or deployment is claimed.
SOURCES
S04 - Complete public App slash-command reference
https://docs.github.com/en/copilot/reference/github-copilot-app-reference/slash-commands
M02 - MOSAIC architecture and implementation boundaries
https://github.com/gregunger/ghca-mosaic-challenge-official/blob/4d1865687cdd0cdf6fe0777ac102085a2f1d5c9e/docs/architecture.md
S02 - App instructions, skills, agents, MCP and plugins
https://docs.github.com/en/copilot/how-tos/github-copilot-app/customize-github-copilot-app
S13 - Enterprise-managed settings and client coverage
https://docs.github.com/en/copilot/how-tos/administer-copilot/manage-for-enterprise/use-managed-settings/get-started
S01 - App overview and shared CLI foundation
https://docs.github.com/en/copilot/concepts/copilot-surfaces/github-copilot-app
S03 - Sessions, modes, worktrees, models, voice and history
https://docs.github.com/en/copilot/how-tos/github-copilot-app/agent-sessions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recommendation. Public product sources verified 2026-10-19.
SPEAKER TALK TRACK
Use this as a customer selection framework, not a scored vendor comparison. Copilot App combines agent direction, extensibility and GitHub review in a dedicated workspace. IDEs, terminal agents and other desktop agent applications overlap with that surface; no missing competitor capability is asserted here. For Claude Code or any alternative, run the same authorized task, disclose versions, models, settings and customization effort, and retain results. Measure total effort, handoffs, time, corrections, quality and incremental costs. The current MOSAIC evidence is App intake, skill and synthetic MCP use plus the browser handoff. Native fleets, WorkIQ, canvas and hosted PR/CI flows remain proposed MOSAIC extensions. No head-to-head result, feature exclusivity or replacement mandate is claimed.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S03 - Sessions, modes, worktrees, models, voice and history
https://docs.github.com/en/copilot/how-tos/github-copilot-app/agent-sessions
S12 - My work, issues, PRs, checks and agent merge
https://docs.github.com/en/copilot/how-tos/github-copilot-app/managing-issues-and-pull-requests
S15 - Copilot SDK: programmatic use of the CLI engine
https://github.com/github/copilot-sdk
M02 - MOSAIC architecture and implementation boundaries
https://github.com/gregunger/ghca-mosaic-challenge-official/blob/4d1865687cdd0cdf6fe0777ac102085a2f1d5c9e/docs/architecture.md
M05 - Illustrative economics and measurement plan
https://github.com/gregunger/ghca-mosaic-challenge-official/blob/4d1865687cdd0cdf6fe0777ac102085a2f1d5c9e/docs/evaluation-plan.md#planning-economics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Before a customer showing: confirm current App build and feature availability; review sources and preview labels; obtain rights and disclosure approval for all media; pre-open the published video and retain the screenshot fallback. Do not display private accounts, unapproved sources or unrelated windows. The synthetic demo does not require WorkIQ access. A separate live run needs installed dependencies, the intended agent and skill, correct read-only MCP tools, authorized model access, the approved synthetic boundary and explicit generation approval. Check tool scopes without widening privileges. A failure stays visible; do not switch to an invented success. Do not send messages, modify tenant data, approve customer decisions or deploy. At the close, invite a measured pilot; do not claim owner, customer or product-team release approval.
PRESENTER ACTION / BOUNDARY
Use slides 1-15 for the timed show. Appendices are hidden from normal slideshow but included in the PDF. Open Presenter View for the timed talk tracks. Rehearse the complete recording and check audio before the meeting. Do not promise a 15-minute live generation SLA.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M01 - Authentic App/report captures and provenance
https://github.com/gregunger/ghca-mosaic-challenge-official/blob/4d1865687cdd0cdf6fe0777ac102085a2f1d5c9e/presentation/assets/README.md
M02 - MOSAIC architecture and implementation boundaries
https://github.com/gregunger/ghca-mosaic-challenge-official/blob/4d1865687cdd0cdf6fe0777ac102085a2f1d5c9e/docs/architecture.md
M05 - Illustrative economics and measurement plan
https://github.com/gregunger/ghca-mosaic-challenge-official/blob/4d1865687cdd0cdf6fe0777ac102085a2f1d5c9e/docs/evaluation-plan.md#planning-economics
M06 - Field reuse and adoption path
https://github.com/gregunger/ghca-mosaic-challenge-official/blob/4d1865687cdd0cdf6fe0777ac102085a2f1d5c9e/docs/adoption-playbook.md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S01: App overview and shared CLI foundation
https://docs.github.com/en/copilot/concepts/copilot-surfaces/github-copilot-app
S02: App instructions, skills, agents, MCP and plugins
https://docs.github.com/en/copilot/how-tos/github-copilot-app/customize-github-copilot-app
S03: Sessions, modes, worktrees, models, voice and history
https://docs.github.com/en/copilot/how-tos/github-copilot-app/agent-sessions
S04: Complete public App slash-command reference
https://docs.github.com/en/copilot/reference/github-copilot-app-reference/slash-commands
S05: All six GitHub-provided built-in App skills
https://docs.github.com/en/copilot/reference/github-copilot-app-reference/built-in-skills
S06: Plugin formats, hooks, LSP and marketplaces
https://docs.github.com/en/copilot/concepts/agents/about-plugins
PRESENTER ACTION / BOUNDARY
S references are official GitHub/Microsoft public product documentation read on 2026-10-19; M references are MOSAIC evidence pinned to 4d1865687cdd0cdf6fe0777ac102085a2f1d5c9e. Product documentation is mutable: reverify availability before reuse. The 60 capability mappings cover all 47 entries in the public App slash-command reference and all six built-in skills at this snapshot. This is not a claim to enumerate every third-party plugin or future release. App docs warn that some policy settings differ by surface, and public-code matches may still be generated despite a blocking suggestions policy.
EVIDENCE BOUNDARY
App proof = authentic recorded use; Configured = assets exist, not execution proof; Extension = proposed MOSAIC use of documented capabilities. A local validation is not App footage. No customer approval, implementation or deployment is claimed.
SOURCES
S01 - App overview and shared CLI foundation
https://docs.github.com/en/copilot/concepts/copilot-surfaces/github-copilot-app
S02 - App instructions, skills, agents, MCP and plugins
https://docs.github.com/en/copilot/how-tos/github-copilot-app/customize-github-copilot-app
S03 - Sessions, modes, worktrees, models, voice and history
https://docs.github.com/en/copilot/how-tos/github-copilot-app/agent-sessions
S04 - Complete public App slash-command reference
https://docs.github.com/en/copilot/reference/github-copilot-app-reference/slash-commands
S05 - All six GitHub-provided built-in App skills
https://docs.github.com/en/copilot/reference/github-copilot-app-reference/built-in-skills
S06 - Plugin formats, hooks, LSP and marketplaces
https://docs.github.com/en/copilot/concepts/agents/about-plugins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S07: Bidirectional canvases and canvas extensions
https://docs.github.com/en/copilot/how-tos/github-copilot-app/working-with-canvas-extensions
S08: Microsoft Work IQ: all four marketplace plugins
https://github.com/microsoft/work-iq/blob/main/PLUGINS.md
S09: Work IQ preview status and tenant consent
https://github.com/microsoft/work-iq
S10: App BYOK providers and requirements
https://docs.github.com/en/copilot/how-tos/github-copilot-app/use-byok-models
S11: Computer use: capabilities, permissions and risks
https://docs.github.com/en/copilot/concepts/agent-capabilities/agent-powered-workflows-and-operations/computer-use
S12: My work, issues, PRs, checks and agent merge
https://docs.github.com/en/copilot/how-tos/github-copilot-app/managing-issues-and-pull-requests
PRESENTER ACTION / BOUNDARY
S references are official GitHub/Microsoft public product documentation read on 2026-10-19; M references are MOSAIC evidence pinned to 4d1865687cdd0cdf6fe0777ac102085a2f1d5c9e. Product documentation is mutable: reverify availability before reuse. The 60 capability mappings cover all 47 entries in the public App slash-command reference and all six built-in skills at this snapshot. This is not a claim to enumerate every third-party plugin or future release. App docs warn that some policy settings differ by surface, and public-code matches may still be generated despite a blocking suggestions policy.
EVIDENCE BOUNDARY
App proof = authentic recorded use; Configured = assets exist, not execution proof; Extension = proposed MOSAIC use of documented capabilities. A local validation is not App footage. No customer approval, implementation or deployment is claimed.
SOURCES
S07 - Bidirectional canvases and canvas extensions
https://docs.github.com/en/copilot/how-tos/github-copilot-app/working-with-canvas-extensions
S08 - Microsoft Work IQ: all four marketplace plugins
https://github.com/microsoft/work-iq/blob/main/PLUGINS.md
S09 - Work IQ preview status and tenant consent
https://github.com/microsoft/work-iq
S10 - App BYOK providers and requirements
https://docs.github.com/en/copilot/how-tos/github-copilot-app/use-byok-models
S11 - Computer use: capabilities, permissions and risks
https://docs.github.com/en/copilot/concepts/agent-capabilities/agent-powered-workflows-and-operations/computer-use
S12 - My work, issues, PRs, checks and agent merge
https://docs.github.com/en/copilot/how-tos/github-copilot-app/managing-issues-and-pull-requests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S13: Enterprise-managed settings and client coverage
https://docs.github.com/en/copilot/how-tos/administer-copilot/manage-for-enterprise/use-managed-settings/get-started
S14: MCP, server toolsets, Registry and Agent Finder
https://docs.github.com/en/copilot/concepts/context/mcp
S15: Copilot SDK: programmatic use of the CLI engine
https://github.com/github/copilot-sdk
S16: App deep links from tickets, portals and scripts
https://docs.github.com/en/copilot/how-tos/github-copilot-app/open-with-deep-links
S17: Reusable project and personal agent skills
https://docs.github.com/en/copilot/concepts/agents/about-agent-skills
S18: Custom agents and profile/tool scopes
https://docs.github.com/en/copilot/concepts/agents/cloud-agent/about-custom-agents
PRESENTER ACTION / BOUNDARY
S references are official GitHub/Microsoft public product documentation read on 2026-10-19; M references are MOSAIC evidence pinned to 4d1865687cdd0cdf6fe0777ac102085a2f1d5c9e. Product documentation is mutable: reverify availability before reuse. The 60 capability mappings cover all 47 entries in the public App slash-command reference and all six built-in skills at this snapshot. This is not a claim to enumerate every third-party plugin or future release. App docs warn that some policy settings differ by surface, and public-code matches may still be generated despite a blocking suggestions policy.
EVIDENCE BOUNDARY
App proof = authentic recorded use; Configured = assets exist, not execution proof; Extension = proposed MOSAIC use of documented capabilities. A local validation is not App footage. No customer approval, implementation or deployment is claimed.
SOURCES
S13 - Enterprise-managed settings and client coverage
https://docs.github.com/en/copilot/how-tos/administer-copilot/manage-for-enterprise/use-managed-settings/get-started
S14 - MCP, server toolsets, Registry and Agent Finder
https://docs.github.com/en/copilot/concepts/context/mcp
S15 - Copilot SDK: programmatic use of the CLI engine
https://github.com/github/copilot-sdk
S16 - App deep links from tickets, portals and scripts
https://docs.github.com/en/copilot/how-tos/github-copilot-app/open-with-deep-links
S17 - Reusable project and personal agent skills
https://docs.github.com/en/copilot/concepts/agents/about-agent-skills
S18 - Custom agents and profile/tool scopes
https://docs.github.com/en/copilot/concepts/agents/cloud-agent/about-custom-agents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S19: Playwright MCP browser tools
https://github.com/microsoft/playwright-mcp
S20: Azure DevOps MCP integration
https://github.com/microsoft/azure-devops-mcp
M01: Authentic App/report captures and provenance
https://github.com/gregunger/ghca-mosaic-challenge-official/blob/4d1865687cdd0cdf6fe0777ac102085a2f1d5c9e/presentation/assets/README.md
M02: MOSAIC architecture and implementation boundaries
https://github.com/gregunger/ghca-mosaic-challenge-official/blob/4d1865687cdd0cdf6fe0777ac102085a2f1d5c9e/docs/architecture.md
M03: Canonical synthetic dossier and human-review record
https://github.com/gregunger/ghca-mosaic-challenge-official/tree/4d1865687cdd0cdf6fe0777ac102085a2f1d5c9e/examples/synthetic/expected
M04: Five configured MOSAIC agent profiles
https://github.com/gregunger/ghca-mosaic-challenge-official/tree/4d1865687cdd0cdf6fe0777ac102085a2f1d5c9e/.github/agents
PRESENTER ACTION / BOUNDARY
S references are official GitHub/Microsoft public product documentation read on 2026-10-19; M references are MOSAIC evidence pinned to 4d1865687cdd0cdf6fe0777ac102085a2f1d5c9e. Product documentation is mutable: reverify availability before reuse. The 60 capability mappings cover all 47 entries in the public App slash-command reference and all six built-in skills at this snapshot. This is not a claim to enumerate every third-party plugin or future release. App docs warn that some policy settings differ by surface, and public-code matches may still be generated despite a blocking suggestions policy.
EVIDENCE BOUNDARY
App proof = authentic recorded use; Configured = assets exist, not execution proof; Extension = proposed MOSAIC use of documented capabilities. A local validation is not App footage. No customer approval, implementation or deployment is claimed.
SOURCES
S19 - Playwright MCP browser tools
https://github.com/microsoft/playwright-mcp
S20 - Azure DevOps MCP integration
https://github.com/microsoft/azure-devops-mcp
M01 - Authentic App/report captures and provenance
https://github.com/gregunger/ghca-mosaic-challenge-official/blob/4d1865687cdd0cdf6fe0777ac102085a2f1d5c9e/presentation/assets/README.md
M02 - MOSAIC architecture and implementation boundaries
https://github.com/gregunger/ghca-mosaic-challenge-official/blob/4d1865687cdd0cdf6fe0777ac102085a2f1d5c9e/docs/architecture.md
M03 - Canonical synthetic dossier and human-review record
https://github.com/gregunger/ghca-mosaic-challenge-official/tree/4d1865687cdd0cdf6fe0777ac102085a2f1d5c9e/examples/synthetic/expected
M04 - Five configured MOSAIC agent profiles
https://github.com/gregunger/ghca-mosaic-challenge-official/tree/4d1865687cdd0cdf6fe0777ac102085a2f1d5c9e/.github/agents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part of the timed demo
Claim framing: fact. Public product sources verified 2026-10-19.
SPEAKER TALK TRACK
M05: Illustrative economics and measurement plan
https://github.com/gregunger/ghca-mosaic-challenge-official/blob/4d1865687cdd0cdf6fe0777ac102085a2f1d5c9e/docs/evaluation-plan.md#planning-economics
M06: Field reuse and adoption path
https://github.com/gregunger/ghca-mosaic-challenge-official/blob/4d1865687cdd0cdf6fe0777ac102085a2f1d5c9e/docs/adoption-playbook.md
M07: Observed App skill and read-only MCP rehearsal
https://github.com/gregunger/ghca-mosaic-challenge-official/blob/4d1865687cdd0cdf6fe0777ac102085a2f1d5c9e/docs/product-feedback-observation-log.md
PRESENTER ACTION / BOUNDARY
S references are official GitHub/Microsoft public product documentation read on 2026-10-19; M references are MOSAIC evidence pinned to 4d1865687cdd0cdf6fe0777ac102085a2f1d5c9e. Product documentation is mutable: reverify availability before reuse. The 60 capability mappings cover all 47 entries in the public App slash-command reference and all six built-in skills at this snapshot. This is not a claim to enumerate every third-party plugin or future release. App docs warn that some policy settings differ by surface, and public-code matches may still be generated despite a blocking suggestions policy.
EVIDENCE BOUNDARY
App proof = authentic recorded use; Configured = assets exist, not execution proof; Extension = proposed MOSAIC use of documented capabilities. A local validation is not App footage. No customer approval, implementation or deployment is claimed.
SOURCES
M05 - Illustrative economics and measurement plan
https://github.com/gregunger/ghca-mosaic-challenge-official/blob/4d1865687cdd0cdf6fe0777ac102085a2f1d5c9e/docs/evaluation-plan.md#planning-economics
M06 - Field reuse and adoption path
https://github.com/gregunger/ghca-mosaic-challenge-official/blob/4d1865687cdd0cdf6fe0777ac102085a2f1d5c9e/docs/adoption-playbook.md
M07 - Observed App skill and read-only MCP rehearsal
https://github.com/gregunger/ghca-mosaic-challenge-official/blob/4d1865687cdd0cdf6fe0777ac102085a2f1d5c9e/docs/product-feedback-observation-log.md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youtu.be/RP4CeCYt4VE"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features/ai/github-app" TargetMode="External"/><Relationship Id="rId2" Type="http://schemas.openxmlformats.org/officeDocument/2006/relationships/hyperlink" Target="https://youtu.be/RP4CeCYt4VE" TargetMode="External"/><Relationship Id="rId3" Type="http://schemas.openxmlformats.org/officeDocument/2006/relationships/hyperlink" Target="https://github.com/gregunger/ghca-mosaic-challenge-official/blob/4d1865687cdd0cdf6fe0777ac102085a2f1d5c9e/docs/adoption-playbook.md" TargetMode="External"/><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docs.github.com/en/copilot/concepts/copilot-surfaces/github-copilot-app" TargetMode="External"/><Relationship Id="rId2" Type="http://schemas.openxmlformats.org/officeDocument/2006/relationships/hyperlink" Target="https://docs.github.com/en/copilot/concepts/copilot-surfaces/github-copilot-app" TargetMode="External"/><Relationship Id="rId3" Type="http://schemas.openxmlformats.org/officeDocument/2006/relationships/hyperlink" Target="https://docs.github.com/en/copilot/how-tos/github-copilot-app/customize-github-copilot-app" TargetMode="External"/><Relationship Id="rId4" Type="http://schemas.openxmlformats.org/officeDocument/2006/relationships/hyperlink" Target="https://docs.github.com/en/copilot/how-tos/github-copilot-app/customize-github-copilot-app" TargetMode="External"/><Relationship Id="rId5" Type="http://schemas.openxmlformats.org/officeDocument/2006/relationships/hyperlink" Target="https://docs.github.com/en/copilot/how-tos/github-copilot-app/agent-sessions" TargetMode="External"/><Relationship Id="rId6" Type="http://schemas.openxmlformats.org/officeDocument/2006/relationships/hyperlink" Target="https://docs.github.com/en/copilot/how-tos/github-copilot-app/agent-sessions" TargetMode="External"/><Relationship Id="rId7" Type="http://schemas.openxmlformats.org/officeDocument/2006/relationships/hyperlink" Target="https://docs.github.com/en/copilot/reference/github-copilot-app-reference/slash-commands" TargetMode="External"/><Relationship Id="rId8" Type="http://schemas.openxmlformats.org/officeDocument/2006/relationships/hyperlink" Target="https://docs.github.com/en/copilot/reference/github-copilot-app-reference/slash-commands" TargetMode="External"/><Relationship Id="rId9" Type="http://schemas.openxmlformats.org/officeDocument/2006/relationships/hyperlink" Target="https://docs.github.com/en/copilot/reference/github-copilot-app-reference/built-in-skills" TargetMode="External"/><Relationship Id="rId10" Type="http://schemas.openxmlformats.org/officeDocument/2006/relationships/hyperlink" Target="https://docs.github.com/en/copilot/reference/github-copilot-app-reference/built-in-skills" TargetMode="External"/><Relationship Id="rId11" Type="http://schemas.openxmlformats.org/officeDocument/2006/relationships/hyperlink" Target="https://docs.github.com/en/copilot/concepts/agents/about-plugins" TargetMode="External"/><Relationship Id="rId12" Type="http://schemas.openxmlformats.org/officeDocument/2006/relationships/hyperlink" Target="https://docs.github.com/en/copilot/concepts/agents/about-plugins" TargetMode="External"/><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github.com/en/copilot/how-tos/github-copilot-app/working-with-canvas-extensions" TargetMode="External"/><Relationship Id="rId2" Type="http://schemas.openxmlformats.org/officeDocument/2006/relationships/hyperlink" Target="https://docs.github.com/en/copilot/how-tos/github-copilot-app/working-with-canvas-extensions" TargetMode="External"/><Relationship Id="rId3" Type="http://schemas.openxmlformats.org/officeDocument/2006/relationships/hyperlink" Target="https://github.com/microsoft/work-iq/blob/main/PLUGINS.md" TargetMode="External"/><Relationship Id="rId4" Type="http://schemas.openxmlformats.org/officeDocument/2006/relationships/hyperlink" Target="https://github.com/microsoft/work-iq/blob/main/PLUGINS.md" TargetMode="External"/><Relationship Id="rId5" Type="http://schemas.openxmlformats.org/officeDocument/2006/relationships/hyperlink" Target="https://github.com/microsoft/work-iq" TargetMode="External"/><Relationship Id="rId6" Type="http://schemas.openxmlformats.org/officeDocument/2006/relationships/hyperlink" Target="https://github.com/microsoft/work-iq" TargetMode="External"/><Relationship Id="rId7" Type="http://schemas.openxmlformats.org/officeDocument/2006/relationships/hyperlink" Target="https://docs.github.com/en/copilot/how-tos/github-copilot-app/use-byok-models" TargetMode="External"/><Relationship Id="rId8" Type="http://schemas.openxmlformats.org/officeDocument/2006/relationships/hyperlink" Target="https://docs.github.com/en/copilot/how-tos/github-copilot-app/use-byok-models" TargetMode="External"/><Relationship Id="rId9" Type="http://schemas.openxmlformats.org/officeDocument/2006/relationships/hyperlink" Target="https://docs.github.com/en/copilot/concepts/agent-capabilities/agent-powered-workflows-and-operations/computer-use" TargetMode="External"/><Relationship Id="rId10" Type="http://schemas.openxmlformats.org/officeDocument/2006/relationships/hyperlink" Target="https://docs.github.com/en/copilot/concepts/agent-capabilities/agent-powered-workflows-and-operations/computer-use" TargetMode="External"/><Relationship Id="rId11" Type="http://schemas.openxmlformats.org/officeDocument/2006/relationships/hyperlink" Target="https://docs.github.com/en/copilot/how-tos/github-copilot-app/managing-issues-and-pull-requests" TargetMode="External"/><Relationship Id="rId12" Type="http://schemas.openxmlformats.org/officeDocument/2006/relationships/hyperlink" Target="https://docs.github.com/en/copilot/how-tos/github-copilot-app/managing-issues-and-pull-requests" TargetMode="External"/><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github.com/en/copilot/how-tos/administer-copilot/manage-for-enterprise/use-managed-settings/get-started" TargetMode="External"/><Relationship Id="rId2" Type="http://schemas.openxmlformats.org/officeDocument/2006/relationships/hyperlink" Target="https://docs.github.com/en/copilot/how-tos/administer-copilot/manage-for-enterprise/use-managed-settings/get-started" TargetMode="External"/><Relationship Id="rId3" Type="http://schemas.openxmlformats.org/officeDocument/2006/relationships/hyperlink" Target="https://docs.github.com/en/copilot/concepts/context/mcp" TargetMode="External"/><Relationship Id="rId4" Type="http://schemas.openxmlformats.org/officeDocument/2006/relationships/hyperlink" Target="https://docs.github.com/en/copilot/concepts/context/mcp" TargetMode="External"/><Relationship Id="rId5" Type="http://schemas.openxmlformats.org/officeDocument/2006/relationships/hyperlink" Target="https://github.com/github/copilot-sdk" TargetMode="External"/><Relationship Id="rId6" Type="http://schemas.openxmlformats.org/officeDocument/2006/relationships/hyperlink" Target="https://github.com/github/copilot-sdk" TargetMode="External"/><Relationship Id="rId7" Type="http://schemas.openxmlformats.org/officeDocument/2006/relationships/hyperlink" Target="https://docs.github.com/en/copilot/how-tos/github-copilot-app/open-with-deep-links" TargetMode="External"/><Relationship Id="rId8" Type="http://schemas.openxmlformats.org/officeDocument/2006/relationships/hyperlink" Target="https://docs.github.com/en/copilot/how-tos/github-copilot-app/open-with-deep-links" TargetMode="External"/><Relationship Id="rId9" Type="http://schemas.openxmlformats.org/officeDocument/2006/relationships/hyperlink" Target="https://docs.github.com/en/copilot/concepts/agents/about-agent-skills" TargetMode="External"/><Relationship Id="rId10" Type="http://schemas.openxmlformats.org/officeDocument/2006/relationships/hyperlink" Target="https://docs.github.com/en/copilot/concepts/agents/about-agent-skills" TargetMode="External"/><Relationship Id="rId11" Type="http://schemas.openxmlformats.org/officeDocument/2006/relationships/hyperlink" Target="https://docs.github.com/en/copilot/concepts/agents/cloud-agent/about-custom-agents" TargetMode="External"/><Relationship Id="rId12" Type="http://schemas.openxmlformats.org/officeDocument/2006/relationships/hyperlink" Target="https://docs.github.com/en/copilot/concepts/agents/cloud-agent/about-custom-agents" TargetMode="External"/><Relationship Id="rId13" Type="http://schemas.openxmlformats.org/officeDocument/2006/relationships/slideLayout" Target="../slideLayouts/slideLayout1.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ithub.com/microsoft/playwright-mcp" TargetMode="External"/><Relationship Id="rId2" Type="http://schemas.openxmlformats.org/officeDocument/2006/relationships/hyperlink" Target="https://github.com/microsoft/playwright-mcp" TargetMode="External"/><Relationship Id="rId3" Type="http://schemas.openxmlformats.org/officeDocument/2006/relationships/hyperlink" Target="https://github.com/microsoft/azure-devops-mcp" TargetMode="External"/><Relationship Id="rId4" Type="http://schemas.openxmlformats.org/officeDocument/2006/relationships/hyperlink" Target="https://github.com/microsoft/azure-devops-mcp" TargetMode="External"/><Relationship Id="rId5" Type="http://schemas.openxmlformats.org/officeDocument/2006/relationships/hyperlink" Target="https://github.com/gregunger/ghca-mosaic-challenge-official/blob/4d1865687cdd0cdf6fe0777ac102085a2f1d5c9e/presentation/assets/README.md" TargetMode="External"/><Relationship Id="rId6" Type="http://schemas.openxmlformats.org/officeDocument/2006/relationships/hyperlink" Target="https://github.com/gregunger/ghca-mosaic-challenge-official/blob/4d1865687cdd0cdf6fe0777ac102085a2f1d5c9e/presentation/assets/README.md" TargetMode="External"/><Relationship Id="rId7" Type="http://schemas.openxmlformats.org/officeDocument/2006/relationships/hyperlink" Target="https://github.com/gregunger/ghca-mosaic-challenge-official/blob/4d1865687cdd0cdf6fe0777ac102085a2f1d5c9e/docs/architecture.md" TargetMode="External"/><Relationship Id="rId8" Type="http://schemas.openxmlformats.org/officeDocument/2006/relationships/hyperlink" Target="https://github.com/gregunger/ghca-mosaic-challenge-official/blob/4d1865687cdd0cdf6fe0777ac102085a2f1d5c9e/docs/architecture.md" TargetMode="External"/><Relationship Id="rId9" Type="http://schemas.openxmlformats.org/officeDocument/2006/relationships/hyperlink" Target="https://github.com/gregunger/ghca-mosaic-challenge-official/tree/4d1865687cdd0cdf6fe0777ac102085a2f1d5c9e/examples/synthetic/expected" TargetMode="External"/><Relationship Id="rId10" Type="http://schemas.openxmlformats.org/officeDocument/2006/relationships/hyperlink" Target="https://github.com/gregunger/ghca-mosaic-challenge-official/tree/4d1865687cdd0cdf6fe0777ac102085a2f1d5c9e/examples/synthetic/expected" TargetMode="External"/><Relationship Id="rId11" Type="http://schemas.openxmlformats.org/officeDocument/2006/relationships/hyperlink" Target="https://github.com/gregunger/ghca-mosaic-challenge-official/tree/4d1865687cdd0cdf6fe0777ac102085a2f1d5c9e/.github/agents" TargetMode="External"/><Relationship Id="rId12" Type="http://schemas.openxmlformats.org/officeDocument/2006/relationships/hyperlink" Target="https://github.com/gregunger/ghca-mosaic-challenge-official/tree/4d1865687cdd0cdf6fe0777ac102085a2f1d5c9e/.github/agents" TargetMode="External"/><Relationship Id="rId13" Type="http://schemas.openxmlformats.org/officeDocument/2006/relationships/slideLayout" Target="../slideLayouts/slideLayout1.xml"/><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gregunger/ghca-mosaic-challenge-official/blob/4d1865687cdd0cdf6fe0777ac102085a2f1d5c9e/docs/evaluation-plan.md#planning-economics" TargetMode="External"/><Relationship Id="rId2" Type="http://schemas.openxmlformats.org/officeDocument/2006/relationships/hyperlink" Target="https://github.com/gregunger/ghca-mosaic-challenge-official/blob/4d1865687cdd0cdf6fe0777ac102085a2f1d5c9e/docs/evaluation-plan.md#planning-economics" TargetMode="External"/><Relationship Id="rId3" Type="http://schemas.openxmlformats.org/officeDocument/2006/relationships/hyperlink" Target="https://github.com/gregunger/ghca-mosaic-challenge-official/blob/4d1865687cdd0cdf6fe0777ac102085a2f1d5c9e/docs/adoption-playbook.md" TargetMode="External"/><Relationship Id="rId4" Type="http://schemas.openxmlformats.org/officeDocument/2006/relationships/hyperlink" Target="https://github.com/gregunger/ghca-mosaic-challenge-official/blob/4d1865687cdd0cdf6fe0777ac102085a2f1d5c9e/docs/adoption-playbook.md" TargetMode="External"/><Relationship Id="rId5" Type="http://schemas.openxmlformats.org/officeDocument/2006/relationships/hyperlink" Target="https://github.com/gregunger/ghca-mosaic-challenge-official/blob/4d1865687cdd0cdf6fe0777ac102085a2f1d5c9e/docs/product-feedback-observation-log.md" TargetMode="External"/><Relationship Id="rId6" Type="http://schemas.openxmlformats.org/officeDocument/2006/relationships/hyperlink" Target="https://github.com/gregunger/ghca-mosaic-challenge-official/blob/4d1865687cdd0cdf6fe0777ac102085a2f1d5c9e/docs/product-feedback-observation-log.md" TargetMode="External"/><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79C0FF"/>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B8C6D8"/>
                </a:solidFill>
                <a:latin typeface="Segoe UI" pitchFamily="34" charset="0"/>
                <a:ea typeface="Segoe UI" pitchFamily="34" charset="-122"/>
                <a:cs typeface="Segoe UI" pitchFamily="34" charset="-120"/>
              </a:rPr>
              <a:t>MOSAIC / CUSTOMER DEMO</a:t>
            </a:r>
            <a:endParaRPr lang="en-US" sz="1050" dirty="0"/>
          </a:p>
        </p:txBody>
      </p:sp>
      <p:sp>
        <p:nvSpPr>
          <p:cNvPr id="4" name="Shape 2"/>
          <p:cNvSpPr/>
          <p:nvPr/>
        </p:nvSpPr>
        <p:spPr>
          <a:xfrm>
            <a:off x="548640" y="6510528"/>
            <a:ext cx="11091672" cy="0"/>
          </a:xfrm>
          <a:prstGeom prst="line">
            <a:avLst/>
          </a:prstGeom>
          <a:noFill/>
          <a:ln w="12700">
            <a:solidFill>
              <a:srgbClr val="344256"/>
            </a:solidFill>
            <a:prstDash val="solid"/>
          </a:ln>
        </p:spPr>
      </p:sp>
      <p:sp>
        <p:nvSpPr>
          <p:cNvPr id="5"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B8C6D8"/>
                </a:solidFill>
                <a:latin typeface="Segoe UI" pitchFamily="34" charset="0"/>
                <a:ea typeface="Segoe UI" pitchFamily="34" charset="-122"/>
                <a:cs typeface="Segoe UI" pitchFamily="34" charset="-120"/>
              </a:rPr>
              <a:t>Sources: S01, M02  |  Synthetic reference; customer decisions remain with people.</a:t>
            </a:r>
            <a:endParaRPr lang="en-US" sz="900" dirty="0"/>
          </a:p>
        </p:txBody>
      </p:sp>
      <p:sp>
        <p:nvSpPr>
          <p:cNvPr id="6"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B8C6D8"/>
                </a:solidFill>
                <a:latin typeface="Segoe UI" pitchFamily="34" charset="0"/>
                <a:ea typeface="Segoe UI" pitchFamily="34" charset="-122"/>
                <a:cs typeface="Segoe UI" pitchFamily="34" charset="-120"/>
              </a:rPr>
              <a:t>1</a:t>
            </a:r>
            <a:endParaRPr lang="en-US" sz="1000" dirty="0"/>
          </a:p>
        </p:txBody>
      </p:sp>
      <p:sp>
        <p:nvSpPr>
          <p:cNvPr id="8" name="layout-panel"/>
          <p:cNvSpPr/>
          <p:nvPr/>
        </p:nvSpPr>
        <p:spPr>
          <a:xfrm>
            <a:off x="9052560" y="841248"/>
            <a:ext cx="2560320" cy="4572000"/>
          </a:xfrm>
          <a:prstGeom prst="roundRect">
            <a:avLst>
              <a:gd name="adj" fmla="val 4286"/>
            </a:avLst>
          </a:prstGeom>
          <a:solidFill>
            <a:srgbClr val="161F2B"/>
          </a:solidFill>
          <a:ln w="8890">
            <a:solidFill>
              <a:srgbClr val="344256"/>
            </a:solidFill>
            <a:prstDash val="solid"/>
          </a:ln>
        </p:spPr>
      </p:sp>
      <p:sp>
        <p:nvSpPr>
          <p:cNvPr id="9" name="layout-panel"/>
          <p:cNvSpPr/>
          <p:nvPr/>
        </p:nvSpPr>
        <p:spPr>
          <a:xfrm>
            <a:off x="9345168" y="1188720"/>
            <a:ext cx="1956816" cy="292608"/>
          </a:xfrm>
          <a:prstGeom prst="roundRect">
            <a:avLst>
              <a:gd name="adj" fmla="val 37500"/>
            </a:avLst>
          </a:prstGeom>
          <a:solidFill>
            <a:srgbClr val="244866"/>
          </a:solidFill>
          <a:ln w="8890">
            <a:solidFill>
              <a:srgbClr val="244866"/>
            </a:solidFill>
            <a:prstDash val="solid"/>
          </a:ln>
        </p:spPr>
      </p:sp>
      <p:sp>
        <p:nvSpPr>
          <p:cNvPr id="10" name="label"/>
          <p:cNvSpPr txBox="1"/>
          <p:nvPr/>
        </p:nvSpPr>
        <p:spPr>
          <a:xfrm>
            <a:off x="9418320" y="1211580"/>
            <a:ext cx="1810512"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CONTEXT</a:t>
            </a:r>
            <a:endParaRPr lang="en-US" sz="1300" dirty="0"/>
          </a:p>
        </p:txBody>
      </p:sp>
      <p:sp>
        <p:nvSpPr>
          <p:cNvPr id="11" name="layout-panel"/>
          <p:cNvSpPr/>
          <p:nvPr/>
        </p:nvSpPr>
        <p:spPr>
          <a:xfrm>
            <a:off x="9345168" y="1975104"/>
            <a:ext cx="1956816" cy="292608"/>
          </a:xfrm>
          <a:prstGeom prst="roundRect">
            <a:avLst>
              <a:gd name="adj" fmla="val 37500"/>
            </a:avLst>
          </a:prstGeom>
          <a:solidFill>
            <a:srgbClr val="3D2C62"/>
          </a:solidFill>
          <a:ln w="8890">
            <a:solidFill>
              <a:srgbClr val="3D2C62"/>
            </a:solidFill>
            <a:prstDash val="solid"/>
          </a:ln>
        </p:spPr>
      </p:sp>
      <p:sp>
        <p:nvSpPr>
          <p:cNvPr id="12" name="label"/>
          <p:cNvSpPr txBox="1"/>
          <p:nvPr/>
        </p:nvSpPr>
        <p:spPr>
          <a:xfrm>
            <a:off x="9418320" y="1997964"/>
            <a:ext cx="1810512"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EXPERTISE</a:t>
            </a:r>
            <a:endParaRPr lang="en-US" sz="1300" dirty="0"/>
          </a:p>
        </p:txBody>
      </p:sp>
      <p:sp>
        <p:nvSpPr>
          <p:cNvPr id="13" name="layout-panel"/>
          <p:cNvSpPr/>
          <p:nvPr/>
        </p:nvSpPr>
        <p:spPr>
          <a:xfrm>
            <a:off x="9345168" y="2761488"/>
            <a:ext cx="1956816" cy="292608"/>
          </a:xfrm>
          <a:prstGeom prst="roundRect">
            <a:avLst>
              <a:gd name="adj" fmla="val 37500"/>
            </a:avLst>
          </a:prstGeom>
          <a:solidFill>
            <a:srgbClr val="1C4934"/>
          </a:solidFill>
          <a:ln w="8890">
            <a:solidFill>
              <a:srgbClr val="1C4934"/>
            </a:solidFill>
            <a:prstDash val="solid"/>
          </a:ln>
        </p:spPr>
      </p:sp>
      <p:sp>
        <p:nvSpPr>
          <p:cNvPr id="14" name="label"/>
          <p:cNvSpPr txBox="1"/>
          <p:nvPr/>
        </p:nvSpPr>
        <p:spPr>
          <a:xfrm>
            <a:off x="9418320" y="2784348"/>
            <a:ext cx="1810512"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AGENTS</a:t>
            </a:r>
            <a:endParaRPr lang="en-US" sz="1300" dirty="0"/>
          </a:p>
        </p:txBody>
      </p:sp>
      <p:sp>
        <p:nvSpPr>
          <p:cNvPr id="15" name="layout-panel"/>
          <p:cNvSpPr/>
          <p:nvPr/>
        </p:nvSpPr>
        <p:spPr>
          <a:xfrm>
            <a:off x="9345168" y="3547872"/>
            <a:ext cx="1956816" cy="292608"/>
          </a:xfrm>
          <a:prstGeom prst="roundRect">
            <a:avLst>
              <a:gd name="adj" fmla="val 37500"/>
            </a:avLst>
          </a:prstGeom>
          <a:solidFill>
            <a:srgbClr val="244866"/>
          </a:solidFill>
          <a:ln w="8890">
            <a:solidFill>
              <a:srgbClr val="244866"/>
            </a:solidFill>
            <a:prstDash val="solid"/>
          </a:ln>
        </p:spPr>
      </p:sp>
      <p:sp>
        <p:nvSpPr>
          <p:cNvPr id="16" name="label"/>
          <p:cNvSpPr txBox="1"/>
          <p:nvPr/>
        </p:nvSpPr>
        <p:spPr>
          <a:xfrm>
            <a:off x="9418320" y="3570732"/>
            <a:ext cx="1810512"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TOOLS</a:t>
            </a:r>
            <a:endParaRPr lang="en-US" sz="1300" dirty="0"/>
          </a:p>
        </p:txBody>
      </p:sp>
      <p:sp>
        <p:nvSpPr>
          <p:cNvPr id="17" name="layout-panel"/>
          <p:cNvSpPr/>
          <p:nvPr/>
        </p:nvSpPr>
        <p:spPr>
          <a:xfrm>
            <a:off x="9345168" y="4334256"/>
            <a:ext cx="1956816" cy="292608"/>
          </a:xfrm>
          <a:prstGeom prst="roundRect">
            <a:avLst>
              <a:gd name="adj" fmla="val 37500"/>
            </a:avLst>
          </a:prstGeom>
          <a:solidFill>
            <a:srgbClr val="3D2C62"/>
          </a:solidFill>
          <a:ln w="8890">
            <a:solidFill>
              <a:srgbClr val="3D2C62"/>
            </a:solidFill>
            <a:prstDash val="solid"/>
          </a:ln>
        </p:spPr>
      </p:sp>
      <p:sp>
        <p:nvSpPr>
          <p:cNvPr id="18" name="label"/>
          <p:cNvSpPr txBox="1"/>
          <p:nvPr/>
        </p:nvSpPr>
        <p:spPr>
          <a:xfrm>
            <a:off x="9418320" y="4357116"/>
            <a:ext cx="1810512"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CONTROL</a:t>
            </a:r>
            <a:endParaRPr lang="en-US" sz="1300" dirty="0"/>
          </a:p>
        </p:txBody>
      </p:sp>
      <p:sp>
        <p:nvSpPr>
          <p:cNvPr id="19" name="content"/>
          <p:cNvSpPr txBox="1"/>
          <p:nvPr/>
        </p:nvSpPr>
        <p:spPr>
          <a:xfrm>
            <a:off x="603504" y="1051560"/>
            <a:ext cx="8046720" cy="685800"/>
          </a:xfrm>
          <a:prstGeom prst="rect">
            <a:avLst/>
          </a:prstGeom>
          <a:noFill/>
          <a:ln/>
        </p:spPr>
        <p:txBody>
          <a:bodyPr wrap="square" lIns="0" tIns="0" rIns="0" bIns="0" rtlCol="0" anchor="ctr"/>
          <a:lstStyle/>
          <a:p>
            <a:pPr indent="0" marL="0">
              <a:buNone/>
            </a:pPr>
            <a:r>
              <a:rPr lang="en-US" sz="3600" b="1" dirty="0">
                <a:solidFill>
                  <a:srgbClr val="79C0FF"/>
                </a:solidFill>
                <a:latin typeface="Segoe UI" pitchFamily="34" charset="0"/>
                <a:ea typeface="Segoe UI" pitchFamily="34" charset="-122"/>
                <a:cs typeface="Segoe UI" pitchFamily="34" charset="-120"/>
              </a:rPr>
              <a:t>GitHub Copilot App</a:t>
            </a:r>
            <a:endParaRPr lang="en-US" sz="3600" dirty="0"/>
          </a:p>
        </p:txBody>
      </p:sp>
      <p:sp>
        <p:nvSpPr>
          <p:cNvPr id="20" name="content"/>
          <p:cNvSpPr txBox="1"/>
          <p:nvPr/>
        </p:nvSpPr>
        <p:spPr>
          <a:xfrm>
            <a:off x="548640" y="1883664"/>
            <a:ext cx="8229600" cy="1755648"/>
          </a:xfrm>
          <a:prstGeom prst="rect">
            <a:avLst/>
          </a:prstGeom>
          <a:noFill/>
          <a:ln/>
        </p:spPr>
        <p:txBody>
          <a:bodyPr wrap="square" lIns="0" tIns="0" rIns="0" bIns="0" rtlCol="0" anchor="ctr"/>
          <a:lstStyle/>
          <a:p>
            <a:pPr indent="0" marL="0">
              <a:buNone/>
            </a:pPr>
            <a:r>
              <a:rPr lang="en-US" sz="5300" b="1" dirty="0">
                <a:solidFill>
                  <a:srgbClr val="FFFFFF"/>
                </a:solidFill>
                <a:latin typeface="Bahnschrift" pitchFamily="34" charset="0"/>
                <a:ea typeface="Bahnschrift" pitchFamily="34" charset="-122"/>
                <a:cs typeface="Bahnschrift" pitchFamily="34" charset="-120"/>
              </a:rPr>
              <a:t>Turn expertise into</a:t>
            </a:r>
            <a:endParaRPr lang="en-US" sz="5300" dirty="0"/>
          </a:p>
          <a:p>
            <a:pPr indent="0" marL="0">
              <a:buNone/>
            </a:pPr>
            <a:r>
              <a:rPr lang="en-US" sz="5300" b="1" dirty="0">
                <a:solidFill>
                  <a:srgbClr val="FFFFFF"/>
                </a:solidFill>
                <a:latin typeface="Bahnschrift" pitchFamily="34" charset="0"/>
                <a:ea typeface="Bahnschrift" pitchFamily="34" charset="-122"/>
                <a:cs typeface="Bahnschrift" pitchFamily="34" charset="-120"/>
              </a:rPr>
              <a:t>repeatable work.</a:t>
            </a:r>
            <a:endParaRPr lang="en-US" sz="5300" dirty="0"/>
          </a:p>
        </p:txBody>
      </p:sp>
      <p:sp>
        <p:nvSpPr>
          <p:cNvPr id="21" name="content"/>
          <p:cNvSpPr txBox="1"/>
          <p:nvPr/>
        </p:nvSpPr>
        <p:spPr>
          <a:xfrm>
            <a:off x="603504" y="3950208"/>
            <a:ext cx="7909560" cy="932688"/>
          </a:xfrm>
          <a:prstGeom prst="rect">
            <a:avLst/>
          </a:prstGeom>
          <a:noFill/>
          <a:ln/>
        </p:spPr>
        <p:txBody>
          <a:bodyPr wrap="square" lIns="0" tIns="0" rIns="0" bIns="0" rtlCol="0" anchor="ctr"/>
          <a:lstStyle/>
          <a:p>
            <a:pPr indent="0" marL="0">
              <a:buNone/>
            </a:pPr>
            <a:r>
              <a:rPr lang="en-US" sz="2500" dirty="0">
                <a:solidFill>
                  <a:srgbClr val="B8C6D8"/>
                </a:solidFill>
                <a:latin typeface="Segoe UI" pitchFamily="34" charset="0"/>
                <a:ea typeface="Segoe UI" pitchFamily="34" charset="-122"/>
                <a:cs typeface="Segoe UI" pitchFamily="34" charset="-120"/>
              </a:rPr>
              <a:t>Direct agent work. Review the outcome.</a:t>
            </a:r>
            <a:endParaRPr lang="en-US" sz="2500" dirty="0"/>
          </a:p>
          <a:p>
            <a:pPr indent="0" marL="0">
              <a:buNone/>
            </a:pPr>
            <a:r>
              <a:rPr lang="en-US" sz="2500" dirty="0">
                <a:solidFill>
                  <a:srgbClr val="B8C6D8"/>
                </a:solidFill>
                <a:latin typeface="Segoe UI" pitchFamily="34" charset="0"/>
                <a:ea typeface="Segoe UI" pitchFamily="34" charset="-122"/>
                <a:cs typeface="Segoe UI" pitchFamily="34" charset="-120"/>
              </a:rPr>
              <a:t>MOSAIC shows the pattern beyond code.</a:t>
            </a:r>
            <a:endParaRPr lang="en-US" sz="2500" dirty="0"/>
          </a:p>
        </p:txBody>
      </p:sp>
      <p:sp>
        <p:nvSpPr>
          <p:cNvPr id="22" name="layout-panel"/>
          <p:cNvSpPr/>
          <p:nvPr/>
        </p:nvSpPr>
        <p:spPr>
          <a:xfrm>
            <a:off x="548640" y="5916168"/>
            <a:ext cx="11091672" cy="448056"/>
          </a:xfrm>
          <a:prstGeom prst="roundRect">
            <a:avLst>
              <a:gd name="adj" fmla="val 24490"/>
            </a:avLst>
          </a:prstGeom>
          <a:solidFill>
            <a:srgbClr val="233043"/>
          </a:solidFill>
          <a:ln w="8890">
            <a:solidFill>
              <a:srgbClr val="233043"/>
            </a:solidFill>
            <a:prstDash val="solid"/>
          </a:ln>
        </p:spPr>
      </p:sp>
      <p:sp>
        <p:nvSpPr>
          <p:cNvPr id="23"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79C0FF"/>
                </a:solidFill>
                <a:latin typeface="Segoe UI" pitchFamily="34" charset="0"/>
                <a:ea typeface="Segoe UI" pitchFamily="34" charset="-122"/>
                <a:cs typeface="Segoe UI" pitchFamily="34" charset="-120"/>
              </a:rPr>
              <a:t>Connect context. Coordinate expertise. Keep people in control.</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Give teams their context back.</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S03, M02, M06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a:t>
            </a:r>
            <a:endParaRPr lang="en-US" sz="1000" dirty="0"/>
          </a:p>
        </p:txBody>
      </p:sp>
      <p:sp>
        <p:nvSpPr>
          <p:cNvPr id="9" name="layout-panel"/>
          <p:cNvSpPr/>
          <p:nvPr/>
        </p:nvSpPr>
        <p:spPr>
          <a:xfrm>
            <a:off x="548640" y="1828800"/>
            <a:ext cx="5321808" cy="2788920"/>
          </a:xfrm>
          <a:prstGeom prst="roundRect">
            <a:avLst>
              <a:gd name="adj" fmla="val 3934"/>
            </a:avLst>
          </a:prstGeom>
          <a:solidFill>
            <a:srgbClr val="FFFFFF"/>
          </a:solidFill>
          <a:ln w="8890">
            <a:solidFill>
              <a:srgbClr val="D4DDE7"/>
            </a:solidFill>
            <a:prstDash val="solid"/>
          </a:ln>
        </p:spPr>
      </p:sp>
      <p:sp>
        <p:nvSpPr>
          <p:cNvPr id="10" name="layout-panel"/>
          <p:cNvSpPr/>
          <p:nvPr/>
        </p:nvSpPr>
        <p:spPr>
          <a:xfrm>
            <a:off x="731520" y="2029968"/>
            <a:ext cx="329184" cy="50292"/>
          </a:xfrm>
          <a:prstGeom prst="rect">
            <a:avLst>
              <a:gd name="adj" fmla="val 218182"/>
            </a:avLst>
          </a:prstGeom>
          <a:solidFill>
            <a:srgbClr val="8250DF"/>
          </a:solidFill>
          <a:ln w="8890">
            <a:solidFill>
              <a:srgbClr val="8250DF"/>
            </a:solidFill>
            <a:prstDash val="solid"/>
          </a:ln>
        </p:spPr>
      </p:sp>
      <p:sp>
        <p:nvSpPr>
          <p:cNvPr id="11" name="content"/>
          <p:cNvSpPr txBox="1"/>
          <p:nvPr/>
        </p:nvSpPr>
        <p:spPr>
          <a:xfrm>
            <a:off x="731520" y="2212848"/>
            <a:ext cx="4956048"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Before: reconstruct the work</a:t>
            </a:r>
            <a:endParaRPr lang="en-US" sz="2300" dirty="0"/>
          </a:p>
        </p:txBody>
      </p:sp>
      <p:sp>
        <p:nvSpPr>
          <p:cNvPr id="12" name="content"/>
          <p:cNvSpPr txBox="1"/>
          <p:nvPr/>
        </p:nvSpPr>
        <p:spPr>
          <a:xfrm>
            <a:off x="731520" y="2834640"/>
            <a:ext cx="4956048" cy="1600200"/>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Search scattered guidance.</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Repeat discovery and handoffs.</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Rebuild assumptions for review.</a:t>
            </a:r>
            <a:endParaRPr lang="en-US" sz="2000" dirty="0"/>
          </a:p>
        </p:txBody>
      </p:sp>
      <p:sp>
        <p:nvSpPr>
          <p:cNvPr id="13" name="layout-panel"/>
          <p:cNvSpPr/>
          <p:nvPr/>
        </p:nvSpPr>
        <p:spPr>
          <a:xfrm>
            <a:off x="6053328" y="1828800"/>
            <a:ext cx="5586984" cy="2788920"/>
          </a:xfrm>
          <a:prstGeom prst="roundRect">
            <a:avLst>
              <a:gd name="adj" fmla="val 3934"/>
            </a:avLst>
          </a:prstGeom>
          <a:solidFill>
            <a:srgbClr val="FFFFFF"/>
          </a:solidFill>
          <a:ln w="8890">
            <a:solidFill>
              <a:srgbClr val="D4DDE7"/>
            </a:solidFill>
            <a:prstDash val="solid"/>
          </a:ln>
        </p:spPr>
      </p:sp>
      <p:sp>
        <p:nvSpPr>
          <p:cNvPr id="14" name="layout-panel"/>
          <p:cNvSpPr/>
          <p:nvPr/>
        </p:nvSpPr>
        <p:spPr>
          <a:xfrm>
            <a:off x="6236208" y="2029968"/>
            <a:ext cx="329184" cy="50292"/>
          </a:xfrm>
          <a:prstGeom prst="rect">
            <a:avLst>
              <a:gd name="adj" fmla="val 218182"/>
            </a:avLst>
          </a:prstGeom>
          <a:solidFill>
            <a:srgbClr val="1A7F37"/>
          </a:solidFill>
          <a:ln w="8890">
            <a:solidFill>
              <a:srgbClr val="1A7F37"/>
            </a:solidFill>
            <a:prstDash val="solid"/>
          </a:ln>
        </p:spPr>
      </p:sp>
      <p:sp>
        <p:nvSpPr>
          <p:cNvPr id="15" name="content"/>
          <p:cNvSpPr txBox="1"/>
          <p:nvPr/>
        </p:nvSpPr>
        <p:spPr>
          <a:xfrm>
            <a:off x="6236208" y="2212848"/>
            <a:ext cx="5221224"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With the App + MOSAIC</a:t>
            </a:r>
            <a:endParaRPr lang="en-US" sz="2300" dirty="0"/>
          </a:p>
        </p:txBody>
      </p:sp>
      <p:sp>
        <p:nvSpPr>
          <p:cNvPr id="16" name="content"/>
          <p:cNvSpPr txBox="1"/>
          <p:nvPr/>
        </p:nvSpPr>
        <p:spPr>
          <a:xfrm>
            <a:off x="6236208" y="2834640"/>
            <a:ext cx="5221224" cy="1600200"/>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Start from one business need.</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Apply reusable, approved expertise.</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Carry context into a reviewable draft.</a:t>
            </a:r>
            <a:endParaRPr lang="en-US" sz="2000" dirty="0"/>
          </a:p>
        </p:txBody>
      </p:sp>
      <p:sp>
        <p:nvSpPr>
          <p:cNvPr id="17" name="content"/>
          <p:cNvSpPr txBox="1"/>
          <p:nvPr/>
        </p:nvSpPr>
        <p:spPr>
          <a:xfrm>
            <a:off x="731520" y="5001768"/>
            <a:ext cx="10881360" cy="384048"/>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REQUESTER  &gt;  SOLUTION ENGINEER  &gt;  QUALIFIED REVIEWERS</a:t>
            </a:r>
            <a:endParaRPr lang="en-US" sz="2000" dirty="0"/>
          </a:p>
        </p:txBody>
      </p:sp>
      <p:sp>
        <p:nvSpPr>
          <p:cNvPr id="18" name="caption"/>
          <p:cNvSpPr txBox="1"/>
          <p:nvPr/>
        </p:nvSpPr>
        <p:spPr>
          <a:xfrm>
            <a:off x="731520" y="5495544"/>
            <a:ext cx="10698480" cy="292608"/>
          </a:xfrm>
          <a:prstGeom prst="rect">
            <a:avLst/>
          </a:prstGeom>
          <a:noFill/>
          <a:ln/>
        </p:spPr>
        <p:txBody>
          <a:bodyPr wrap="square" lIns="0" tIns="0" rIns="0" bIns="0" rtlCol="0" anchor="ctr"/>
          <a:lstStyle/>
          <a:p>
            <a:pPr indent="0" marL="0">
              <a:buNone/>
            </a:pPr>
            <a:r>
              <a:rPr lang="en-US" sz="1600" dirty="0">
                <a:solidFill>
                  <a:srgbClr val="526174"/>
                </a:solidFill>
                <a:latin typeface="Segoe UI" pitchFamily="34" charset="0"/>
                <a:ea typeface="Segoe UI" pitchFamily="34" charset="-122"/>
                <a:cs typeface="Segoe UI" pitchFamily="34" charset="-120"/>
              </a:rPr>
              <a:t>Chats, attachments, issue context and optional voice input can meet people where work starts.</a:t>
            </a:r>
            <a:endParaRPr lang="en-US" sz="1600" dirty="0"/>
          </a:p>
        </p:txBody>
      </p:sp>
      <p:sp>
        <p:nvSpPr>
          <p:cNvPr id="19"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0"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The business target: less repeated preparation, clearer decisions and less rework.</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Why the App? Direct work, not just code.</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S02, S03, S12, S15, M02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3</a:t>
            </a:r>
            <a:endParaRPr lang="en-US" sz="1000" dirty="0"/>
          </a:p>
        </p:txBody>
      </p:sp>
      <p:sp>
        <p:nvSpPr>
          <p:cNvPr id="9" name="layout-panel"/>
          <p:cNvSpPr/>
          <p:nvPr/>
        </p:nvSpPr>
        <p:spPr>
          <a:xfrm>
            <a:off x="548640" y="1828800"/>
            <a:ext cx="3557016" cy="2670048"/>
          </a:xfrm>
          <a:prstGeom prst="roundRect">
            <a:avLst>
              <a:gd name="adj" fmla="val 4110"/>
            </a:avLst>
          </a:prstGeom>
          <a:solidFill>
            <a:srgbClr val="FFFFFF"/>
          </a:solidFill>
          <a:ln w="8890">
            <a:solidFill>
              <a:srgbClr val="D4DDE7"/>
            </a:solidFill>
            <a:prstDash val="solid"/>
          </a:ln>
        </p:spPr>
      </p:sp>
      <p:sp>
        <p:nvSpPr>
          <p:cNvPr id="10" name="label"/>
          <p:cNvSpPr txBox="1"/>
          <p:nvPr/>
        </p:nvSpPr>
        <p:spPr>
          <a:xfrm>
            <a:off x="722376" y="2029968"/>
            <a:ext cx="3209544" cy="283464"/>
          </a:xfrm>
          <a:prstGeom prst="rect">
            <a:avLst/>
          </a:prstGeom>
          <a:noFill/>
          <a:ln/>
        </p:spPr>
        <p:txBody>
          <a:bodyPr wrap="square" lIns="0" tIns="0" rIns="0" bIns="0" rtlCol="0" anchor="ctr"/>
          <a:lstStyle/>
          <a:p>
            <a:pPr indent="0" marL="0">
              <a:buNone/>
            </a:pPr>
            <a:r>
              <a:rPr lang="en-US" sz="1400" b="1" dirty="0">
                <a:solidFill>
                  <a:srgbClr val="8250DF"/>
                </a:solidFill>
                <a:latin typeface="Segoe UI" pitchFamily="34" charset="0"/>
                <a:ea typeface="Segoe UI" pitchFamily="34" charset="-122"/>
                <a:cs typeface="Segoe UI" pitchFamily="34" charset="-120"/>
              </a:rPr>
              <a:t>IDE</a:t>
            </a:r>
            <a:endParaRPr lang="en-US" sz="1400" dirty="0"/>
          </a:p>
        </p:txBody>
      </p:sp>
      <p:sp>
        <p:nvSpPr>
          <p:cNvPr id="11" name="content"/>
          <p:cNvSpPr txBox="1"/>
          <p:nvPr/>
        </p:nvSpPr>
        <p:spPr>
          <a:xfrm>
            <a:off x="722376" y="2688336"/>
            <a:ext cx="3209544" cy="612648"/>
          </a:xfrm>
          <a:prstGeom prst="rect">
            <a:avLst/>
          </a:prstGeom>
          <a:noFill/>
          <a:ln/>
        </p:spPr>
        <p:txBody>
          <a:bodyPr wrap="square" lIns="0" tIns="0" rIns="0" bIns="0" rtlCol="0" anchor="ctr"/>
          <a:lstStyle/>
          <a:p>
            <a:pPr indent="0" marL="0">
              <a:buNone/>
            </a:pPr>
            <a:r>
              <a:rPr lang="en-US" sz="2500" b="1" dirty="0">
                <a:solidFill>
                  <a:srgbClr val="14202B"/>
                </a:solidFill>
                <a:latin typeface="Segoe UI" pitchFamily="34" charset="0"/>
                <a:ea typeface="Segoe UI" pitchFamily="34" charset="-122"/>
                <a:cs typeface="Segoe UI" pitchFamily="34" charset="-120"/>
              </a:rPr>
              <a:t>Hands-on coding</a:t>
            </a:r>
            <a:endParaRPr lang="en-US" sz="2500" dirty="0"/>
          </a:p>
        </p:txBody>
      </p:sp>
      <p:sp>
        <p:nvSpPr>
          <p:cNvPr id="12" name="diagram"/>
          <p:cNvSpPr txBox="1"/>
          <p:nvPr/>
        </p:nvSpPr>
        <p:spPr>
          <a:xfrm>
            <a:off x="722376" y="3621024"/>
            <a:ext cx="3209544" cy="612648"/>
          </a:xfrm>
          <a:prstGeom prst="rect">
            <a:avLst/>
          </a:prstGeom>
          <a:noFill/>
          <a:ln/>
        </p:spPr>
        <p:txBody>
          <a:bodyPr wrap="square" lIns="0" tIns="0" rIns="0" bIns="0" rtlCol="0" anchor="ctr"/>
          <a:lstStyle/>
          <a:p>
            <a:pPr indent="0" marL="0">
              <a:buNone/>
            </a:pPr>
            <a:r>
              <a:rPr lang="en-US" sz="1800" dirty="0">
                <a:solidFill>
                  <a:srgbClr val="526174"/>
                </a:solidFill>
                <a:latin typeface="Segoe UI" pitchFamily="34" charset="0"/>
                <a:ea typeface="Segoe UI" pitchFamily="34" charset="-122"/>
                <a:cs typeface="Segoe UI" pitchFamily="34" charset="-120"/>
              </a:rPr>
              <a:t>Edit, debug and refine</a:t>
            </a:r>
            <a:endParaRPr lang="en-US" sz="1800" dirty="0"/>
          </a:p>
          <a:p>
            <a:pPr indent="0" marL="0">
              <a:buNone/>
            </a:pPr>
            <a:r>
              <a:rPr lang="en-US" sz="1800" dirty="0">
                <a:solidFill>
                  <a:srgbClr val="526174"/>
                </a:solidFill>
                <a:latin typeface="Segoe UI" pitchFamily="34" charset="0"/>
                <a:ea typeface="Segoe UI" pitchFamily="34" charset="-122"/>
                <a:cs typeface="Segoe UI" pitchFamily="34" charset="-120"/>
              </a:rPr>
              <a:t>software directly.</a:t>
            </a:r>
            <a:endParaRPr lang="en-US" sz="1800" dirty="0"/>
          </a:p>
        </p:txBody>
      </p:sp>
      <p:sp>
        <p:nvSpPr>
          <p:cNvPr id="13" name="layout-panel"/>
          <p:cNvSpPr/>
          <p:nvPr/>
        </p:nvSpPr>
        <p:spPr>
          <a:xfrm>
            <a:off x="4315968" y="1828800"/>
            <a:ext cx="3557016" cy="2670048"/>
          </a:xfrm>
          <a:prstGeom prst="roundRect">
            <a:avLst>
              <a:gd name="adj" fmla="val 4110"/>
            </a:avLst>
          </a:prstGeom>
          <a:solidFill>
            <a:srgbClr val="E7EEF8"/>
          </a:solidFill>
          <a:ln w="8890">
            <a:solidFill>
              <a:srgbClr val="D4DDE7"/>
            </a:solidFill>
            <a:prstDash val="solid"/>
          </a:ln>
        </p:spPr>
      </p:sp>
      <p:sp>
        <p:nvSpPr>
          <p:cNvPr id="14" name="label"/>
          <p:cNvSpPr txBox="1"/>
          <p:nvPr/>
        </p:nvSpPr>
        <p:spPr>
          <a:xfrm>
            <a:off x="4489704" y="2029968"/>
            <a:ext cx="3209544" cy="283464"/>
          </a:xfrm>
          <a:prstGeom prst="rect">
            <a:avLst/>
          </a:prstGeom>
          <a:noFill/>
          <a:ln/>
        </p:spPr>
        <p:txBody>
          <a:bodyPr wrap="square" lIns="0" tIns="0" rIns="0" bIns="0" rtlCol="0" anchor="ctr"/>
          <a:lstStyle/>
          <a:p>
            <a:pPr indent="0" marL="0">
              <a:buNone/>
            </a:pPr>
            <a:r>
              <a:rPr lang="en-US" sz="1400" b="1" dirty="0">
                <a:solidFill>
                  <a:srgbClr val="0969DA"/>
                </a:solidFill>
                <a:latin typeface="Segoe UI" pitchFamily="34" charset="0"/>
                <a:ea typeface="Segoe UI" pitchFamily="34" charset="-122"/>
                <a:cs typeface="Segoe UI" pitchFamily="34" charset="-120"/>
              </a:rPr>
              <a:t>GITHUB COPILOT APP</a:t>
            </a:r>
            <a:endParaRPr lang="en-US" sz="1400" dirty="0"/>
          </a:p>
        </p:txBody>
      </p:sp>
      <p:sp>
        <p:nvSpPr>
          <p:cNvPr id="15" name="content"/>
          <p:cNvSpPr txBox="1"/>
          <p:nvPr/>
        </p:nvSpPr>
        <p:spPr>
          <a:xfrm>
            <a:off x="4489704" y="2688336"/>
            <a:ext cx="3209544" cy="612648"/>
          </a:xfrm>
          <a:prstGeom prst="rect">
            <a:avLst/>
          </a:prstGeom>
          <a:noFill/>
          <a:ln/>
        </p:spPr>
        <p:txBody>
          <a:bodyPr wrap="square" lIns="0" tIns="0" rIns="0" bIns="0" rtlCol="0" anchor="ctr"/>
          <a:lstStyle/>
          <a:p>
            <a:pPr indent="0" marL="0">
              <a:buNone/>
            </a:pPr>
            <a:r>
              <a:rPr lang="en-US" sz="2500" b="1" dirty="0">
                <a:solidFill>
                  <a:srgbClr val="0969DA"/>
                </a:solidFill>
                <a:latin typeface="Segoe UI" pitchFamily="34" charset="0"/>
                <a:ea typeface="Segoe UI" pitchFamily="34" charset="-122"/>
                <a:cs typeface="Segoe UI" pitchFamily="34" charset="-120"/>
              </a:rPr>
              <a:t>Agent-directed work</a:t>
            </a:r>
            <a:endParaRPr lang="en-US" sz="2500" dirty="0"/>
          </a:p>
        </p:txBody>
      </p:sp>
      <p:sp>
        <p:nvSpPr>
          <p:cNvPr id="16" name="diagram"/>
          <p:cNvSpPr txBox="1"/>
          <p:nvPr/>
        </p:nvSpPr>
        <p:spPr>
          <a:xfrm>
            <a:off x="4489704" y="3621024"/>
            <a:ext cx="3209544" cy="612648"/>
          </a:xfrm>
          <a:prstGeom prst="rect">
            <a:avLst/>
          </a:prstGeom>
          <a:noFill/>
          <a:ln/>
        </p:spPr>
        <p:txBody>
          <a:bodyPr wrap="square" lIns="0" tIns="0" rIns="0" bIns="0" rtlCol="0" anchor="ctr"/>
          <a:lstStyle/>
          <a:p>
            <a:pPr indent="0" marL="0">
              <a:buNone/>
            </a:pPr>
            <a:r>
              <a:rPr lang="en-US" sz="1800" dirty="0">
                <a:solidFill>
                  <a:srgbClr val="526174"/>
                </a:solidFill>
                <a:latin typeface="Segoe UI" pitchFamily="34" charset="0"/>
                <a:ea typeface="Segoe UI" pitchFamily="34" charset="-122"/>
                <a:cs typeface="Segoe UI" pitchFamily="34" charset="-120"/>
              </a:rPr>
              <a:t>Direct sessions, inspect results</a:t>
            </a:r>
            <a:endParaRPr lang="en-US" sz="1800" dirty="0"/>
          </a:p>
          <a:p>
            <a:pPr indent="0" marL="0">
              <a:buNone/>
            </a:pPr>
            <a:r>
              <a:rPr lang="en-US" sz="1800" dirty="0">
                <a:solidFill>
                  <a:srgbClr val="526174"/>
                </a:solidFill>
                <a:latin typeface="Segoe UI" pitchFamily="34" charset="0"/>
                <a:ea typeface="Segoe UI" pitchFamily="34" charset="-122"/>
                <a:cs typeface="Segoe UI" pitchFamily="34" charset="-120"/>
              </a:rPr>
              <a:t>and review work with GitHub.</a:t>
            </a:r>
            <a:endParaRPr lang="en-US" sz="1800" dirty="0"/>
          </a:p>
        </p:txBody>
      </p:sp>
      <p:sp>
        <p:nvSpPr>
          <p:cNvPr id="17" name="layout-panel"/>
          <p:cNvSpPr/>
          <p:nvPr/>
        </p:nvSpPr>
        <p:spPr>
          <a:xfrm>
            <a:off x="8083296" y="1828800"/>
            <a:ext cx="3557016" cy="2670048"/>
          </a:xfrm>
          <a:prstGeom prst="roundRect">
            <a:avLst>
              <a:gd name="adj" fmla="val 4110"/>
            </a:avLst>
          </a:prstGeom>
          <a:solidFill>
            <a:srgbClr val="FFFFFF"/>
          </a:solidFill>
          <a:ln w="8890">
            <a:solidFill>
              <a:srgbClr val="D4DDE7"/>
            </a:solidFill>
            <a:prstDash val="solid"/>
          </a:ln>
        </p:spPr>
      </p:sp>
      <p:sp>
        <p:nvSpPr>
          <p:cNvPr id="18" name="label"/>
          <p:cNvSpPr txBox="1"/>
          <p:nvPr/>
        </p:nvSpPr>
        <p:spPr>
          <a:xfrm>
            <a:off x="8257032" y="2029968"/>
            <a:ext cx="3209544" cy="283464"/>
          </a:xfrm>
          <a:prstGeom prst="rect">
            <a:avLst/>
          </a:prstGeom>
          <a:noFill/>
          <a:ln/>
        </p:spPr>
        <p:txBody>
          <a:bodyPr wrap="square" lIns="0" tIns="0" rIns="0" bIns="0" rtlCol="0" anchor="ctr"/>
          <a:lstStyle/>
          <a:p>
            <a:pPr indent="0" marL="0">
              <a:buNone/>
            </a:pPr>
            <a:r>
              <a:rPr lang="en-US" sz="1400" b="1" dirty="0">
                <a:solidFill>
                  <a:srgbClr val="1A7F37"/>
                </a:solidFill>
                <a:latin typeface="Segoe UI" pitchFamily="34" charset="0"/>
                <a:ea typeface="Segoe UI" pitchFamily="34" charset="-122"/>
                <a:cs typeface="Segoe UI" pitchFamily="34" charset="-120"/>
              </a:rPr>
              <a:t>STANDALONE APPLICATION</a:t>
            </a:r>
            <a:endParaRPr lang="en-US" sz="1400" dirty="0"/>
          </a:p>
        </p:txBody>
      </p:sp>
      <p:sp>
        <p:nvSpPr>
          <p:cNvPr id="19" name="content"/>
          <p:cNvSpPr txBox="1"/>
          <p:nvPr/>
        </p:nvSpPr>
        <p:spPr>
          <a:xfrm>
            <a:off x="8257032" y="2688336"/>
            <a:ext cx="3209544" cy="612648"/>
          </a:xfrm>
          <a:prstGeom prst="rect">
            <a:avLst/>
          </a:prstGeom>
          <a:noFill/>
          <a:ln/>
        </p:spPr>
        <p:txBody>
          <a:bodyPr wrap="square" lIns="0" tIns="0" rIns="0" bIns="0" rtlCol="0" anchor="ctr"/>
          <a:lstStyle/>
          <a:p>
            <a:pPr indent="0" marL="0">
              <a:buNone/>
            </a:pPr>
            <a:r>
              <a:rPr lang="en-US" sz="2500" b="1" dirty="0">
                <a:solidFill>
                  <a:srgbClr val="14202B"/>
                </a:solidFill>
                <a:latin typeface="Segoe UI" pitchFamily="34" charset="0"/>
                <a:ea typeface="Segoe UI" pitchFamily="34" charset="-122"/>
                <a:cs typeface="Segoe UI" pitchFamily="34" charset="-120"/>
              </a:rPr>
              <a:t>Your own experience</a:t>
            </a:r>
            <a:endParaRPr lang="en-US" sz="2500" dirty="0"/>
          </a:p>
        </p:txBody>
      </p:sp>
      <p:sp>
        <p:nvSpPr>
          <p:cNvPr id="20" name="diagram"/>
          <p:cNvSpPr txBox="1"/>
          <p:nvPr/>
        </p:nvSpPr>
        <p:spPr>
          <a:xfrm>
            <a:off x="8257032" y="3621024"/>
            <a:ext cx="3209544" cy="612648"/>
          </a:xfrm>
          <a:prstGeom prst="rect">
            <a:avLst/>
          </a:prstGeom>
          <a:noFill/>
          <a:ln/>
        </p:spPr>
        <p:txBody>
          <a:bodyPr wrap="square" lIns="0" tIns="0" rIns="0" bIns="0" rtlCol="0" anchor="ctr"/>
          <a:lstStyle/>
          <a:p>
            <a:pPr indent="0" marL="0">
              <a:buNone/>
            </a:pPr>
            <a:r>
              <a:rPr lang="en-US" sz="1800" dirty="0">
                <a:solidFill>
                  <a:srgbClr val="526174"/>
                </a:solidFill>
                <a:latin typeface="Segoe UI" pitchFamily="34" charset="0"/>
                <a:ea typeface="Segoe UI" pitchFamily="34" charset="-122"/>
                <a:cs typeface="Segoe UI" pitchFamily="34" charset="-120"/>
              </a:rPr>
              <a:t>Own the product interface,</a:t>
            </a:r>
            <a:endParaRPr lang="en-US" sz="1800" dirty="0"/>
          </a:p>
          <a:p>
            <a:pPr indent="0" marL="0">
              <a:buNone/>
            </a:pPr>
            <a:r>
              <a:rPr lang="en-US" sz="1800" dirty="0">
                <a:solidFill>
                  <a:srgbClr val="526174"/>
                </a:solidFill>
                <a:latin typeface="Segoe UI" pitchFamily="34" charset="0"/>
                <a:ea typeface="Segoe UI" pitchFamily="34" charset="-122"/>
                <a:cs typeface="Segoe UI" pitchFamily="34" charset="-120"/>
              </a:rPr>
              <a:t>integration and operations.</a:t>
            </a:r>
            <a:endParaRPr lang="en-US" sz="1800" dirty="0"/>
          </a:p>
        </p:txBody>
      </p:sp>
      <p:sp>
        <p:nvSpPr>
          <p:cNvPr id="21" name="caption"/>
          <p:cNvSpPr txBox="1"/>
          <p:nvPr/>
        </p:nvSpPr>
        <p:spPr>
          <a:xfrm>
            <a:off x="758952" y="4800600"/>
            <a:ext cx="10652760" cy="548640"/>
          </a:xfrm>
          <a:prstGeom prst="rect">
            <a:avLst/>
          </a:prstGeom>
          <a:noFill/>
          <a:ln/>
        </p:spPr>
        <p:txBody>
          <a:bodyPr wrap="square" lIns="0" tIns="0" rIns="0" bIns="0" rtlCol="0" anchor="ctr"/>
          <a:lstStyle/>
          <a:p>
            <a:pPr indent="0" marL="0">
              <a:buNone/>
            </a:pPr>
            <a:r>
              <a:rPr lang="en-US" sz="1800" dirty="0">
                <a:solidFill>
                  <a:srgbClr val="526174"/>
                </a:solidFill>
                <a:latin typeface="Segoe UI" pitchFamily="34" charset="0"/>
                <a:ea typeface="Segoe UI" pitchFamily="34" charset="-122"/>
                <a:cs typeface="Segoe UI" pitchFamily="34" charset="-120"/>
              </a:rPr>
              <a:t>Selection lenses, not exclusive capabilities. IDEs and other agent tools also support agents, MCP and Git.</a:t>
            </a:r>
            <a:endParaRPr lang="en-US" sz="1800" dirty="0"/>
          </a:p>
        </p:txBody>
      </p:sp>
      <p:sp>
        <p:nvSpPr>
          <p:cNvPr id="22"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3"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Choose the complete working experience. Keep the IDE where it adds value.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Watch the App do the coordinating.</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M01, M02, M03, M07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4</a:t>
            </a:r>
            <a:endParaRPr lang="en-US" sz="1000" dirty="0"/>
          </a:p>
        </p:txBody>
      </p:sp>
      <p:sp>
        <p:nvSpPr>
          <p:cNvPr id="9" name="layout-panel"/>
          <p:cNvSpPr/>
          <p:nvPr/>
        </p:nvSpPr>
        <p:spPr>
          <a:xfrm>
            <a:off x="548640" y="1783080"/>
            <a:ext cx="7845552" cy="3977640"/>
          </a:xfrm>
          <a:prstGeom prst="roundRect">
            <a:avLst>
              <a:gd name="adj" fmla="val 2759"/>
            </a:avLst>
          </a:prstGeom>
          <a:solidFill>
            <a:srgbClr val="FFFFFF"/>
          </a:solidFill>
          <a:ln w="8890">
            <a:solidFill>
              <a:srgbClr val="D4DDE7"/>
            </a:solidFill>
            <a:prstDash val="solid"/>
          </a:ln>
        </p:spPr>
      </p:sp>
      <p:pic>
        <p:nvPicPr>
          <p:cNvPr id="10" name="authentic-evidence" descr="Authentic October 7 GitHub Copilot App intake for a fictional travel-policy request.">    </p:cNvPr>
          <p:cNvPicPr>
            <a:picLocks noChangeAspect="1"/>
          </p:cNvPicPr>
          <p:nvPr/>
        </p:nvPicPr>
        <p:blipFill>
          <a:blip r:embed="rId1"/>
          <a:stretch>
            <a:fillRect/>
          </a:stretch>
        </p:blipFill>
        <p:spPr>
          <a:xfrm>
            <a:off x="1103610" y="1920240"/>
            <a:ext cx="6735611" cy="3648456"/>
          </a:xfrm>
          <a:prstGeom prst="rect">
            <a:avLst/>
          </a:prstGeom>
        </p:spPr>
      </p:pic>
      <p:sp>
        <p:nvSpPr>
          <p:cNvPr id="11" name="layout-panel"/>
          <p:cNvSpPr/>
          <p:nvPr/>
        </p:nvSpPr>
        <p:spPr>
          <a:xfrm>
            <a:off x="8668512" y="1847088"/>
            <a:ext cx="2615184" cy="292608"/>
          </a:xfrm>
          <a:prstGeom prst="roundRect">
            <a:avLst>
              <a:gd name="adj" fmla="val 37500"/>
            </a:avLst>
          </a:prstGeom>
          <a:solidFill>
            <a:srgbClr val="1A7F37"/>
          </a:solidFill>
          <a:ln w="8890">
            <a:solidFill>
              <a:srgbClr val="1A7F37"/>
            </a:solidFill>
            <a:prstDash val="solid"/>
          </a:ln>
        </p:spPr>
      </p:sp>
      <p:sp>
        <p:nvSpPr>
          <p:cNvPr id="12" name="label"/>
          <p:cNvSpPr txBox="1"/>
          <p:nvPr/>
        </p:nvSpPr>
        <p:spPr>
          <a:xfrm>
            <a:off x="8741664" y="1869948"/>
            <a:ext cx="246888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AUTHENTIC APP USE</a:t>
            </a:r>
            <a:endParaRPr lang="en-US" sz="1200" dirty="0"/>
          </a:p>
        </p:txBody>
      </p:sp>
      <p:sp>
        <p:nvSpPr>
          <p:cNvPr id="13" name="content"/>
          <p:cNvSpPr txBox="1"/>
          <p:nvPr/>
        </p:nvSpPr>
        <p:spPr>
          <a:xfrm>
            <a:off x="8668512" y="2350008"/>
            <a:ext cx="2871216" cy="2606040"/>
          </a:xfrm>
          <a:prstGeom prst="rect">
            <a:avLst/>
          </a:prstGeom>
          <a:noFill/>
          <a:ln/>
        </p:spPr>
        <p:txBody>
          <a:bodyPr wrap="square" lIns="0" tIns="0" rIns="0" bIns="0" rtlCol="0" anchor="t"/>
          <a:lstStyle/>
          <a:p>
            <a:pPr indent="0" marL="0">
              <a:buNone/>
            </a:pPr>
            <a:r>
              <a:rPr lang="en-US" sz="2100" b="1" dirty="0">
                <a:solidFill>
                  <a:srgbClr val="14202B"/>
                </a:solidFill>
                <a:latin typeface="Segoe UI" pitchFamily="34" charset="0"/>
                <a:ea typeface="Segoe UI" pitchFamily="34" charset="-122"/>
                <a:cs typeface="Segoe UI" pitchFamily="34" charset="-120"/>
              </a:rPr>
              <a:t>1  Describe the need</a:t>
            </a:r>
            <a:endParaRPr lang="en-US" sz="2100" dirty="0"/>
          </a:p>
          <a:p>
            <a:pPr indent="0" marL="0">
              <a:buNone/>
            </a:pPr>
            <a:endParaRPr lang="en-US" sz="2100" dirty="0"/>
          </a:p>
          <a:p>
            <a:pPr indent="0" marL="0">
              <a:buNone/>
            </a:pPr>
            <a:r>
              <a:rPr lang="en-US" sz="2100" b="1" dirty="0">
                <a:solidFill>
                  <a:srgbClr val="14202B"/>
                </a:solidFill>
                <a:latin typeface="Segoe UI" pitchFamily="34" charset="0"/>
                <a:ea typeface="Segoe UI" pitchFamily="34" charset="-122"/>
                <a:cs typeface="Segoe UI" pitchFamily="34" charset="-120"/>
              </a:rPr>
              <a:t>2  Approve bounded</a:t>
            </a:r>
            <a:endParaRPr lang="en-US" sz="2100" dirty="0"/>
          </a:p>
          <a:p>
            <a:pPr indent="0" marL="0">
              <a:buNone/>
            </a:pPr>
            <a:r>
              <a:rPr lang="en-US" sz="2100" b="1" dirty="0">
                <a:solidFill>
                  <a:srgbClr val="14202B"/>
                </a:solidFill>
                <a:latin typeface="Segoe UI" pitchFamily="34" charset="0"/>
                <a:ea typeface="Segoe UI" pitchFamily="34" charset="-122"/>
                <a:cs typeface="Segoe UI" pitchFamily="34" charset="-120"/>
              </a:rPr>
              <a:t>    preparation</a:t>
            </a:r>
            <a:endParaRPr lang="en-US" sz="2100" dirty="0"/>
          </a:p>
          <a:p>
            <a:pPr indent="0" marL="0">
              <a:buNone/>
            </a:pPr>
            <a:endParaRPr lang="en-US" sz="2100" dirty="0"/>
          </a:p>
          <a:p>
            <a:pPr indent="0" marL="0">
              <a:buNone/>
            </a:pPr>
            <a:r>
              <a:rPr lang="en-US" sz="2100" b="1" dirty="0">
                <a:solidFill>
                  <a:srgbClr val="14202B"/>
                </a:solidFill>
                <a:latin typeface="Segoe UI" pitchFamily="34" charset="0"/>
                <a:ea typeface="Segoe UI" pitchFamily="34" charset="-122"/>
                <a:cs typeface="Segoe UI" pitchFamily="34" charset="-120"/>
              </a:rPr>
              <a:t>3  Open the dossier</a:t>
            </a:r>
            <a:endParaRPr lang="en-US" sz="2100" dirty="0"/>
          </a:p>
        </p:txBody>
      </p:sp>
      <p:sp>
        <p:nvSpPr>
          <p:cNvPr id="14" name="link">
            <a:hlinkClick r:id="rId2" tooltip=""/>
          </p:cNvPr>
          <p:cNvSpPr txBox="1"/>
          <p:nvPr/>
        </p:nvSpPr>
        <p:spPr>
          <a:xfrm>
            <a:off x="8668512" y="5166360"/>
            <a:ext cx="2816352" cy="365760"/>
          </a:xfrm>
          <a:prstGeom prst="rect">
            <a:avLst/>
          </a:prstGeom>
          <a:noFill/>
          <a:ln/>
        </p:spPr>
        <p:txBody>
          <a:bodyPr wrap="square" lIns="0" tIns="0" rIns="0" bIns="0" rtlCol="0" anchor="ctr"/>
          <a:lstStyle/>
          <a:p>
            <a:pPr indent="0" marL="0">
              <a:buNone/>
            </a:pPr>
            <a:r>
              <a:rPr lang="en-US" sz="1700" u="sng" dirty="0">
                <a:solidFill>
                  <a:srgbClr val="0969DA"/>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Play the 2:55 recording</a:t>
            </a:r>
            <a:endParaRPr lang="en-US" sz="1700" dirty="0"/>
          </a:p>
        </p:txBody>
      </p:sp>
      <p:sp>
        <p:nvSpPr>
          <p:cNvPr id="15"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16"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 conversation + tools. MOSAIC = domain process + validation. People = decisions.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Connect business context with WorkIQ + MCP.</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S02, S08, S09, S14, S20, M07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5</a:t>
            </a:r>
            <a:endParaRPr lang="en-US" sz="1000" dirty="0"/>
          </a:p>
        </p:txBody>
      </p:sp>
      <p:sp>
        <p:nvSpPr>
          <p:cNvPr id="9" name="layout-panel"/>
          <p:cNvSpPr/>
          <p:nvPr/>
        </p:nvSpPr>
        <p:spPr>
          <a:xfrm>
            <a:off x="548640" y="1828800"/>
            <a:ext cx="2651760" cy="1216152"/>
          </a:xfrm>
          <a:prstGeom prst="roundRect">
            <a:avLst>
              <a:gd name="adj" fmla="val 9023"/>
            </a:avLst>
          </a:prstGeom>
          <a:solidFill>
            <a:srgbClr val="FFFFFF"/>
          </a:solidFill>
          <a:ln w="8890">
            <a:solidFill>
              <a:srgbClr val="D4DDE7"/>
            </a:solidFill>
            <a:prstDash val="solid"/>
          </a:ln>
        </p:spPr>
      </p:sp>
      <p:sp>
        <p:nvSpPr>
          <p:cNvPr id="10" name="diagram"/>
          <p:cNvSpPr txBox="1"/>
          <p:nvPr/>
        </p:nvSpPr>
        <p:spPr>
          <a:xfrm>
            <a:off x="704088" y="1993392"/>
            <a:ext cx="2340864" cy="356616"/>
          </a:xfrm>
          <a:prstGeom prst="rect">
            <a:avLst/>
          </a:prstGeom>
          <a:noFill/>
          <a:ln/>
        </p:spPr>
        <p:txBody>
          <a:bodyPr wrap="square" lIns="0" tIns="0" rIns="0" bIns="0" rtlCol="0" anchor="ctr"/>
          <a:lstStyle/>
          <a:p>
            <a:pPr indent="0" marL="0">
              <a:buNone/>
            </a:pPr>
            <a:r>
              <a:rPr lang="en-US" sz="1700" b="1" dirty="0">
                <a:solidFill>
                  <a:srgbClr val="0969DA"/>
                </a:solidFill>
                <a:latin typeface="Segoe UI" pitchFamily="34" charset="0"/>
                <a:ea typeface="Segoe UI" pitchFamily="34" charset="-122"/>
                <a:cs typeface="Segoe UI" pitchFamily="34" charset="-120"/>
              </a:rPr>
              <a:t>WorkIQ</a:t>
            </a:r>
            <a:endParaRPr lang="en-US" sz="1700" dirty="0"/>
          </a:p>
        </p:txBody>
      </p:sp>
      <p:sp>
        <p:nvSpPr>
          <p:cNvPr id="11" name="diagram"/>
          <p:cNvSpPr txBox="1"/>
          <p:nvPr/>
        </p:nvSpPr>
        <p:spPr>
          <a:xfrm>
            <a:off x="704088" y="2514600"/>
            <a:ext cx="2340864" cy="329184"/>
          </a:xfrm>
          <a:prstGeom prst="rect">
            <a:avLst/>
          </a:prstGeom>
          <a:noFill/>
          <a:ln/>
        </p:spPr>
        <p:txBody>
          <a:bodyPr wrap="square" lIns="0" tIns="0" rIns="0" bIns="0" rtlCol="0" anchor="ctr"/>
          <a:lstStyle/>
          <a:p>
            <a:pPr indent="0" marL="0">
              <a:buNone/>
            </a:pPr>
            <a:r>
              <a:rPr lang="en-US" sz="1550" dirty="0">
                <a:solidFill>
                  <a:srgbClr val="526174"/>
                </a:solidFill>
                <a:latin typeface="Segoe UI" pitchFamily="34" charset="0"/>
                <a:ea typeface="Segoe UI" pitchFamily="34" charset="-122"/>
                <a:cs typeface="Segoe UI" pitchFamily="34" charset="-120"/>
              </a:rPr>
              <a:t>M365 questions + entities</a:t>
            </a:r>
            <a:endParaRPr lang="en-US" sz="1550" dirty="0"/>
          </a:p>
        </p:txBody>
      </p:sp>
      <p:sp>
        <p:nvSpPr>
          <p:cNvPr id="12" name="layout-panel"/>
          <p:cNvSpPr/>
          <p:nvPr/>
        </p:nvSpPr>
        <p:spPr>
          <a:xfrm>
            <a:off x="3360420" y="1828800"/>
            <a:ext cx="2651760" cy="1216152"/>
          </a:xfrm>
          <a:prstGeom prst="roundRect">
            <a:avLst>
              <a:gd name="adj" fmla="val 9023"/>
            </a:avLst>
          </a:prstGeom>
          <a:solidFill>
            <a:srgbClr val="FFFFFF"/>
          </a:solidFill>
          <a:ln w="8890">
            <a:solidFill>
              <a:srgbClr val="D4DDE7"/>
            </a:solidFill>
            <a:prstDash val="solid"/>
          </a:ln>
        </p:spPr>
      </p:sp>
      <p:sp>
        <p:nvSpPr>
          <p:cNvPr id="13" name="diagram"/>
          <p:cNvSpPr txBox="1"/>
          <p:nvPr/>
        </p:nvSpPr>
        <p:spPr>
          <a:xfrm>
            <a:off x="3515868" y="1993392"/>
            <a:ext cx="2340864" cy="356616"/>
          </a:xfrm>
          <a:prstGeom prst="rect">
            <a:avLst/>
          </a:prstGeom>
          <a:noFill/>
          <a:ln/>
        </p:spPr>
        <p:txBody>
          <a:bodyPr wrap="square" lIns="0" tIns="0" rIns="0" bIns="0" rtlCol="0" anchor="ctr"/>
          <a:lstStyle/>
          <a:p>
            <a:pPr indent="0" marL="0">
              <a:buNone/>
            </a:pPr>
            <a:r>
              <a:rPr lang="en-US" sz="1700" b="1" dirty="0">
                <a:solidFill>
                  <a:srgbClr val="0969DA"/>
                </a:solidFill>
                <a:latin typeface="Segoe UI" pitchFamily="34" charset="0"/>
                <a:ea typeface="Segoe UI" pitchFamily="34" charset="-122"/>
                <a:cs typeface="Segoe UI" pitchFamily="34" charset="-120"/>
              </a:rPr>
              <a:t>WorkIQ preview</a:t>
            </a:r>
            <a:endParaRPr lang="en-US" sz="1700" dirty="0"/>
          </a:p>
        </p:txBody>
      </p:sp>
      <p:sp>
        <p:nvSpPr>
          <p:cNvPr id="14" name="diagram"/>
          <p:cNvSpPr txBox="1"/>
          <p:nvPr/>
        </p:nvSpPr>
        <p:spPr>
          <a:xfrm>
            <a:off x="3515868" y="2514600"/>
            <a:ext cx="2340864" cy="329184"/>
          </a:xfrm>
          <a:prstGeom prst="rect">
            <a:avLst/>
          </a:prstGeom>
          <a:noFill/>
          <a:ln/>
        </p:spPr>
        <p:txBody>
          <a:bodyPr wrap="square" lIns="0" tIns="0" rIns="0" bIns="0" rtlCol="0" anchor="ctr"/>
          <a:lstStyle/>
          <a:p>
            <a:pPr indent="0" marL="0">
              <a:buNone/>
            </a:pPr>
            <a:r>
              <a:rPr lang="en-US" sz="1550" dirty="0">
                <a:solidFill>
                  <a:srgbClr val="526174"/>
                </a:solidFill>
                <a:latin typeface="Segoe UI" pitchFamily="34" charset="0"/>
                <a:ea typeface="Segoe UI" pitchFamily="34" charset="-122"/>
                <a:cs typeface="Segoe UI" pitchFamily="34" charset="-120"/>
              </a:rPr>
              <a:t>Retrieve-first grounding</a:t>
            </a:r>
            <a:endParaRPr lang="en-US" sz="1550" dirty="0"/>
          </a:p>
        </p:txBody>
      </p:sp>
      <p:sp>
        <p:nvSpPr>
          <p:cNvPr id="15" name="layout-panel"/>
          <p:cNvSpPr/>
          <p:nvPr/>
        </p:nvSpPr>
        <p:spPr>
          <a:xfrm>
            <a:off x="6172200" y="1828800"/>
            <a:ext cx="2651760" cy="1216152"/>
          </a:xfrm>
          <a:prstGeom prst="roundRect">
            <a:avLst>
              <a:gd name="adj" fmla="val 9023"/>
            </a:avLst>
          </a:prstGeom>
          <a:solidFill>
            <a:srgbClr val="FFFFFF"/>
          </a:solidFill>
          <a:ln w="8890">
            <a:solidFill>
              <a:srgbClr val="D4DDE7"/>
            </a:solidFill>
            <a:prstDash val="solid"/>
          </a:ln>
        </p:spPr>
      </p:sp>
      <p:sp>
        <p:nvSpPr>
          <p:cNvPr id="16" name="diagram"/>
          <p:cNvSpPr txBox="1"/>
          <p:nvPr/>
        </p:nvSpPr>
        <p:spPr>
          <a:xfrm>
            <a:off x="6327648" y="1993392"/>
            <a:ext cx="2340864" cy="356616"/>
          </a:xfrm>
          <a:prstGeom prst="rect">
            <a:avLst/>
          </a:prstGeom>
          <a:noFill/>
          <a:ln/>
        </p:spPr>
        <p:txBody>
          <a:bodyPr wrap="square" lIns="0" tIns="0" rIns="0" bIns="0" rtlCol="0" anchor="ctr"/>
          <a:lstStyle/>
          <a:p>
            <a:pPr indent="0" marL="0">
              <a:buNone/>
            </a:pPr>
            <a:r>
              <a:rPr lang="en-US" sz="1700" b="1" dirty="0">
                <a:solidFill>
                  <a:srgbClr val="0969DA"/>
                </a:solidFill>
                <a:latin typeface="Segoe UI" pitchFamily="34" charset="0"/>
                <a:ea typeface="Segoe UI" pitchFamily="34" charset="-122"/>
                <a:cs typeface="Segoe UI" pitchFamily="34" charset="-120"/>
              </a:rPr>
              <a:t>Productivity</a:t>
            </a:r>
            <a:endParaRPr lang="en-US" sz="1700" dirty="0"/>
          </a:p>
        </p:txBody>
      </p:sp>
      <p:sp>
        <p:nvSpPr>
          <p:cNvPr id="17" name="diagram"/>
          <p:cNvSpPr txBox="1"/>
          <p:nvPr/>
        </p:nvSpPr>
        <p:spPr>
          <a:xfrm>
            <a:off x="6327648" y="2514600"/>
            <a:ext cx="2340864" cy="329184"/>
          </a:xfrm>
          <a:prstGeom prst="rect">
            <a:avLst/>
          </a:prstGeom>
          <a:noFill/>
          <a:ln/>
        </p:spPr>
        <p:txBody>
          <a:bodyPr wrap="square" lIns="0" tIns="0" rIns="0" bIns="0" rtlCol="0" anchor="ctr"/>
          <a:lstStyle/>
          <a:p>
            <a:pPr indent="0" marL="0">
              <a:buNone/>
            </a:pPr>
            <a:r>
              <a:rPr lang="en-US" sz="1550" dirty="0">
                <a:solidFill>
                  <a:srgbClr val="526174"/>
                </a:solidFill>
                <a:latin typeface="Segoe UI" pitchFamily="34" charset="0"/>
                <a:ea typeface="Segoe UI" pitchFamily="34" charset="-122"/>
                <a:cs typeface="Segoe UI" pitchFamily="34" charset="-120"/>
              </a:rPr>
              <a:t>10 read-only insight skills</a:t>
            </a:r>
            <a:endParaRPr lang="en-US" sz="1550" dirty="0"/>
          </a:p>
        </p:txBody>
      </p:sp>
      <p:sp>
        <p:nvSpPr>
          <p:cNvPr id="18" name="layout-panel"/>
          <p:cNvSpPr/>
          <p:nvPr/>
        </p:nvSpPr>
        <p:spPr>
          <a:xfrm>
            <a:off x="8983980" y="1828800"/>
            <a:ext cx="2651760" cy="1216152"/>
          </a:xfrm>
          <a:prstGeom prst="roundRect">
            <a:avLst>
              <a:gd name="adj" fmla="val 9023"/>
            </a:avLst>
          </a:prstGeom>
          <a:solidFill>
            <a:srgbClr val="FFFFFF"/>
          </a:solidFill>
          <a:ln w="8890">
            <a:solidFill>
              <a:srgbClr val="D4DDE7"/>
            </a:solidFill>
            <a:prstDash val="solid"/>
          </a:ln>
        </p:spPr>
      </p:sp>
      <p:sp>
        <p:nvSpPr>
          <p:cNvPr id="19" name="diagram"/>
          <p:cNvSpPr txBox="1"/>
          <p:nvPr/>
        </p:nvSpPr>
        <p:spPr>
          <a:xfrm>
            <a:off x="9139428" y="1993392"/>
            <a:ext cx="2340864" cy="356616"/>
          </a:xfrm>
          <a:prstGeom prst="rect">
            <a:avLst/>
          </a:prstGeom>
          <a:noFill/>
          <a:ln/>
        </p:spPr>
        <p:txBody>
          <a:bodyPr wrap="square" lIns="0" tIns="0" rIns="0" bIns="0" rtlCol="0" anchor="ctr"/>
          <a:lstStyle/>
          <a:p>
            <a:pPr indent="0" marL="0">
              <a:buNone/>
            </a:pPr>
            <a:r>
              <a:rPr lang="en-US" sz="1700" b="1" dirty="0">
                <a:solidFill>
                  <a:srgbClr val="0969DA"/>
                </a:solidFill>
                <a:latin typeface="Segoe UI" pitchFamily="34" charset="0"/>
                <a:ea typeface="Segoe UI" pitchFamily="34" charset="-122"/>
                <a:cs typeface="Segoe UI" pitchFamily="34" charset="-120"/>
              </a:rPr>
              <a:t>M365 Agents Toolkit</a:t>
            </a:r>
            <a:endParaRPr lang="en-US" sz="1700" dirty="0"/>
          </a:p>
        </p:txBody>
      </p:sp>
      <p:sp>
        <p:nvSpPr>
          <p:cNvPr id="20" name="diagram"/>
          <p:cNvSpPr txBox="1"/>
          <p:nvPr/>
        </p:nvSpPr>
        <p:spPr>
          <a:xfrm>
            <a:off x="9139428" y="2514600"/>
            <a:ext cx="2340864" cy="329184"/>
          </a:xfrm>
          <a:prstGeom prst="rect">
            <a:avLst/>
          </a:prstGeom>
          <a:noFill/>
          <a:ln/>
        </p:spPr>
        <p:txBody>
          <a:bodyPr wrap="square" lIns="0" tIns="0" rIns="0" bIns="0" rtlCol="0" anchor="ctr"/>
          <a:lstStyle/>
          <a:p>
            <a:pPr indent="0" marL="0">
              <a:buNone/>
            </a:pPr>
            <a:r>
              <a:rPr lang="en-US" sz="1550" dirty="0">
                <a:solidFill>
                  <a:srgbClr val="526174"/>
                </a:solidFill>
                <a:latin typeface="Segoe UI" pitchFamily="34" charset="0"/>
                <a:ea typeface="Segoe UI" pitchFamily="34" charset="-122"/>
                <a:cs typeface="Segoe UI" pitchFamily="34" charset="-120"/>
              </a:rPr>
              <a:t>Later build / evaluation</a:t>
            </a:r>
            <a:endParaRPr lang="en-US" sz="1550" dirty="0"/>
          </a:p>
        </p:txBody>
      </p:sp>
      <p:sp>
        <p:nvSpPr>
          <p:cNvPr id="21" name="layout-panel"/>
          <p:cNvSpPr/>
          <p:nvPr/>
        </p:nvSpPr>
        <p:spPr>
          <a:xfrm>
            <a:off x="548640" y="3364992"/>
            <a:ext cx="5522976" cy="2048256"/>
          </a:xfrm>
          <a:prstGeom prst="roundRect">
            <a:avLst>
              <a:gd name="adj" fmla="val 5357"/>
            </a:avLst>
          </a:prstGeom>
          <a:solidFill>
            <a:srgbClr val="FFFFFF"/>
          </a:solidFill>
          <a:ln w="8890">
            <a:solidFill>
              <a:srgbClr val="D4DDE7"/>
            </a:solidFill>
            <a:prstDash val="solid"/>
          </a:ln>
        </p:spPr>
      </p:sp>
      <p:sp>
        <p:nvSpPr>
          <p:cNvPr id="22" name="content"/>
          <p:cNvSpPr txBox="1"/>
          <p:nvPr/>
        </p:nvSpPr>
        <p:spPr>
          <a:xfrm>
            <a:off x="749808" y="3547872"/>
            <a:ext cx="5120640" cy="411480"/>
          </a:xfrm>
          <a:prstGeom prst="rect">
            <a:avLst/>
          </a:prstGeom>
          <a:noFill/>
          <a:ln/>
        </p:spPr>
        <p:txBody>
          <a:bodyPr wrap="square" lIns="0" tIns="0" rIns="0" bIns="0" rtlCol="0" anchor="ctr"/>
          <a:lstStyle/>
          <a:p>
            <a:pPr indent="0" marL="0">
              <a:buNone/>
            </a:pPr>
            <a:r>
              <a:rPr lang="en-US" sz="2200" b="1" dirty="0">
                <a:solidFill>
                  <a:srgbClr val="14202B"/>
                </a:solidFill>
                <a:latin typeface="Segoe UI" pitchFamily="34" charset="0"/>
                <a:ea typeface="Segoe UI" pitchFamily="34" charset="-122"/>
                <a:cs typeface="Segoe UI" pitchFamily="34" charset="-120"/>
              </a:rPr>
              <a:t>Already demonstrated in the App</a:t>
            </a:r>
            <a:endParaRPr lang="en-US" sz="2200" dirty="0"/>
          </a:p>
        </p:txBody>
      </p:sp>
      <p:pic>
        <p:nvPicPr>
          <p:cNvPr id="23" name="authentic-evidence" descr="Authentic September rehearsal crop showing skill loading and the two completed read-only synthetic MCP tools.">    </p:cNvPr>
          <p:cNvPicPr>
            <a:picLocks noChangeAspect="1"/>
          </p:cNvPicPr>
          <p:nvPr/>
        </p:nvPicPr>
        <p:blipFill>
          <a:blip r:embed="rId1"/>
          <a:stretch>
            <a:fillRect/>
          </a:stretch>
        </p:blipFill>
        <p:spPr>
          <a:xfrm>
            <a:off x="786384" y="4161786"/>
            <a:ext cx="4956048" cy="838716"/>
          </a:xfrm>
          <a:prstGeom prst="rect">
            <a:avLst/>
          </a:prstGeom>
        </p:spPr>
      </p:pic>
      <p:sp>
        <p:nvSpPr>
          <p:cNvPr id="24" name="caption"/>
          <p:cNvSpPr txBox="1"/>
          <p:nvPr/>
        </p:nvSpPr>
        <p:spPr>
          <a:xfrm>
            <a:off x="795528" y="5074920"/>
            <a:ext cx="5029200" cy="182880"/>
          </a:xfrm>
          <a:prstGeom prst="rect">
            <a:avLst/>
          </a:prstGeom>
          <a:noFill/>
          <a:ln/>
        </p:spPr>
        <p:txBody>
          <a:bodyPr wrap="square" lIns="0" tIns="0" rIns="0" bIns="0" rtlCol="0" anchor="ctr"/>
          <a:lstStyle/>
          <a:p>
            <a:pPr indent="0" marL="0">
              <a:buNone/>
            </a:pPr>
            <a:r>
              <a:rPr lang="en-US" sz="1200" dirty="0">
                <a:solidFill>
                  <a:srgbClr val="526174"/>
                </a:solidFill>
                <a:latin typeface="Segoe UI" pitchFamily="34" charset="0"/>
                <a:ea typeface="Segoe UI" pitchFamily="34" charset="-122"/>
                <a:cs typeface="Segoe UI" pitchFamily="34" charset="-120"/>
              </a:rPr>
              <a:t>Separate rehearsal: 2 tools / 4 synthetic sources.</a:t>
            </a:r>
            <a:endParaRPr lang="en-US" sz="1200" dirty="0"/>
          </a:p>
        </p:txBody>
      </p:sp>
      <p:sp>
        <p:nvSpPr>
          <p:cNvPr id="25" name="label"/>
          <p:cNvSpPr txBox="1"/>
          <p:nvPr/>
        </p:nvSpPr>
        <p:spPr>
          <a:xfrm>
            <a:off x="6419088" y="3502152"/>
            <a:ext cx="4892040" cy="320040"/>
          </a:xfrm>
          <a:prstGeom prst="rect">
            <a:avLst/>
          </a:prstGeom>
          <a:noFill/>
          <a:ln/>
        </p:spPr>
        <p:txBody>
          <a:bodyPr wrap="square" lIns="0" tIns="0" rIns="0" bIns="0" rtlCol="0" anchor="ctr"/>
          <a:lstStyle/>
          <a:p>
            <a:pPr indent="0" marL="0">
              <a:buNone/>
            </a:pPr>
            <a:r>
              <a:rPr lang="en-US" sz="1500" b="1" dirty="0">
                <a:solidFill>
                  <a:srgbClr val="8250DF"/>
                </a:solidFill>
                <a:latin typeface="Segoe UI" pitchFamily="34" charset="0"/>
                <a:ea typeface="Segoe UI" pitchFamily="34" charset="-122"/>
                <a:cs typeface="Segoe UI" pitchFamily="34" charset="-120"/>
              </a:rPr>
              <a:t>EXTEND TO APPROVED CONTEXT</a:t>
            </a:r>
            <a:endParaRPr lang="en-US" sz="1500" dirty="0"/>
          </a:p>
        </p:txBody>
      </p:sp>
      <p:sp>
        <p:nvSpPr>
          <p:cNvPr id="26" name="content"/>
          <p:cNvSpPr txBox="1"/>
          <p:nvPr/>
        </p:nvSpPr>
        <p:spPr>
          <a:xfrm>
            <a:off x="6419088" y="3977640"/>
            <a:ext cx="4892040" cy="786384"/>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Microsoft 365, Azure DevOps and</a:t>
            </a:r>
            <a:endParaRPr lang="en-US" sz="2300" dirty="0"/>
          </a:p>
          <a:p>
            <a:pPr indent="0" marL="0">
              <a:buNone/>
            </a:pPr>
            <a:r>
              <a:rPr lang="en-US" sz="2300" b="1" dirty="0">
                <a:solidFill>
                  <a:srgbClr val="14202B"/>
                </a:solidFill>
                <a:latin typeface="Segoe UI" pitchFamily="34" charset="0"/>
                <a:ea typeface="Segoe UI" pitchFamily="34" charset="-122"/>
                <a:cs typeface="Segoe UI" pitchFamily="34" charset="-120"/>
              </a:rPr>
              <a:t>customer-specific MCP adapters.</a:t>
            </a:r>
            <a:endParaRPr lang="en-US" sz="2300" dirty="0"/>
          </a:p>
        </p:txBody>
      </p:sp>
      <p:sp>
        <p:nvSpPr>
          <p:cNvPr id="27" name="caption"/>
          <p:cNvSpPr txBox="1"/>
          <p:nvPr/>
        </p:nvSpPr>
        <p:spPr>
          <a:xfrm>
            <a:off x="6419088" y="4901184"/>
            <a:ext cx="4800600" cy="557784"/>
          </a:xfrm>
          <a:prstGeom prst="rect">
            <a:avLst/>
          </a:prstGeom>
          <a:noFill/>
          <a:ln/>
        </p:spPr>
        <p:txBody>
          <a:bodyPr wrap="square" lIns="0" tIns="0" rIns="0" bIns="0" rtlCol="0" anchor="ctr"/>
          <a:lstStyle/>
          <a:p>
            <a:pPr indent="0" marL="0">
              <a:buNone/>
            </a:pPr>
            <a:r>
              <a:rPr lang="en-US" sz="1550" dirty="0">
                <a:solidFill>
                  <a:srgbClr val="526174"/>
                </a:solidFill>
                <a:latin typeface="Segoe UI" pitchFamily="34" charset="0"/>
                <a:ea typeface="Segoe UI" pitchFamily="34" charset="-122"/>
                <a:cs typeface="Segoe UI" pitchFamily="34" charset="-120"/>
              </a:rPr>
              <a:t>WorkIQ: preview; tenant consent required.</a:t>
            </a:r>
            <a:endParaRPr lang="en-US" sz="1550" dirty="0"/>
          </a:p>
          <a:p>
            <a:pPr indent="0" marL="0">
              <a:buNone/>
            </a:pPr>
            <a:r>
              <a:rPr lang="en-US" sz="1550" dirty="0">
                <a:solidFill>
                  <a:srgbClr val="526174"/>
                </a:solidFill>
                <a:latin typeface="Segoe UI" pitchFamily="34" charset="0"/>
                <a:ea typeface="Segoe UI" pitchFamily="34" charset="-122"/>
                <a:cs typeface="Segoe UI" pitchFamily="34" charset="-120"/>
              </a:rPr>
              <a:t>Proposed authorized reads only; WorkIQ can write.</a:t>
            </a:r>
            <a:endParaRPr lang="en-US" sz="1550" dirty="0"/>
          </a:p>
        </p:txBody>
      </p:sp>
      <p:sp>
        <p:nvSpPr>
          <p:cNvPr id="28"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9"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Connect approved context to the workflow; do not make the requester reconstruct it.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Package your best way of working.</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S02, S05, S06, S17, M02, M07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6</a:t>
            </a:r>
            <a:endParaRPr lang="en-US" sz="1000" dirty="0"/>
          </a:p>
        </p:txBody>
      </p:sp>
      <p:sp>
        <p:nvSpPr>
          <p:cNvPr id="9" name="layout-panel"/>
          <p:cNvSpPr/>
          <p:nvPr/>
        </p:nvSpPr>
        <p:spPr>
          <a:xfrm>
            <a:off x="548640" y="1828800"/>
            <a:ext cx="3566160" cy="2432304"/>
          </a:xfrm>
          <a:prstGeom prst="roundRect">
            <a:avLst>
              <a:gd name="adj" fmla="val 4511"/>
            </a:avLst>
          </a:prstGeom>
          <a:solidFill>
            <a:srgbClr val="FFFFFF"/>
          </a:solidFill>
          <a:ln w="8890">
            <a:solidFill>
              <a:srgbClr val="D4DDE7"/>
            </a:solidFill>
            <a:prstDash val="solid"/>
          </a:ln>
        </p:spPr>
      </p:sp>
      <p:sp>
        <p:nvSpPr>
          <p:cNvPr id="10" name="layout-panel"/>
          <p:cNvSpPr/>
          <p:nvPr/>
        </p:nvSpPr>
        <p:spPr>
          <a:xfrm>
            <a:off x="731520" y="2029968"/>
            <a:ext cx="329184" cy="50292"/>
          </a:xfrm>
          <a:prstGeom prst="rect">
            <a:avLst>
              <a:gd name="adj" fmla="val 218182"/>
            </a:avLst>
          </a:prstGeom>
          <a:solidFill>
            <a:srgbClr val="0969DA"/>
          </a:solidFill>
          <a:ln w="8890">
            <a:solidFill>
              <a:srgbClr val="0969DA"/>
            </a:solidFill>
            <a:prstDash val="solid"/>
          </a:ln>
        </p:spPr>
      </p:sp>
      <p:sp>
        <p:nvSpPr>
          <p:cNvPr id="11" name="content"/>
          <p:cNvSpPr txBox="1"/>
          <p:nvPr/>
        </p:nvSpPr>
        <p:spPr>
          <a:xfrm>
            <a:off x="731520" y="2212848"/>
            <a:ext cx="32004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Instructions</a:t>
            </a:r>
            <a:endParaRPr lang="en-US" sz="2300" dirty="0"/>
          </a:p>
        </p:txBody>
      </p:sp>
      <p:sp>
        <p:nvSpPr>
          <p:cNvPr id="12" name="content"/>
          <p:cNvSpPr txBox="1"/>
          <p:nvPr/>
        </p:nvSpPr>
        <p:spPr>
          <a:xfrm>
            <a:off x="731520" y="2834640"/>
            <a:ext cx="3200400" cy="1243584"/>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Set the standards that travel with a repository or team.</a:t>
            </a:r>
            <a:endParaRPr lang="en-US" sz="2000" dirty="0"/>
          </a:p>
        </p:txBody>
      </p:sp>
      <p:sp>
        <p:nvSpPr>
          <p:cNvPr id="13" name="layout-panel"/>
          <p:cNvSpPr/>
          <p:nvPr/>
        </p:nvSpPr>
        <p:spPr>
          <a:xfrm>
            <a:off x="4315968" y="1828800"/>
            <a:ext cx="3566160" cy="2432304"/>
          </a:xfrm>
          <a:prstGeom prst="roundRect">
            <a:avLst>
              <a:gd name="adj" fmla="val 4511"/>
            </a:avLst>
          </a:prstGeom>
          <a:solidFill>
            <a:srgbClr val="FFFFFF"/>
          </a:solidFill>
          <a:ln w="8890">
            <a:solidFill>
              <a:srgbClr val="D4DDE7"/>
            </a:solidFill>
            <a:prstDash val="solid"/>
          </a:ln>
        </p:spPr>
      </p:sp>
      <p:sp>
        <p:nvSpPr>
          <p:cNvPr id="14" name="layout-panel"/>
          <p:cNvSpPr/>
          <p:nvPr/>
        </p:nvSpPr>
        <p:spPr>
          <a:xfrm>
            <a:off x="4498848" y="2029968"/>
            <a:ext cx="329184" cy="50292"/>
          </a:xfrm>
          <a:prstGeom prst="rect">
            <a:avLst>
              <a:gd name="adj" fmla="val 218182"/>
            </a:avLst>
          </a:prstGeom>
          <a:solidFill>
            <a:srgbClr val="1A7F37"/>
          </a:solidFill>
          <a:ln w="8890">
            <a:solidFill>
              <a:srgbClr val="1A7F37"/>
            </a:solidFill>
            <a:prstDash val="solid"/>
          </a:ln>
        </p:spPr>
      </p:sp>
      <p:sp>
        <p:nvSpPr>
          <p:cNvPr id="15" name="content"/>
          <p:cNvSpPr txBox="1"/>
          <p:nvPr/>
        </p:nvSpPr>
        <p:spPr>
          <a:xfrm>
            <a:off x="4498848" y="2212848"/>
            <a:ext cx="32004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Skills</a:t>
            </a:r>
            <a:endParaRPr lang="en-US" sz="2300" dirty="0"/>
          </a:p>
        </p:txBody>
      </p:sp>
      <p:sp>
        <p:nvSpPr>
          <p:cNvPr id="16" name="content"/>
          <p:cNvSpPr txBox="1"/>
          <p:nvPr/>
        </p:nvSpPr>
        <p:spPr>
          <a:xfrm>
            <a:off x="4498848" y="2834640"/>
            <a:ext cx="3200400" cy="1243584"/>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Make a good procedure reusable, discoverable and repeatable.</a:t>
            </a:r>
            <a:endParaRPr lang="en-US" sz="2000" dirty="0"/>
          </a:p>
        </p:txBody>
      </p:sp>
      <p:sp>
        <p:nvSpPr>
          <p:cNvPr id="17" name="layout-panel"/>
          <p:cNvSpPr/>
          <p:nvPr/>
        </p:nvSpPr>
        <p:spPr>
          <a:xfrm>
            <a:off x="8083296" y="1828800"/>
            <a:ext cx="3557016" cy="2432304"/>
          </a:xfrm>
          <a:prstGeom prst="roundRect">
            <a:avLst>
              <a:gd name="adj" fmla="val 4511"/>
            </a:avLst>
          </a:prstGeom>
          <a:solidFill>
            <a:srgbClr val="FFFFFF"/>
          </a:solidFill>
          <a:ln w="8890">
            <a:solidFill>
              <a:srgbClr val="D4DDE7"/>
            </a:solidFill>
            <a:prstDash val="solid"/>
          </a:ln>
        </p:spPr>
      </p:sp>
      <p:sp>
        <p:nvSpPr>
          <p:cNvPr id="18" name="layout-panel"/>
          <p:cNvSpPr/>
          <p:nvPr/>
        </p:nvSpPr>
        <p:spPr>
          <a:xfrm>
            <a:off x="8266176" y="2029968"/>
            <a:ext cx="329184" cy="50292"/>
          </a:xfrm>
          <a:prstGeom prst="rect">
            <a:avLst>
              <a:gd name="adj" fmla="val 218182"/>
            </a:avLst>
          </a:prstGeom>
          <a:solidFill>
            <a:srgbClr val="8250DF"/>
          </a:solidFill>
          <a:ln w="8890">
            <a:solidFill>
              <a:srgbClr val="8250DF"/>
            </a:solidFill>
            <a:prstDash val="solid"/>
          </a:ln>
        </p:spPr>
      </p:sp>
      <p:sp>
        <p:nvSpPr>
          <p:cNvPr id="19" name="content"/>
          <p:cNvSpPr txBox="1"/>
          <p:nvPr/>
        </p:nvSpPr>
        <p:spPr>
          <a:xfrm>
            <a:off x="8266176" y="2212848"/>
            <a:ext cx="3191256"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Plugins</a:t>
            </a:r>
            <a:endParaRPr lang="en-US" sz="2300" dirty="0"/>
          </a:p>
        </p:txBody>
      </p:sp>
      <p:sp>
        <p:nvSpPr>
          <p:cNvPr id="20" name="content"/>
          <p:cNvSpPr txBox="1"/>
          <p:nvPr/>
        </p:nvSpPr>
        <p:spPr>
          <a:xfrm>
            <a:off x="8266176" y="2834640"/>
            <a:ext cx="3191256" cy="1243584"/>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Bundle expertise and integrations for approved distribution.</a:t>
            </a:r>
            <a:endParaRPr lang="en-US" sz="2000" dirty="0"/>
          </a:p>
        </p:txBody>
      </p:sp>
      <p:sp>
        <p:nvSpPr>
          <p:cNvPr id="21" name="label"/>
          <p:cNvSpPr txBox="1"/>
          <p:nvPr/>
        </p:nvSpPr>
        <p:spPr>
          <a:xfrm>
            <a:off x="749808" y="4590288"/>
            <a:ext cx="2084832" cy="265176"/>
          </a:xfrm>
          <a:prstGeom prst="rect">
            <a:avLst/>
          </a:prstGeom>
          <a:noFill/>
          <a:ln/>
        </p:spPr>
        <p:txBody>
          <a:bodyPr wrap="square" lIns="0" tIns="0" rIns="0" bIns="0" rtlCol="0" anchor="ctr"/>
          <a:lstStyle/>
          <a:p>
            <a:pPr indent="0" marL="0">
              <a:buNone/>
            </a:pPr>
            <a:r>
              <a:rPr lang="en-US" sz="1400" b="1" dirty="0">
                <a:solidFill>
                  <a:srgbClr val="0969DA"/>
                </a:solidFill>
                <a:latin typeface="Segoe UI" pitchFamily="34" charset="0"/>
                <a:ea typeface="Segoe UI" pitchFamily="34" charset="-122"/>
                <a:cs typeface="Segoe UI" pitchFamily="34" charset="-120"/>
              </a:rPr>
              <a:t>DISCOVER</a:t>
            </a:r>
            <a:endParaRPr lang="en-US" sz="1400" dirty="0"/>
          </a:p>
        </p:txBody>
      </p:sp>
      <p:sp>
        <p:nvSpPr>
          <p:cNvPr id="22" name="content"/>
          <p:cNvSpPr txBox="1"/>
          <p:nvPr/>
        </p:nvSpPr>
        <p:spPr>
          <a:xfrm>
            <a:off x="749808" y="5056632"/>
            <a:ext cx="4937760" cy="374904"/>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Marketplaces + Agent Finder</a:t>
            </a:r>
            <a:endParaRPr lang="en-US" sz="2100" dirty="0"/>
          </a:p>
        </p:txBody>
      </p:sp>
      <p:sp>
        <p:nvSpPr>
          <p:cNvPr id="23" name="label"/>
          <p:cNvSpPr txBox="1"/>
          <p:nvPr/>
        </p:nvSpPr>
        <p:spPr>
          <a:xfrm>
            <a:off x="6053328" y="4590288"/>
            <a:ext cx="2084832" cy="265176"/>
          </a:xfrm>
          <a:prstGeom prst="rect">
            <a:avLst/>
          </a:prstGeom>
          <a:noFill/>
          <a:ln/>
        </p:spPr>
        <p:txBody>
          <a:bodyPr wrap="square" lIns="0" tIns="0" rIns="0" bIns="0" rtlCol="0" anchor="ctr"/>
          <a:lstStyle/>
          <a:p>
            <a:pPr indent="0" marL="0">
              <a:buNone/>
            </a:pPr>
            <a:r>
              <a:rPr lang="en-US" sz="1400" b="1" dirty="0">
                <a:solidFill>
                  <a:srgbClr val="8250DF"/>
                </a:solidFill>
                <a:latin typeface="Segoe UI" pitchFamily="34" charset="0"/>
                <a:ea typeface="Segoe UI" pitchFamily="34" charset="-122"/>
                <a:cs typeface="Segoe UI" pitchFamily="34" charset="-120"/>
              </a:rPr>
              <a:t>EXTEND</a:t>
            </a:r>
            <a:endParaRPr lang="en-US" sz="1400" dirty="0"/>
          </a:p>
        </p:txBody>
      </p:sp>
      <p:sp>
        <p:nvSpPr>
          <p:cNvPr id="24" name="content"/>
          <p:cNvSpPr txBox="1"/>
          <p:nvPr/>
        </p:nvSpPr>
        <p:spPr>
          <a:xfrm>
            <a:off x="6053328" y="5056632"/>
            <a:ext cx="5404104" cy="374904"/>
          </a:xfrm>
          <a:prstGeom prst="rect">
            <a:avLst/>
          </a:prstGeom>
          <a:noFill/>
          <a:ln/>
        </p:spPr>
        <p:txBody>
          <a:bodyPr wrap="square" lIns="0" tIns="0" rIns="0" bIns="0" rtlCol="0" anchor="ctr"/>
          <a:lstStyle/>
          <a:p>
            <a:pPr indent="0" marL="0">
              <a:buNone/>
            </a:pPr>
            <a:r>
              <a:rPr lang="en-US" sz="2000" b="1" dirty="0">
                <a:solidFill>
                  <a:srgbClr val="14202B"/>
                </a:solidFill>
                <a:latin typeface="Segoe UI" pitchFamily="34" charset="0"/>
                <a:ea typeface="Segoe UI" pitchFamily="34" charset="-122"/>
                <a:cs typeface="Segoe UI" pitchFamily="34" charset="-120"/>
              </a:rPr>
              <a:t>Agents + hooks + MCP + LSP + canvases</a:t>
            </a:r>
            <a:endParaRPr lang="en-US" sz="2000" dirty="0"/>
          </a:p>
        </p:txBody>
      </p:sp>
      <p:sp>
        <p:nvSpPr>
          <p:cNvPr id="25"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6"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Demonstrated skills today. An approved MOSAIC plugin could simplify reuse.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Add specialists. Keep one conversation.</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S03, S04, S05, S18, M04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7</a:t>
            </a:r>
            <a:endParaRPr lang="en-US" sz="1000" dirty="0"/>
          </a:p>
        </p:txBody>
      </p:sp>
      <p:sp>
        <p:nvSpPr>
          <p:cNvPr id="9" name="layout-panel"/>
          <p:cNvSpPr/>
          <p:nvPr/>
        </p:nvSpPr>
        <p:spPr>
          <a:xfrm>
            <a:off x="594360" y="1801368"/>
            <a:ext cx="5047488" cy="292608"/>
          </a:xfrm>
          <a:prstGeom prst="roundRect">
            <a:avLst>
              <a:gd name="adj" fmla="val 37500"/>
            </a:avLst>
          </a:prstGeom>
          <a:solidFill>
            <a:srgbClr val="0969DA"/>
          </a:solidFill>
          <a:ln w="8890">
            <a:solidFill>
              <a:srgbClr val="0969DA"/>
            </a:solidFill>
            <a:prstDash val="solid"/>
          </a:ln>
        </p:spPr>
      </p:sp>
      <p:sp>
        <p:nvSpPr>
          <p:cNvPr id="10" name="label"/>
          <p:cNvSpPr txBox="1"/>
          <p:nvPr/>
        </p:nvSpPr>
        <p:spPr>
          <a:xfrm>
            <a:off x="667512" y="1824228"/>
            <a:ext cx="490118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FIVE CONFIGURED MOSAIC PROFILES</a:t>
            </a:r>
            <a:endParaRPr lang="en-US" sz="1200" dirty="0"/>
          </a:p>
        </p:txBody>
      </p:sp>
      <p:sp>
        <p:nvSpPr>
          <p:cNvPr id="11" name="layout-panel"/>
          <p:cNvSpPr/>
          <p:nvPr/>
        </p:nvSpPr>
        <p:spPr>
          <a:xfrm>
            <a:off x="594360" y="2423160"/>
            <a:ext cx="3291840" cy="2359152"/>
          </a:xfrm>
          <a:prstGeom prst="roundRect">
            <a:avLst>
              <a:gd name="adj" fmla="val 4651"/>
            </a:avLst>
          </a:prstGeom>
          <a:solidFill>
            <a:srgbClr val="0D1117"/>
          </a:solidFill>
          <a:ln w="8890">
            <a:solidFill>
              <a:srgbClr val="0D1117"/>
            </a:solidFill>
            <a:prstDash val="solid"/>
          </a:ln>
        </p:spPr>
      </p:sp>
      <p:sp>
        <p:nvSpPr>
          <p:cNvPr id="12" name="content"/>
          <p:cNvSpPr txBox="1"/>
          <p:nvPr/>
        </p:nvSpPr>
        <p:spPr>
          <a:xfrm>
            <a:off x="832104" y="2761488"/>
            <a:ext cx="2816352" cy="923544"/>
          </a:xfrm>
          <a:prstGeom prst="rect">
            <a:avLst/>
          </a:prstGeom>
          <a:noFill/>
          <a:ln/>
        </p:spPr>
        <p:txBody>
          <a:bodyPr wrap="square" lIns="0" tIns="0" rIns="0" bIns="0" rtlCol="0" anchor="ctr"/>
          <a:lstStyle/>
          <a:p>
            <a:pPr indent="0" marL="0">
              <a:buNone/>
            </a:pPr>
            <a:r>
              <a:rPr lang="en-US" sz="3000" b="1" dirty="0">
                <a:solidFill>
                  <a:srgbClr val="FFFFFF"/>
                </a:solidFill>
                <a:latin typeface="Bahnschrift" pitchFamily="34" charset="0"/>
                <a:ea typeface="Bahnschrift" pitchFamily="34" charset="-122"/>
                <a:cs typeface="Bahnschrift" pitchFamily="34" charset="-120"/>
              </a:rPr>
              <a:t>MOSAIC</a:t>
            </a:r>
            <a:endParaRPr lang="en-US" sz="3000" dirty="0"/>
          </a:p>
          <a:p>
            <a:pPr indent="0" marL="0">
              <a:buNone/>
            </a:pPr>
            <a:r>
              <a:rPr lang="en-US" sz="3000" b="1" dirty="0">
                <a:solidFill>
                  <a:srgbClr val="FFFFFF"/>
                </a:solidFill>
                <a:latin typeface="Bahnschrift" pitchFamily="34" charset="0"/>
                <a:ea typeface="Bahnschrift" pitchFamily="34" charset="-122"/>
                <a:cs typeface="Bahnschrift" pitchFamily="34" charset="-120"/>
              </a:rPr>
              <a:t>Orchestrator</a:t>
            </a:r>
            <a:endParaRPr lang="en-US" sz="3000" dirty="0"/>
          </a:p>
        </p:txBody>
      </p:sp>
      <p:sp>
        <p:nvSpPr>
          <p:cNvPr id="13" name="diagram"/>
          <p:cNvSpPr txBox="1"/>
          <p:nvPr/>
        </p:nvSpPr>
        <p:spPr>
          <a:xfrm>
            <a:off x="832104" y="4014216"/>
            <a:ext cx="2816352" cy="594360"/>
          </a:xfrm>
          <a:prstGeom prst="rect">
            <a:avLst/>
          </a:prstGeom>
          <a:noFill/>
          <a:ln/>
        </p:spPr>
        <p:txBody>
          <a:bodyPr wrap="square" lIns="0" tIns="0" rIns="0" bIns="0" rtlCol="0" anchor="ctr"/>
          <a:lstStyle/>
          <a:p>
            <a:pPr indent="0" marL="0">
              <a:buNone/>
            </a:pPr>
            <a:r>
              <a:rPr lang="en-US" sz="1700" dirty="0">
                <a:solidFill>
                  <a:srgbClr val="79C0FF"/>
                </a:solidFill>
                <a:latin typeface="Segoe UI" pitchFamily="34" charset="0"/>
                <a:ea typeface="Segoe UI" pitchFamily="34" charset="-122"/>
                <a:cs typeface="Segoe UI" pitchFamily="34" charset="-120"/>
              </a:rPr>
              <a:t>One conversation.</a:t>
            </a:r>
            <a:endParaRPr lang="en-US" sz="1700" dirty="0"/>
          </a:p>
          <a:p>
            <a:pPr indent="0" marL="0">
              <a:buNone/>
            </a:pPr>
            <a:r>
              <a:rPr lang="en-US" sz="1700" dirty="0">
                <a:solidFill>
                  <a:srgbClr val="79C0FF"/>
                </a:solidFill>
                <a:latin typeface="Segoe UI" pitchFamily="34" charset="0"/>
                <a:ea typeface="Segoe UI" pitchFamily="34" charset="-122"/>
                <a:cs typeface="Segoe UI" pitchFamily="34" charset="-120"/>
              </a:rPr>
              <a:t>Clear accountability.</a:t>
            </a:r>
            <a:endParaRPr lang="en-US" sz="1700" dirty="0"/>
          </a:p>
        </p:txBody>
      </p:sp>
      <p:sp>
        <p:nvSpPr>
          <p:cNvPr id="14" name="layout-panel"/>
          <p:cNvSpPr/>
          <p:nvPr/>
        </p:nvSpPr>
        <p:spPr>
          <a:xfrm>
            <a:off x="4206240" y="2404872"/>
            <a:ext cx="3511296" cy="1078992"/>
          </a:xfrm>
          <a:prstGeom prst="roundRect">
            <a:avLst>
              <a:gd name="adj" fmla="val 10169"/>
            </a:avLst>
          </a:prstGeom>
          <a:solidFill>
            <a:srgbClr val="FFFFFF"/>
          </a:solidFill>
          <a:ln w="8890">
            <a:solidFill>
              <a:srgbClr val="D4DDE7"/>
            </a:solidFill>
            <a:prstDash val="solid"/>
          </a:ln>
        </p:spPr>
      </p:sp>
      <p:sp>
        <p:nvSpPr>
          <p:cNvPr id="15" name="content"/>
          <p:cNvSpPr txBox="1"/>
          <p:nvPr/>
        </p:nvSpPr>
        <p:spPr>
          <a:xfrm>
            <a:off x="4389120" y="2551176"/>
            <a:ext cx="3145536" cy="320040"/>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Intake Analyst</a:t>
            </a:r>
            <a:endParaRPr lang="en-US" sz="2100" dirty="0"/>
          </a:p>
        </p:txBody>
      </p:sp>
      <p:sp>
        <p:nvSpPr>
          <p:cNvPr id="16" name="diagram"/>
          <p:cNvSpPr txBox="1"/>
          <p:nvPr/>
        </p:nvSpPr>
        <p:spPr>
          <a:xfrm>
            <a:off x="4389120" y="3054096"/>
            <a:ext cx="3145536" cy="246888"/>
          </a:xfrm>
          <a:prstGeom prst="rect">
            <a:avLst/>
          </a:prstGeom>
          <a:noFill/>
          <a:ln/>
        </p:spPr>
        <p:txBody>
          <a:bodyPr wrap="square" lIns="0" tIns="0" rIns="0" bIns="0" rtlCol="0" anchor="ctr"/>
          <a:lstStyle/>
          <a:p>
            <a:pPr indent="0" marL="0">
              <a:buNone/>
            </a:pPr>
            <a:r>
              <a:rPr lang="en-US" sz="1600" dirty="0">
                <a:solidFill>
                  <a:srgbClr val="526174"/>
                </a:solidFill>
                <a:latin typeface="Segoe UI" pitchFamily="34" charset="0"/>
                <a:ea typeface="Segoe UI" pitchFamily="34" charset="-122"/>
                <a:cs typeface="Segoe UI" pitchFamily="34" charset="-120"/>
              </a:rPr>
              <a:t>Need + constraints</a:t>
            </a:r>
            <a:endParaRPr lang="en-US" sz="1600" dirty="0"/>
          </a:p>
        </p:txBody>
      </p:sp>
      <p:sp>
        <p:nvSpPr>
          <p:cNvPr id="17" name="layout-panel"/>
          <p:cNvSpPr/>
          <p:nvPr/>
        </p:nvSpPr>
        <p:spPr>
          <a:xfrm>
            <a:off x="7936992" y="2404872"/>
            <a:ext cx="3511296" cy="1078992"/>
          </a:xfrm>
          <a:prstGeom prst="roundRect">
            <a:avLst>
              <a:gd name="adj" fmla="val 10169"/>
            </a:avLst>
          </a:prstGeom>
          <a:solidFill>
            <a:srgbClr val="FFFFFF"/>
          </a:solidFill>
          <a:ln w="8890">
            <a:solidFill>
              <a:srgbClr val="D4DDE7"/>
            </a:solidFill>
            <a:prstDash val="solid"/>
          </a:ln>
        </p:spPr>
      </p:sp>
      <p:sp>
        <p:nvSpPr>
          <p:cNvPr id="18" name="content"/>
          <p:cNvSpPr txBox="1"/>
          <p:nvPr/>
        </p:nvSpPr>
        <p:spPr>
          <a:xfrm>
            <a:off x="8119872" y="2551176"/>
            <a:ext cx="3145536" cy="320040"/>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Evidence Curator</a:t>
            </a:r>
            <a:endParaRPr lang="en-US" sz="2100" dirty="0"/>
          </a:p>
        </p:txBody>
      </p:sp>
      <p:sp>
        <p:nvSpPr>
          <p:cNvPr id="19" name="diagram"/>
          <p:cNvSpPr txBox="1"/>
          <p:nvPr/>
        </p:nvSpPr>
        <p:spPr>
          <a:xfrm>
            <a:off x="8119872" y="3054096"/>
            <a:ext cx="3145536" cy="246888"/>
          </a:xfrm>
          <a:prstGeom prst="rect">
            <a:avLst/>
          </a:prstGeom>
          <a:noFill/>
          <a:ln/>
        </p:spPr>
        <p:txBody>
          <a:bodyPr wrap="square" lIns="0" tIns="0" rIns="0" bIns="0" rtlCol="0" anchor="ctr"/>
          <a:lstStyle/>
          <a:p>
            <a:pPr indent="0" marL="0">
              <a:buNone/>
            </a:pPr>
            <a:r>
              <a:rPr lang="en-US" sz="1600" dirty="0">
                <a:solidFill>
                  <a:srgbClr val="526174"/>
                </a:solidFill>
                <a:latin typeface="Segoe UI" pitchFamily="34" charset="0"/>
                <a:ea typeface="Segoe UI" pitchFamily="34" charset="-122"/>
                <a:cs typeface="Segoe UI" pitchFamily="34" charset="-120"/>
              </a:rPr>
              <a:t>Approved sources</a:t>
            </a:r>
            <a:endParaRPr lang="en-US" sz="1600" dirty="0"/>
          </a:p>
        </p:txBody>
      </p:sp>
      <p:sp>
        <p:nvSpPr>
          <p:cNvPr id="20" name="layout-panel"/>
          <p:cNvSpPr/>
          <p:nvPr/>
        </p:nvSpPr>
        <p:spPr>
          <a:xfrm>
            <a:off x="4206240" y="3730752"/>
            <a:ext cx="3511296" cy="1078992"/>
          </a:xfrm>
          <a:prstGeom prst="roundRect">
            <a:avLst>
              <a:gd name="adj" fmla="val 10169"/>
            </a:avLst>
          </a:prstGeom>
          <a:solidFill>
            <a:srgbClr val="FFFFFF"/>
          </a:solidFill>
          <a:ln w="8890">
            <a:solidFill>
              <a:srgbClr val="D4DDE7"/>
            </a:solidFill>
            <a:prstDash val="solid"/>
          </a:ln>
        </p:spPr>
      </p:sp>
      <p:sp>
        <p:nvSpPr>
          <p:cNvPr id="21" name="content"/>
          <p:cNvSpPr txBox="1"/>
          <p:nvPr/>
        </p:nvSpPr>
        <p:spPr>
          <a:xfrm>
            <a:off x="4389120" y="3877056"/>
            <a:ext cx="3145536" cy="320040"/>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Solution Architect</a:t>
            </a:r>
            <a:endParaRPr lang="en-US" sz="2100" dirty="0"/>
          </a:p>
        </p:txBody>
      </p:sp>
      <p:sp>
        <p:nvSpPr>
          <p:cNvPr id="22" name="diagram"/>
          <p:cNvSpPr txBox="1"/>
          <p:nvPr/>
        </p:nvSpPr>
        <p:spPr>
          <a:xfrm>
            <a:off x="4389120" y="4379976"/>
            <a:ext cx="3145536" cy="246888"/>
          </a:xfrm>
          <a:prstGeom prst="rect">
            <a:avLst/>
          </a:prstGeom>
          <a:noFill/>
          <a:ln/>
        </p:spPr>
        <p:txBody>
          <a:bodyPr wrap="square" lIns="0" tIns="0" rIns="0" bIns="0" rtlCol="0" anchor="ctr"/>
          <a:lstStyle/>
          <a:p>
            <a:pPr indent="0" marL="0">
              <a:buNone/>
            </a:pPr>
            <a:r>
              <a:rPr lang="en-US" sz="1600" dirty="0">
                <a:solidFill>
                  <a:srgbClr val="526174"/>
                </a:solidFill>
                <a:latin typeface="Segoe UI" pitchFamily="34" charset="0"/>
                <a:ea typeface="Segoe UI" pitchFamily="34" charset="-122"/>
                <a:cs typeface="Segoe UI" pitchFamily="34" charset="-120"/>
              </a:rPr>
              <a:t>Three alternatives</a:t>
            </a:r>
            <a:endParaRPr lang="en-US" sz="1600" dirty="0"/>
          </a:p>
        </p:txBody>
      </p:sp>
      <p:sp>
        <p:nvSpPr>
          <p:cNvPr id="23" name="layout-panel"/>
          <p:cNvSpPr/>
          <p:nvPr/>
        </p:nvSpPr>
        <p:spPr>
          <a:xfrm>
            <a:off x="7936992" y="3730752"/>
            <a:ext cx="3511296" cy="1078992"/>
          </a:xfrm>
          <a:prstGeom prst="roundRect">
            <a:avLst>
              <a:gd name="adj" fmla="val 10169"/>
            </a:avLst>
          </a:prstGeom>
          <a:solidFill>
            <a:srgbClr val="FFFFFF"/>
          </a:solidFill>
          <a:ln w="8890">
            <a:solidFill>
              <a:srgbClr val="D4DDE7"/>
            </a:solidFill>
            <a:prstDash val="solid"/>
          </a:ln>
        </p:spPr>
      </p:sp>
      <p:sp>
        <p:nvSpPr>
          <p:cNvPr id="24" name="content"/>
          <p:cNvSpPr txBox="1"/>
          <p:nvPr/>
        </p:nvSpPr>
        <p:spPr>
          <a:xfrm>
            <a:off x="8119872" y="3877056"/>
            <a:ext cx="3145536" cy="320040"/>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Engagement Planner</a:t>
            </a:r>
            <a:endParaRPr lang="en-US" sz="2100" dirty="0"/>
          </a:p>
        </p:txBody>
      </p:sp>
      <p:sp>
        <p:nvSpPr>
          <p:cNvPr id="25" name="diagram"/>
          <p:cNvSpPr txBox="1"/>
          <p:nvPr/>
        </p:nvSpPr>
        <p:spPr>
          <a:xfrm>
            <a:off x="8119872" y="4379976"/>
            <a:ext cx="3145536" cy="246888"/>
          </a:xfrm>
          <a:prstGeom prst="rect">
            <a:avLst/>
          </a:prstGeom>
          <a:noFill/>
          <a:ln/>
        </p:spPr>
        <p:txBody>
          <a:bodyPr wrap="square" lIns="0" tIns="0" rIns="0" bIns="0" rtlCol="0" anchor="ctr"/>
          <a:lstStyle/>
          <a:p>
            <a:pPr indent="0" marL="0">
              <a:buNone/>
            </a:pPr>
            <a:r>
              <a:rPr lang="en-US" sz="1600" dirty="0">
                <a:solidFill>
                  <a:srgbClr val="526174"/>
                </a:solidFill>
                <a:latin typeface="Segoe UI" pitchFamily="34" charset="0"/>
                <a:ea typeface="Segoe UI" pitchFamily="34" charset="-122"/>
                <a:cs typeface="Segoe UI" pitchFamily="34" charset="-120"/>
              </a:rPr>
              <a:t>Human handoff</a:t>
            </a:r>
            <a:endParaRPr lang="en-US" sz="1600" dirty="0"/>
          </a:p>
        </p:txBody>
      </p:sp>
      <p:sp>
        <p:nvSpPr>
          <p:cNvPr id="26" name="diagram"/>
          <p:cNvSpPr txBox="1"/>
          <p:nvPr/>
        </p:nvSpPr>
        <p:spPr>
          <a:xfrm>
            <a:off x="768096" y="5330952"/>
            <a:ext cx="10607040" cy="347472"/>
          </a:xfrm>
          <a:prstGeom prst="rect">
            <a:avLst/>
          </a:prstGeom>
          <a:noFill/>
          <a:ln/>
        </p:spPr>
        <p:txBody>
          <a:bodyPr wrap="square" lIns="0" tIns="0" rIns="0" bIns="0" rtlCol="0" anchor="ctr"/>
          <a:lstStyle/>
          <a:p>
            <a:pPr indent="0" marL="0">
              <a:buNone/>
            </a:pPr>
            <a:r>
              <a:rPr lang="en-US" sz="1700" dirty="0">
                <a:solidFill>
                  <a:srgbClr val="0969DA"/>
                </a:solidFill>
                <a:latin typeface="Segoe UI" pitchFamily="34" charset="0"/>
                <a:ea typeface="Segoe UI" pitchFamily="34" charset="-122"/>
                <a:cs typeface="Segoe UI" pitchFamily="34" charset="-120"/>
              </a:rPr>
              <a:t>Agent picker  /  child sessions  /  fleets  /  orchestration  /  fork + merge  /  worktrees</a:t>
            </a:r>
            <a:endParaRPr lang="en-US" sz="1700" dirty="0"/>
          </a:p>
        </p:txBody>
      </p:sp>
      <p:sp>
        <p:nvSpPr>
          <p:cNvPr id="27"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8"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Extension opportunity, not recorded fleet execution. Parallel worktrees are not customer isolation.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79C0FF"/>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B8C6D8"/>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FFFFFF"/>
                </a:solidFill>
                <a:latin typeface="Bahnschrift" pitchFamily="34" charset="0"/>
                <a:ea typeface="Bahnschrift" pitchFamily="34" charset="-122"/>
                <a:cs typeface="Bahnschrift" pitchFamily="34" charset="-120"/>
              </a:rPr>
              <a:t>Bring expertise. Reuse the agent engine.</a:t>
            </a:r>
            <a:endParaRPr lang="en-US" sz="3400" dirty="0"/>
          </a:p>
        </p:txBody>
      </p:sp>
      <p:sp>
        <p:nvSpPr>
          <p:cNvPr id="5" name="Shape 3"/>
          <p:cNvSpPr/>
          <p:nvPr/>
        </p:nvSpPr>
        <p:spPr>
          <a:xfrm>
            <a:off x="548640" y="6510528"/>
            <a:ext cx="11091672" cy="0"/>
          </a:xfrm>
          <a:prstGeom prst="line">
            <a:avLst/>
          </a:prstGeom>
          <a:noFill/>
          <a:ln w="12700">
            <a:solidFill>
              <a:srgbClr val="344256"/>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B8C6D8"/>
                </a:solidFill>
                <a:latin typeface="Segoe UI" pitchFamily="34" charset="0"/>
                <a:ea typeface="Segoe UI" pitchFamily="34" charset="-122"/>
                <a:cs typeface="Segoe UI" pitchFamily="34" charset="-120"/>
              </a:rPr>
              <a:t>Sources: S01, S02, S03, S04, S06, S10, S15, M02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B8C6D8"/>
                </a:solidFill>
                <a:latin typeface="Segoe UI" pitchFamily="34" charset="0"/>
                <a:ea typeface="Segoe UI" pitchFamily="34" charset="-122"/>
                <a:cs typeface="Segoe UI" pitchFamily="34" charset="-120"/>
              </a:rPr>
              <a:t>8</a:t>
            </a:r>
            <a:endParaRPr lang="en-US" sz="1000" dirty="0"/>
          </a:p>
        </p:txBody>
      </p:sp>
      <p:sp>
        <p:nvSpPr>
          <p:cNvPr id="9" name="layout-panel"/>
          <p:cNvSpPr/>
          <p:nvPr/>
        </p:nvSpPr>
        <p:spPr>
          <a:xfrm>
            <a:off x="594360" y="1828800"/>
            <a:ext cx="7699248" cy="941832"/>
          </a:xfrm>
          <a:prstGeom prst="roundRect">
            <a:avLst>
              <a:gd name="adj" fmla="val 11650"/>
            </a:avLst>
          </a:prstGeom>
          <a:solidFill>
            <a:srgbClr val="161F2B"/>
          </a:solidFill>
          <a:ln w="8890">
            <a:solidFill>
              <a:srgbClr val="344256"/>
            </a:solidFill>
            <a:prstDash val="solid"/>
          </a:ln>
        </p:spPr>
      </p:sp>
      <p:sp>
        <p:nvSpPr>
          <p:cNvPr id="10" name="label"/>
          <p:cNvSpPr txBox="1"/>
          <p:nvPr/>
        </p:nvSpPr>
        <p:spPr>
          <a:xfrm>
            <a:off x="822960" y="1938528"/>
            <a:ext cx="7251192" cy="274320"/>
          </a:xfrm>
          <a:prstGeom prst="rect">
            <a:avLst/>
          </a:prstGeom>
          <a:noFill/>
          <a:ln/>
        </p:spPr>
        <p:txBody>
          <a:bodyPr wrap="square" lIns="0" tIns="0" rIns="0" bIns="0" rtlCol="0" anchor="ctr"/>
          <a:lstStyle/>
          <a:p>
            <a:pPr indent="0" marL="0">
              <a:buNone/>
            </a:pPr>
            <a:r>
              <a:rPr lang="en-US" sz="1600" b="1" dirty="0">
                <a:solidFill>
                  <a:srgbClr val="79C0FF"/>
                </a:solidFill>
                <a:latin typeface="Segoe UI" pitchFamily="34" charset="0"/>
                <a:ea typeface="Segoe UI" pitchFamily="34" charset="-122"/>
                <a:cs typeface="Segoe UI" pitchFamily="34" charset="-120"/>
              </a:rPr>
              <a:t>GITHUB COPILOT APP</a:t>
            </a:r>
            <a:endParaRPr lang="en-US" sz="1600" dirty="0"/>
          </a:p>
        </p:txBody>
      </p:sp>
      <p:sp>
        <p:nvSpPr>
          <p:cNvPr id="11" name="diagram"/>
          <p:cNvSpPr txBox="1"/>
          <p:nvPr/>
        </p:nvSpPr>
        <p:spPr>
          <a:xfrm>
            <a:off x="822960" y="2313432"/>
            <a:ext cx="7251192" cy="283464"/>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Sessions  /  Models  /  GitHub  /  Canvases</a:t>
            </a:r>
            <a:endParaRPr lang="en-US" sz="1800" dirty="0"/>
          </a:p>
        </p:txBody>
      </p:sp>
      <p:sp>
        <p:nvSpPr>
          <p:cNvPr id="12" name="layout-panel"/>
          <p:cNvSpPr/>
          <p:nvPr/>
        </p:nvSpPr>
        <p:spPr>
          <a:xfrm>
            <a:off x="594360" y="2944368"/>
            <a:ext cx="7699248" cy="941832"/>
          </a:xfrm>
          <a:prstGeom prst="roundRect">
            <a:avLst>
              <a:gd name="adj" fmla="val 11650"/>
            </a:avLst>
          </a:prstGeom>
          <a:solidFill>
            <a:srgbClr val="161F2B"/>
          </a:solidFill>
          <a:ln w="8890">
            <a:solidFill>
              <a:srgbClr val="344256"/>
            </a:solidFill>
            <a:prstDash val="solid"/>
          </a:ln>
        </p:spPr>
      </p:sp>
      <p:sp>
        <p:nvSpPr>
          <p:cNvPr id="13" name="label"/>
          <p:cNvSpPr txBox="1"/>
          <p:nvPr/>
        </p:nvSpPr>
        <p:spPr>
          <a:xfrm>
            <a:off x="822960" y="3054096"/>
            <a:ext cx="7251192" cy="274320"/>
          </a:xfrm>
          <a:prstGeom prst="rect">
            <a:avLst/>
          </a:prstGeom>
          <a:noFill/>
          <a:ln/>
        </p:spPr>
        <p:txBody>
          <a:bodyPr wrap="square" lIns="0" tIns="0" rIns="0" bIns="0" rtlCol="0" anchor="ctr"/>
          <a:lstStyle/>
          <a:p>
            <a:pPr indent="0" marL="0">
              <a:buNone/>
            </a:pPr>
            <a:r>
              <a:rPr lang="en-US" sz="1600" b="1" dirty="0">
                <a:solidFill>
                  <a:srgbClr val="D2BCFF"/>
                </a:solidFill>
                <a:latin typeface="Segoe UI" pitchFamily="34" charset="0"/>
                <a:ea typeface="Segoe UI" pitchFamily="34" charset="-122"/>
                <a:cs typeface="Segoe UI" pitchFamily="34" charset="-120"/>
              </a:rPr>
              <a:t>SHARED COPILOT CLI RUNTIME</a:t>
            </a:r>
            <a:endParaRPr lang="en-US" sz="1600" dirty="0"/>
          </a:p>
        </p:txBody>
      </p:sp>
      <p:sp>
        <p:nvSpPr>
          <p:cNvPr id="14" name="diagram"/>
          <p:cNvSpPr txBox="1"/>
          <p:nvPr/>
        </p:nvSpPr>
        <p:spPr>
          <a:xfrm>
            <a:off x="822960" y="3429000"/>
            <a:ext cx="7251192" cy="283464"/>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Plan  &gt;  use approved tools  &gt;  inspect  &gt;  iterate</a:t>
            </a:r>
            <a:endParaRPr lang="en-US" sz="1800" dirty="0"/>
          </a:p>
        </p:txBody>
      </p:sp>
      <p:sp>
        <p:nvSpPr>
          <p:cNvPr id="15" name="layout-panel"/>
          <p:cNvSpPr/>
          <p:nvPr/>
        </p:nvSpPr>
        <p:spPr>
          <a:xfrm>
            <a:off x="594360" y="4059936"/>
            <a:ext cx="7699248" cy="941832"/>
          </a:xfrm>
          <a:prstGeom prst="roundRect">
            <a:avLst>
              <a:gd name="adj" fmla="val 11650"/>
            </a:avLst>
          </a:prstGeom>
          <a:solidFill>
            <a:srgbClr val="161F2B"/>
          </a:solidFill>
          <a:ln w="8890">
            <a:solidFill>
              <a:srgbClr val="344256"/>
            </a:solidFill>
            <a:prstDash val="solid"/>
          </a:ln>
        </p:spPr>
      </p:sp>
      <p:sp>
        <p:nvSpPr>
          <p:cNvPr id="16" name="label"/>
          <p:cNvSpPr txBox="1"/>
          <p:nvPr/>
        </p:nvSpPr>
        <p:spPr>
          <a:xfrm>
            <a:off x="822960" y="4169664"/>
            <a:ext cx="7251192" cy="274320"/>
          </a:xfrm>
          <a:prstGeom prst="rect">
            <a:avLst/>
          </a:prstGeom>
          <a:noFill/>
          <a:ln/>
        </p:spPr>
        <p:txBody>
          <a:bodyPr wrap="square" lIns="0" tIns="0" rIns="0" bIns="0" rtlCol="0" anchor="ctr"/>
          <a:lstStyle/>
          <a:p>
            <a:pPr indent="0" marL="0">
              <a:buNone/>
            </a:pPr>
            <a:r>
              <a:rPr lang="en-US" sz="1600" b="1" dirty="0">
                <a:solidFill>
                  <a:srgbClr val="9BE9A8"/>
                </a:solidFill>
                <a:latin typeface="Segoe UI" pitchFamily="34" charset="0"/>
                <a:ea typeface="Segoe UI" pitchFamily="34" charset="-122"/>
                <a:cs typeface="Segoe UI" pitchFamily="34" charset="-120"/>
              </a:rPr>
              <a:t>MOSAIC PROCESS + VALIDATION WORKER</a:t>
            </a:r>
            <a:endParaRPr lang="en-US" sz="1600" dirty="0"/>
          </a:p>
        </p:txBody>
      </p:sp>
      <p:sp>
        <p:nvSpPr>
          <p:cNvPr id="17" name="diagram"/>
          <p:cNvSpPr txBox="1"/>
          <p:nvPr/>
        </p:nvSpPr>
        <p:spPr>
          <a:xfrm>
            <a:off x="822960" y="4544568"/>
            <a:ext cx="7251192" cy="283464"/>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Eight stages  /  evidence rules  /  three options  /  human handoff</a:t>
            </a:r>
            <a:endParaRPr lang="en-US" sz="1800" dirty="0"/>
          </a:p>
        </p:txBody>
      </p:sp>
      <p:sp>
        <p:nvSpPr>
          <p:cNvPr id="18" name="label"/>
          <p:cNvSpPr txBox="1"/>
          <p:nvPr/>
        </p:nvSpPr>
        <p:spPr>
          <a:xfrm>
            <a:off x="8595360" y="1920240"/>
            <a:ext cx="2743200" cy="274320"/>
          </a:xfrm>
          <a:prstGeom prst="rect">
            <a:avLst/>
          </a:prstGeom>
          <a:noFill/>
          <a:ln/>
        </p:spPr>
        <p:txBody>
          <a:bodyPr wrap="square" lIns="0" tIns="0" rIns="0" bIns="0" rtlCol="0" anchor="ctr"/>
          <a:lstStyle/>
          <a:p>
            <a:pPr indent="0" marL="0">
              <a:buNone/>
            </a:pPr>
            <a:r>
              <a:rPr lang="en-US" sz="1400" b="1" dirty="0">
                <a:solidFill>
                  <a:srgbClr val="79C0FF"/>
                </a:solidFill>
                <a:latin typeface="Segoe UI" pitchFamily="34" charset="0"/>
                <a:ea typeface="Segoe UI" pitchFamily="34" charset="-122"/>
                <a:cs typeface="Segoe UI" pitchFamily="34" charset="-120"/>
              </a:rPr>
              <a:t>EXTEND THROUGH</a:t>
            </a:r>
            <a:endParaRPr lang="en-US" sz="1400" dirty="0"/>
          </a:p>
        </p:txBody>
      </p:sp>
      <p:sp>
        <p:nvSpPr>
          <p:cNvPr id="19" name="content"/>
          <p:cNvSpPr txBox="1"/>
          <p:nvPr/>
        </p:nvSpPr>
        <p:spPr>
          <a:xfrm>
            <a:off x="8595360" y="2450592"/>
            <a:ext cx="2743200" cy="2615184"/>
          </a:xfrm>
          <a:prstGeom prst="rect">
            <a:avLst/>
          </a:prstGeom>
          <a:noFill/>
          <a:ln/>
        </p:spPr>
        <p:txBody>
          <a:bodyPr wrap="square" lIns="0" tIns="0" rIns="0" bIns="0" rtlCol="0" anchor="t"/>
          <a:lstStyle/>
          <a:p>
            <a:pPr indent="0" marL="0">
              <a:buNone/>
            </a:pPr>
            <a:r>
              <a:rPr lang="en-US" sz="2000" dirty="0">
                <a:solidFill>
                  <a:srgbClr val="FFFFFF"/>
                </a:solidFill>
                <a:latin typeface="Segoe UI" pitchFamily="34" charset="0"/>
                <a:ea typeface="Segoe UI" pitchFamily="34" charset="-122"/>
                <a:cs typeface="Segoe UI" pitchFamily="34" charset="-120"/>
              </a:rPr>
              <a:t>Skills + agents + MCP</a:t>
            </a:r>
            <a:endParaRPr lang="en-US" sz="2000" dirty="0"/>
          </a:p>
          <a:p>
            <a:pPr indent="0" marL="0">
              <a:buNone/>
            </a:pPr>
            <a:r>
              <a:rPr lang="en-US" sz="2000" dirty="0">
                <a:solidFill>
                  <a:srgbClr val="FFFFFF"/>
                </a:solidFill>
                <a:latin typeface="Segoe UI" pitchFamily="34" charset="0"/>
                <a:ea typeface="Segoe UI" pitchFamily="34" charset="-122"/>
                <a:cs typeface="Segoe UI" pitchFamily="34" charset="-120"/>
              </a:rPr>
              <a:t>Plugins + hooks + LSP</a:t>
            </a:r>
            <a:endParaRPr lang="en-US" sz="2000" dirty="0"/>
          </a:p>
          <a:p>
            <a:pPr indent="0" marL="0">
              <a:buNone/>
            </a:pPr>
            <a:r>
              <a:rPr lang="en-US" sz="2000" dirty="0">
                <a:solidFill>
                  <a:srgbClr val="FFFFFF"/>
                </a:solidFill>
                <a:latin typeface="Segoe UI" pitchFamily="34" charset="0"/>
                <a:ea typeface="Segoe UI" pitchFamily="34" charset="-122"/>
                <a:cs typeface="Segoe UI" pitchFamily="34" charset="-120"/>
              </a:rPr>
              <a:t>Canvases</a:t>
            </a:r>
            <a:endParaRPr lang="en-US" sz="2000" dirty="0"/>
          </a:p>
          <a:p>
            <a:pPr indent="0" marL="0">
              <a:buNone/>
            </a:pPr>
            <a:r>
              <a:rPr lang="en-US" sz="2000" dirty="0">
                <a:solidFill>
                  <a:srgbClr val="FFFFFF"/>
                </a:solidFill>
                <a:latin typeface="Segoe UI" pitchFamily="34" charset="0"/>
                <a:ea typeface="Segoe UI" pitchFamily="34" charset="-122"/>
                <a:cs typeface="Segoe UI" pitchFamily="34" charset="-120"/>
              </a:rPr>
              <a:t>Models / Auto / effort</a:t>
            </a:r>
            <a:endParaRPr lang="en-US" sz="2000" dirty="0"/>
          </a:p>
          <a:p>
            <a:pPr indent="0" marL="0">
              <a:buNone/>
            </a:pPr>
            <a:r>
              <a:rPr lang="en-US" sz="2000" dirty="0">
                <a:solidFill>
                  <a:srgbClr val="FFFFFF"/>
                </a:solidFill>
                <a:latin typeface="Segoe UI" pitchFamily="34" charset="0"/>
                <a:ea typeface="Segoe UI" pitchFamily="34" charset="-122"/>
                <a:cs typeface="Segoe UI" pitchFamily="34" charset="-120"/>
              </a:rPr>
              <a:t>BYOK + model critique</a:t>
            </a:r>
            <a:endParaRPr lang="en-US" sz="2000" dirty="0"/>
          </a:p>
        </p:txBody>
      </p:sp>
      <p:sp>
        <p:nvSpPr>
          <p:cNvPr id="20" name="caption"/>
          <p:cNvSpPr txBox="1"/>
          <p:nvPr/>
        </p:nvSpPr>
        <p:spPr>
          <a:xfrm>
            <a:off x="786384" y="5404104"/>
            <a:ext cx="10652760" cy="347472"/>
          </a:xfrm>
          <a:prstGeom prst="rect">
            <a:avLst/>
          </a:prstGeom>
          <a:noFill/>
          <a:ln/>
        </p:spPr>
        <p:txBody>
          <a:bodyPr wrap="square" lIns="0" tIns="0" rIns="0" bIns="0" rtlCol="0" anchor="ctr"/>
          <a:lstStyle/>
          <a:p>
            <a:pPr indent="0" marL="0">
              <a:buNone/>
            </a:pPr>
            <a:r>
              <a:rPr lang="en-US" sz="1500" dirty="0">
                <a:solidFill>
                  <a:srgbClr val="B8C6D8"/>
                </a:solidFill>
                <a:latin typeface="Segoe UI" pitchFamily="34" charset="0"/>
                <a:ea typeface="Segoe UI" pitchFamily="34" charset="-122"/>
                <a:cs typeface="Segoe UI" pitchFamily="34" charset="-120"/>
              </a:rPr>
              <a:t>App models do not configure the separate worker. SDK embedding is a future path, not an implemented service.</a:t>
            </a:r>
            <a:endParaRPr lang="en-US" sz="1500" dirty="0"/>
          </a:p>
        </p:txBody>
      </p:sp>
      <p:sp>
        <p:nvSpPr>
          <p:cNvPr id="21" name="layout-panel"/>
          <p:cNvSpPr/>
          <p:nvPr/>
        </p:nvSpPr>
        <p:spPr>
          <a:xfrm>
            <a:off x="548640" y="5916168"/>
            <a:ext cx="11091672" cy="448056"/>
          </a:xfrm>
          <a:prstGeom prst="roundRect">
            <a:avLst>
              <a:gd name="adj" fmla="val 24490"/>
            </a:avLst>
          </a:prstGeom>
          <a:solidFill>
            <a:srgbClr val="233043"/>
          </a:solidFill>
          <a:ln w="8890">
            <a:solidFill>
              <a:srgbClr val="233043"/>
            </a:solidFill>
            <a:prstDash val="solid"/>
          </a:ln>
        </p:spPr>
      </p:sp>
      <p:sp>
        <p:nvSpPr>
          <p:cNvPr id="22"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79C0FF"/>
                </a:solidFill>
                <a:latin typeface="Segoe UI" pitchFamily="34" charset="0"/>
                <a:ea typeface="Segoe UI" pitchFamily="34" charset="-122"/>
                <a:cs typeface="Segoe UI" pitchFamily="34" charset="-120"/>
              </a:rPr>
              <a:t>Reuse the engine and workspace. Keep domain rules, validation and decisions explicit.</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Make the work visible, not just conversational.</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S07, S11, S19, M01, M03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9</a:t>
            </a:r>
            <a:endParaRPr lang="en-US" sz="1000" dirty="0"/>
          </a:p>
        </p:txBody>
      </p:sp>
      <p:sp>
        <p:nvSpPr>
          <p:cNvPr id="9" name="layout-panel"/>
          <p:cNvSpPr/>
          <p:nvPr/>
        </p:nvSpPr>
        <p:spPr>
          <a:xfrm>
            <a:off x="594360" y="1801368"/>
            <a:ext cx="4937760" cy="292608"/>
          </a:xfrm>
          <a:prstGeom prst="roundRect">
            <a:avLst>
              <a:gd name="adj" fmla="val 37500"/>
            </a:avLst>
          </a:prstGeom>
          <a:solidFill>
            <a:srgbClr val="1A7F37"/>
          </a:solidFill>
          <a:ln w="8890">
            <a:solidFill>
              <a:srgbClr val="1A7F37"/>
            </a:solidFill>
            <a:prstDash val="solid"/>
          </a:ln>
        </p:spPr>
      </p:sp>
      <p:sp>
        <p:nvSpPr>
          <p:cNvPr id="10" name="label"/>
          <p:cNvSpPr txBox="1"/>
          <p:nvPr/>
        </p:nvSpPr>
        <p:spPr>
          <a:xfrm>
            <a:off x="667512" y="1824228"/>
            <a:ext cx="479145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TODAY: BROWSER DOSSIER</a:t>
            </a:r>
            <a:endParaRPr lang="en-US" sz="1200" dirty="0"/>
          </a:p>
        </p:txBody>
      </p:sp>
      <p:pic>
        <p:nvPicPr>
          <p:cNvPr id="11" name="authentic-evidence" descr="Authentic generated browser dossier showing an unselected discussion draft and awaiting human review.">    </p:cNvPr>
          <p:cNvPicPr>
            <a:picLocks noChangeAspect="1"/>
          </p:cNvPicPr>
          <p:nvPr/>
        </p:nvPicPr>
        <p:blipFill>
          <a:blip r:embed="rId1"/>
          <a:stretch>
            <a:fillRect/>
          </a:stretch>
        </p:blipFill>
        <p:spPr>
          <a:xfrm>
            <a:off x="730689" y="2322576"/>
            <a:ext cx="6384175" cy="3291840"/>
          </a:xfrm>
          <a:prstGeom prst="rect">
            <a:avLst/>
          </a:prstGeom>
        </p:spPr>
      </p:pic>
      <p:sp>
        <p:nvSpPr>
          <p:cNvPr id="12" name="layout-panel"/>
          <p:cNvSpPr/>
          <p:nvPr/>
        </p:nvSpPr>
        <p:spPr>
          <a:xfrm>
            <a:off x="7543800" y="1801368"/>
            <a:ext cx="3822192" cy="292608"/>
          </a:xfrm>
          <a:prstGeom prst="roundRect">
            <a:avLst>
              <a:gd name="adj" fmla="val 37500"/>
            </a:avLst>
          </a:prstGeom>
          <a:solidFill>
            <a:srgbClr val="8250DF"/>
          </a:solidFill>
          <a:ln w="8890">
            <a:solidFill>
              <a:srgbClr val="8250DF"/>
            </a:solidFill>
            <a:prstDash val="solid"/>
          </a:ln>
        </p:spPr>
      </p:sp>
      <p:sp>
        <p:nvSpPr>
          <p:cNvPr id="13" name="label"/>
          <p:cNvSpPr txBox="1"/>
          <p:nvPr/>
        </p:nvSpPr>
        <p:spPr>
          <a:xfrm>
            <a:off x="7616952" y="1824228"/>
            <a:ext cx="367588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NEXT: APP EXTENSIONS</a:t>
            </a:r>
            <a:endParaRPr lang="en-US" sz="1200" dirty="0"/>
          </a:p>
        </p:txBody>
      </p:sp>
      <p:sp>
        <p:nvSpPr>
          <p:cNvPr id="14" name="content"/>
          <p:cNvSpPr txBox="1"/>
          <p:nvPr/>
        </p:nvSpPr>
        <p:spPr>
          <a:xfrm>
            <a:off x="7543800" y="2423160"/>
            <a:ext cx="3794760" cy="1764792"/>
          </a:xfrm>
          <a:prstGeom prst="rect">
            <a:avLst/>
          </a:prstGeom>
          <a:noFill/>
          <a:ln/>
        </p:spPr>
        <p:txBody>
          <a:bodyPr wrap="square" lIns="0" tIns="0" rIns="0" bIns="0" rtlCol="0" anchor="t"/>
          <a:lstStyle/>
          <a:p>
            <a:pPr indent="0" marL="0">
              <a:buNone/>
            </a:pPr>
            <a:r>
              <a:rPr lang="en-US" sz="2300" b="1" dirty="0">
                <a:solidFill>
                  <a:srgbClr val="14202B"/>
                </a:solidFill>
                <a:latin typeface="Segoe UI" pitchFamily="34" charset="0"/>
                <a:ea typeface="Segoe UI" pitchFamily="34" charset="-122"/>
                <a:cs typeface="Segoe UI" pitchFamily="34" charset="-120"/>
              </a:rPr>
              <a:t>A shared options board.</a:t>
            </a:r>
            <a:endParaRPr lang="en-US" sz="2300" dirty="0"/>
          </a:p>
          <a:p>
            <a:pPr indent="0" marL="0">
              <a:buNone/>
            </a:pPr>
            <a:r>
              <a:rPr lang="en-US" sz="2300" b="1" dirty="0">
                <a:solidFill>
                  <a:srgbClr val="14202B"/>
                </a:solidFill>
                <a:latin typeface="Segoe UI" pitchFamily="34" charset="0"/>
                <a:ea typeface="Segoe UI" pitchFamily="34" charset="-122"/>
                <a:cs typeface="Segoe UI" pitchFamily="34" charset="-120"/>
              </a:rPr>
              <a:t>An evidence review queue.</a:t>
            </a:r>
            <a:endParaRPr lang="en-US" sz="2300" dirty="0"/>
          </a:p>
          <a:p>
            <a:pPr indent="0" marL="0">
              <a:buNone/>
            </a:pPr>
            <a:r>
              <a:rPr lang="en-US" sz="2300" b="1" dirty="0">
                <a:solidFill>
                  <a:srgbClr val="14202B"/>
                </a:solidFill>
                <a:latin typeface="Segoe UI" pitchFamily="34" charset="0"/>
                <a:ea typeface="Segoe UI" pitchFamily="34" charset="-122"/>
                <a:cs typeface="Segoe UI" pitchFamily="34" charset="-120"/>
              </a:rPr>
              <a:t>An interactive intake canvas.</a:t>
            </a:r>
            <a:endParaRPr lang="en-US" sz="2300" dirty="0"/>
          </a:p>
        </p:txBody>
      </p:sp>
      <p:sp>
        <p:nvSpPr>
          <p:cNvPr id="15" name="content"/>
          <p:cNvSpPr txBox="1"/>
          <p:nvPr/>
        </p:nvSpPr>
        <p:spPr>
          <a:xfrm>
            <a:off x="7543800" y="4562856"/>
            <a:ext cx="3794760" cy="786384"/>
          </a:xfrm>
          <a:prstGeom prst="rect">
            <a:avLst/>
          </a:prstGeom>
          <a:noFill/>
          <a:ln/>
        </p:spPr>
        <p:txBody>
          <a:bodyPr wrap="square" lIns="0" tIns="0" rIns="0" bIns="0" rtlCol="0" anchor="ctr"/>
          <a:lstStyle/>
          <a:p>
            <a:pPr indent="0" marL="0">
              <a:buNone/>
            </a:pPr>
            <a:r>
              <a:rPr lang="en-US" sz="2000" dirty="0">
                <a:solidFill>
                  <a:srgbClr val="526174"/>
                </a:solidFill>
                <a:latin typeface="Segoe UI" pitchFamily="34" charset="0"/>
                <a:ea typeface="Segoe UI" pitchFamily="34" charset="-122"/>
                <a:cs typeface="Segoe UI" pitchFamily="34" charset="-120"/>
              </a:rPr>
              <a:t>Canvas + browser tools</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Opt-in computer use</a:t>
            </a:r>
            <a:endParaRPr lang="en-US" sz="2000" dirty="0"/>
          </a:p>
        </p:txBody>
      </p:sp>
      <p:sp>
        <p:nvSpPr>
          <p:cNvPr id="16"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17"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23 artifacts: 10 HTML + 9 Markdown + 4 JSON. A native MOSAIC canvas is proposed, not shown.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GitHub is part of the work, not an export.</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S04, S05, S12, M02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10</a:t>
            </a:r>
            <a:endParaRPr lang="en-US" sz="1000" dirty="0"/>
          </a:p>
        </p:txBody>
      </p:sp>
      <p:sp>
        <p:nvSpPr>
          <p:cNvPr id="9" name="layout-panel"/>
          <p:cNvSpPr/>
          <p:nvPr/>
        </p:nvSpPr>
        <p:spPr>
          <a:xfrm>
            <a:off x="548640" y="1856232"/>
            <a:ext cx="2651760" cy="2670048"/>
          </a:xfrm>
          <a:prstGeom prst="roundRect">
            <a:avLst>
              <a:gd name="adj" fmla="val 4138"/>
            </a:avLst>
          </a:prstGeom>
          <a:solidFill>
            <a:srgbClr val="FFFFFF"/>
          </a:solidFill>
          <a:ln w="8890">
            <a:solidFill>
              <a:srgbClr val="D4DDE7"/>
            </a:solidFill>
            <a:prstDash val="solid"/>
          </a:ln>
        </p:spPr>
      </p:sp>
      <p:sp>
        <p:nvSpPr>
          <p:cNvPr id="10" name="layout-panel"/>
          <p:cNvSpPr/>
          <p:nvPr/>
        </p:nvSpPr>
        <p:spPr>
          <a:xfrm>
            <a:off x="731520" y="2057400"/>
            <a:ext cx="329184" cy="50292"/>
          </a:xfrm>
          <a:prstGeom prst="rect">
            <a:avLst>
              <a:gd name="adj" fmla="val 218182"/>
            </a:avLst>
          </a:prstGeom>
          <a:solidFill>
            <a:srgbClr val="0969DA"/>
          </a:solidFill>
          <a:ln w="8890">
            <a:solidFill>
              <a:srgbClr val="0969DA"/>
            </a:solidFill>
            <a:prstDash val="solid"/>
          </a:ln>
        </p:spPr>
      </p:sp>
      <p:sp>
        <p:nvSpPr>
          <p:cNvPr id="11" name="content"/>
          <p:cNvSpPr txBox="1"/>
          <p:nvPr/>
        </p:nvSpPr>
        <p:spPr>
          <a:xfrm>
            <a:off x="731520" y="2240280"/>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Find work</a:t>
            </a:r>
            <a:endParaRPr lang="en-US" sz="2300" dirty="0"/>
          </a:p>
        </p:txBody>
      </p:sp>
      <p:sp>
        <p:nvSpPr>
          <p:cNvPr id="12" name="content"/>
          <p:cNvSpPr txBox="1"/>
          <p:nvPr/>
        </p:nvSpPr>
        <p:spPr>
          <a:xfrm>
            <a:off x="731520" y="2862072"/>
            <a:ext cx="2286000" cy="1481328"/>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My work</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Issues + inbox</a:t>
            </a:r>
            <a:endParaRPr lang="en-US" sz="2000" dirty="0"/>
          </a:p>
        </p:txBody>
      </p:sp>
      <p:sp>
        <p:nvSpPr>
          <p:cNvPr id="13" name="layout-panel"/>
          <p:cNvSpPr/>
          <p:nvPr/>
        </p:nvSpPr>
        <p:spPr>
          <a:xfrm>
            <a:off x="3360420" y="1856232"/>
            <a:ext cx="2651760" cy="2670048"/>
          </a:xfrm>
          <a:prstGeom prst="roundRect">
            <a:avLst>
              <a:gd name="adj" fmla="val 4138"/>
            </a:avLst>
          </a:prstGeom>
          <a:solidFill>
            <a:srgbClr val="FFFFFF"/>
          </a:solidFill>
          <a:ln w="8890">
            <a:solidFill>
              <a:srgbClr val="D4DDE7"/>
            </a:solidFill>
            <a:prstDash val="solid"/>
          </a:ln>
        </p:spPr>
      </p:sp>
      <p:sp>
        <p:nvSpPr>
          <p:cNvPr id="14" name="layout-panel"/>
          <p:cNvSpPr/>
          <p:nvPr/>
        </p:nvSpPr>
        <p:spPr>
          <a:xfrm>
            <a:off x="3543300" y="2057400"/>
            <a:ext cx="329184" cy="50292"/>
          </a:xfrm>
          <a:prstGeom prst="rect">
            <a:avLst>
              <a:gd name="adj" fmla="val 218182"/>
            </a:avLst>
          </a:prstGeom>
          <a:solidFill>
            <a:srgbClr val="8250DF"/>
          </a:solidFill>
          <a:ln w="8890">
            <a:solidFill>
              <a:srgbClr val="8250DF"/>
            </a:solidFill>
            <a:prstDash val="solid"/>
          </a:ln>
        </p:spPr>
      </p:sp>
      <p:sp>
        <p:nvSpPr>
          <p:cNvPr id="15" name="content"/>
          <p:cNvSpPr txBox="1"/>
          <p:nvPr/>
        </p:nvSpPr>
        <p:spPr>
          <a:xfrm>
            <a:off x="3543300" y="2240280"/>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Direct work</a:t>
            </a:r>
            <a:endParaRPr lang="en-US" sz="2300" dirty="0"/>
          </a:p>
        </p:txBody>
      </p:sp>
      <p:sp>
        <p:nvSpPr>
          <p:cNvPr id="16" name="content"/>
          <p:cNvSpPr txBox="1"/>
          <p:nvPr/>
        </p:nvSpPr>
        <p:spPr>
          <a:xfrm>
            <a:off x="3543300" y="2862072"/>
            <a:ext cx="2286000" cy="1481328"/>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Issue context</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Repository templates</a:t>
            </a:r>
            <a:endParaRPr lang="en-US" sz="2000" dirty="0"/>
          </a:p>
        </p:txBody>
      </p:sp>
      <p:sp>
        <p:nvSpPr>
          <p:cNvPr id="17" name="layout-panel"/>
          <p:cNvSpPr/>
          <p:nvPr/>
        </p:nvSpPr>
        <p:spPr>
          <a:xfrm>
            <a:off x="6172200" y="1856232"/>
            <a:ext cx="2651760" cy="2670048"/>
          </a:xfrm>
          <a:prstGeom prst="roundRect">
            <a:avLst>
              <a:gd name="adj" fmla="val 4138"/>
            </a:avLst>
          </a:prstGeom>
          <a:solidFill>
            <a:srgbClr val="FFFFFF"/>
          </a:solidFill>
          <a:ln w="8890">
            <a:solidFill>
              <a:srgbClr val="D4DDE7"/>
            </a:solidFill>
            <a:prstDash val="solid"/>
          </a:ln>
        </p:spPr>
      </p:sp>
      <p:sp>
        <p:nvSpPr>
          <p:cNvPr id="18" name="layout-panel"/>
          <p:cNvSpPr/>
          <p:nvPr/>
        </p:nvSpPr>
        <p:spPr>
          <a:xfrm>
            <a:off x="6355080" y="2057400"/>
            <a:ext cx="329184" cy="50292"/>
          </a:xfrm>
          <a:prstGeom prst="rect">
            <a:avLst>
              <a:gd name="adj" fmla="val 218182"/>
            </a:avLst>
          </a:prstGeom>
          <a:solidFill>
            <a:srgbClr val="1A7F37"/>
          </a:solidFill>
          <a:ln w="8890">
            <a:solidFill>
              <a:srgbClr val="1A7F37"/>
            </a:solidFill>
            <a:prstDash val="solid"/>
          </a:ln>
        </p:spPr>
      </p:sp>
      <p:sp>
        <p:nvSpPr>
          <p:cNvPr id="19" name="content"/>
          <p:cNvSpPr txBox="1"/>
          <p:nvPr/>
        </p:nvSpPr>
        <p:spPr>
          <a:xfrm>
            <a:off x="6355080" y="2240280"/>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Inspect work</a:t>
            </a:r>
            <a:endParaRPr lang="en-US" sz="2300" dirty="0"/>
          </a:p>
        </p:txBody>
      </p:sp>
      <p:sp>
        <p:nvSpPr>
          <p:cNvPr id="20" name="content"/>
          <p:cNvSpPr txBox="1"/>
          <p:nvPr/>
        </p:nvSpPr>
        <p:spPr>
          <a:xfrm>
            <a:off x="6355080" y="2862072"/>
            <a:ext cx="2286000" cy="1481328"/>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Diffs + comments</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CI checks + fixes</a:t>
            </a:r>
            <a:endParaRPr lang="en-US" sz="2000" dirty="0"/>
          </a:p>
        </p:txBody>
      </p:sp>
      <p:sp>
        <p:nvSpPr>
          <p:cNvPr id="21" name="layout-panel"/>
          <p:cNvSpPr/>
          <p:nvPr/>
        </p:nvSpPr>
        <p:spPr>
          <a:xfrm>
            <a:off x="8983980" y="1856232"/>
            <a:ext cx="2651760" cy="2670048"/>
          </a:xfrm>
          <a:prstGeom prst="roundRect">
            <a:avLst>
              <a:gd name="adj" fmla="val 4138"/>
            </a:avLst>
          </a:prstGeom>
          <a:solidFill>
            <a:srgbClr val="FFFFFF"/>
          </a:solidFill>
          <a:ln w="8890">
            <a:solidFill>
              <a:srgbClr val="D4DDE7"/>
            </a:solidFill>
            <a:prstDash val="solid"/>
          </a:ln>
        </p:spPr>
      </p:sp>
      <p:sp>
        <p:nvSpPr>
          <p:cNvPr id="22" name="layout-panel"/>
          <p:cNvSpPr/>
          <p:nvPr/>
        </p:nvSpPr>
        <p:spPr>
          <a:xfrm>
            <a:off x="9166860" y="2057400"/>
            <a:ext cx="329184" cy="50292"/>
          </a:xfrm>
          <a:prstGeom prst="rect">
            <a:avLst>
              <a:gd name="adj" fmla="val 218182"/>
            </a:avLst>
          </a:prstGeom>
          <a:solidFill>
            <a:srgbClr val="0969DA"/>
          </a:solidFill>
          <a:ln w="8890">
            <a:solidFill>
              <a:srgbClr val="0969DA"/>
            </a:solidFill>
            <a:prstDash val="solid"/>
          </a:ln>
        </p:spPr>
      </p:sp>
      <p:sp>
        <p:nvSpPr>
          <p:cNvPr id="23" name="content"/>
          <p:cNvSpPr txBox="1"/>
          <p:nvPr/>
        </p:nvSpPr>
        <p:spPr>
          <a:xfrm>
            <a:off x="9166860" y="2240280"/>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Reconcile work</a:t>
            </a:r>
            <a:endParaRPr lang="en-US" sz="2300" dirty="0"/>
          </a:p>
        </p:txBody>
      </p:sp>
      <p:sp>
        <p:nvSpPr>
          <p:cNvPr id="24" name="content"/>
          <p:cNvSpPr txBox="1"/>
          <p:nvPr/>
        </p:nvSpPr>
        <p:spPr>
          <a:xfrm>
            <a:off x="9166860" y="2862072"/>
            <a:ext cx="2286000" cy="1481328"/>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Stacked PRs</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Controlled merge</a:t>
            </a:r>
            <a:endParaRPr lang="en-US" sz="2000" dirty="0"/>
          </a:p>
        </p:txBody>
      </p:sp>
      <p:sp>
        <p:nvSpPr>
          <p:cNvPr id="25" name="content"/>
          <p:cNvSpPr txBox="1"/>
          <p:nvPr/>
        </p:nvSpPr>
        <p:spPr>
          <a:xfrm>
            <a:off x="786384" y="5020056"/>
            <a:ext cx="10607040" cy="566928"/>
          </a:xfrm>
          <a:prstGeom prst="rect">
            <a:avLst/>
          </a:prstGeom>
          <a:noFill/>
          <a:ln/>
        </p:spPr>
        <p:txBody>
          <a:bodyPr wrap="square" lIns="0" tIns="0" rIns="0" bIns="0" rtlCol="0" anchor="ctr"/>
          <a:lstStyle/>
          <a:p>
            <a:pPr indent="0" marL="0">
              <a:buNone/>
            </a:pPr>
            <a:r>
              <a:rPr lang="en-US" sz="2000" dirty="0">
                <a:solidFill>
                  <a:srgbClr val="526174"/>
                </a:solidFill>
                <a:latin typeface="Segoe UI" pitchFamily="34" charset="0"/>
                <a:ea typeface="Segoe UI" pitchFamily="34" charset="-122"/>
                <a:cs typeface="Segoe UI" pitchFamily="34" charset="-120"/>
              </a:rPr>
              <a:t>Documented App capability; MOSAIC hosted issue / PR / CI scenes are not claimed.</a:t>
            </a:r>
            <a:endParaRPr lang="en-US" sz="2000" dirty="0"/>
          </a:p>
        </p:txBody>
      </p:sp>
      <p:sp>
        <p:nvSpPr>
          <p:cNvPr id="26"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7"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Evaluate the handoffs from request to review, not just the quality of one answer.</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Turn a good run into a repeatable practice.</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S03, S04, M02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11</a:t>
            </a:r>
            <a:endParaRPr lang="en-US" sz="1000" dirty="0"/>
          </a:p>
        </p:txBody>
      </p:sp>
      <p:sp>
        <p:nvSpPr>
          <p:cNvPr id="9" name="layout-panel"/>
          <p:cNvSpPr/>
          <p:nvPr/>
        </p:nvSpPr>
        <p:spPr>
          <a:xfrm>
            <a:off x="548640" y="1828800"/>
            <a:ext cx="3566160" cy="2633472"/>
          </a:xfrm>
          <a:prstGeom prst="roundRect">
            <a:avLst>
              <a:gd name="adj" fmla="val 4167"/>
            </a:avLst>
          </a:prstGeom>
          <a:solidFill>
            <a:srgbClr val="FFFFFF"/>
          </a:solidFill>
          <a:ln w="8890">
            <a:solidFill>
              <a:srgbClr val="D4DDE7"/>
            </a:solidFill>
            <a:prstDash val="solid"/>
          </a:ln>
        </p:spPr>
      </p:sp>
      <p:sp>
        <p:nvSpPr>
          <p:cNvPr id="10" name="layout-panel"/>
          <p:cNvSpPr/>
          <p:nvPr/>
        </p:nvSpPr>
        <p:spPr>
          <a:xfrm>
            <a:off x="731520" y="2029968"/>
            <a:ext cx="329184" cy="50292"/>
          </a:xfrm>
          <a:prstGeom prst="rect">
            <a:avLst>
              <a:gd name="adj" fmla="val 218182"/>
            </a:avLst>
          </a:prstGeom>
          <a:solidFill>
            <a:srgbClr val="0969DA"/>
          </a:solidFill>
          <a:ln w="8890">
            <a:solidFill>
              <a:srgbClr val="0969DA"/>
            </a:solidFill>
            <a:prstDash val="solid"/>
          </a:ln>
        </p:spPr>
      </p:sp>
      <p:sp>
        <p:nvSpPr>
          <p:cNvPr id="11" name="content"/>
          <p:cNvSpPr txBox="1"/>
          <p:nvPr/>
        </p:nvSpPr>
        <p:spPr>
          <a:xfrm>
            <a:off x="731520" y="2212848"/>
            <a:ext cx="32004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Repeat</a:t>
            </a:r>
            <a:endParaRPr lang="en-US" sz="2300" dirty="0"/>
          </a:p>
        </p:txBody>
      </p:sp>
      <p:sp>
        <p:nvSpPr>
          <p:cNvPr id="12" name="content"/>
          <p:cNvSpPr txBox="1"/>
          <p:nvPr/>
        </p:nvSpPr>
        <p:spPr>
          <a:xfrm>
            <a:off x="731520" y="2834640"/>
            <a:ext cx="3200400" cy="144475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Scheduled or on-demand automations can propose fresh work.</a:t>
            </a:r>
            <a:endParaRPr lang="en-US" sz="2000" dirty="0"/>
          </a:p>
        </p:txBody>
      </p:sp>
      <p:sp>
        <p:nvSpPr>
          <p:cNvPr id="13" name="layout-panel"/>
          <p:cNvSpPr/>
          <p:nvPr/>
        </p:nvSpPr>
        <p:spPr>
          <a:xfrm>
            <a:off x="4315968" y="1828800"/>
            <a:ext cx="3566160" cy="2633472"/>
          </a:xfrm>
          <a:prstGeom prst="roundRect">
            <a:avLst>
              <a:gd name="adj" fmla="val 4167"/>
            </a:avLst>
          </a:prstGeom>
          <a:solidFill>
            <a:srgbClr val="FFFFFF"/>
          </a:solidFill>
          <a:ln w="8890">
            <a:solidFill>
              <a:srgbClr val="D4DDE7"/>
            </a:solidFill>
            <a:prstDash val="solid"/>
          </a:ln>
        </p:spPr>
      </p:sp>
      <p:sp>
        <p:nvSpPr>
          <p:cNvPr id="14" name="layout-panel"/>
          <p:cNvSpPr/>
          <p:nvPr/>
        </p:nvSpPr>
        <p:spPr>
          <a:xfrm>
            <a:off x="4498848" y="2029968"/>
            <a:ext cx="329184" cy="50292"/>
          </a:xfrm>
          <a:prstGeom prst="rect">
            <a:avLst>
              <a:gd name="adj" fmla="val 218182"/>
            </a:avLst>
          </a:prstGeom>
          <a:solidFill>
            <a:srgbClr val="1A7F37"/>
          </a:solidFill>
          <a:ln w="8890">
            <a:solidFill>
              <a:srgbClr val="1A7F37"/>
            </a:solidFill>
            <a:prstDash val="solid"/>
          </a:ln>
        </p:spPr>
      </p:sp>
      <p:sp>
        <p:nvSpPr>
          <p:cNvPr id="15" name="content"/>
          <p:cNvSpPr txBox="1"/>
          <p:nvPr/>
        </p:nvSpPr>
        <p:spPr>
          <a:xfrm>
            <a:off x="4498848" y="2212848"/>
            <a:ext cx="32004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Remember</a:t>
            </a:r>
            <a:endParaRPr lang="en-US" sz="2300" dirty="0"/>
          </a:p>
        </p:txBody>
      </p:sp>
      <p:sp>
        <p:nvSpPr>
          <p:cNvPr id="16" name="content"/>
          <p:cNvSpPr txBox="1"/>
          <p:nvPr/>
        </p:nvSpPr>
        <p:spPr>
          <a:xfrm>
            <a:off x="4498848" y="2834640"/>
            <a:ext cx="3200400" cy="144475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Chronicle, session history and context tools help teams pick up the thread.</a:t>
            </a:r>
            <a:endParaRPr lang="en-US" sz="2000" dirty="0"/>
          </a:p>
        </p:txBody>
      </p:sp>
      <p:sp>
        <p:nvSpPr>
          <p:cNvPr id="17" name="layout-panel"/>
          <p:cNvSpPr/>
          <p:nvPr/>
        </p:nvSpPr>
        <p:spPr>
          <a:xfrm>
            <a:off x="8083296" y="1828800"/>
            <a:ext cx="3557016" cy="2633472"/>
          </a:xfrm>
          <a:prstGeom prst="roundRect">
            <a:avLst>
              <a:gd name="adj" fmla="val 4167"/>
            </a:avLst>
          </a:prstGeom>
          <a:solidFill>
            <a:srgbClr val="FFFFFF"/>
          </a:solidFill>
          <a:ln w="8890">
            <a:solidFill>
              <a:srgbClr val="D4DDE7"/>
            </a:solidFill>
            <a:prstDash val="solid"/>
          </a:ln>
        </p:spPr>
      </p:sp>
      <p:sp>
        <p:nvSpPr>
          <p:cNvPr id="18" name="layout-panel"/>
          <p:cNvSpPr/>
          <p:nvPr/>
        </p:nvSpPr>
        <p:spPr>
          <a:xfrm>
            <a:off x="8266176" y="2029968"/>
            <a:ext cx="329184" cy="50292"/>
          </a:xfrm>
          <a:prstGeom prst="rect">
            <a:avLst>
              <a:gd name="adj" fmla="val 218182"/>
            </a:avLst>
          </a:prstGeom>
          <a:solidFill>
            <a:srgbClr val="8250DF"/>
          </a:solidFill>
          <a:ln w="8890">
            <a:solidFill>
              <a:srgbClr val="8250DF"/>
            </a:solidFill>
            <a:prstDash val="solid"/>
          </a:ln>
        </p:spPr>
      </p:sp>
      <p:sp>
        <p:nvSpPr>
          <p:cNvPr id="19" name="content"/>
          <p:cNvSpPr txBox="1"/>
          <p:nvPr/>
        </p:nvSpPr>
        <p:spPr>
          <a:xfrm>
            <a:off x="8266176" y="2212848"/>
            <a:ext cx="3191256"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Improve</a:t>
            </a:r>
            <a:endParaRPr lang="en-US" sz="2300" dirty="0"/>
          </a:p>
        </p:txBody>
      </p:sp>
      <p:sp>
        <p:nvSpPr>
          <p:cNvPr id="20" name="content"/>
          <p:cNvSpPr txBox="1"/>
          <p:nvPr/>
        </p:nvSpPr>
        <p:spPr>
          <a:xfrm>
            <a:off x="8266176" y="2834640"/>
            <a:ext cx="3191256" cy="144475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Usage insights, session management and remote access support a working habit.</a:t>
            </a:r>
            <a:endParaRPr lang="en-US" sz="2000" dirty="0"/>
          </a:p>
        </p:txBody>
      </p:sp>
      <p:sp>
        <p:nvSpPr>
          <p:cNvPr id="21" name="content"/>
          <p:cNvSpPr txBox="1"/>
          <p:nvPr/>
        </p:nvSpPr>
        <p:spPr>
          <a:xfrm>
            <a:off x="795528" y="4864608"/>
            <a:ext cx="10652760" cy="603504"/>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MOSAIC extension: approved source change  &gt;  proposed refreshed dossier  &gt;  qualified review</a:t>
            </a:r>
            <a:endParaRPr lang="en-US" sz="2000" dirty="0"/>
          </a:p>
        </p:txBody>
      </p:sp>
      <p:sp>
        <p:nvSpPr>
          <p:cNvPr id="22"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3"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History is context, not evidence. A schedule cannot approve a customer decision.</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More autonomy. Clear human authority.</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S03, S04, S11, S13, M02, M03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12</a:t>
            </a:r>
            <a:endParaRPr lang="en-US" sz="1000" dirty="0"/>
          </a:p>
        </p:txBody>
      </p:sp>
      <p:sp>
        <p:nvSpPr>
          <p:cNvPr id="9" name="layout-panel"/>
          <p:cNvSpPr/>
          <p:nvPr/>
        </p:nvSpPr>
        <p:spPr>
          <a:xfrm>
            <a:off x="566928" y="1819656"/>
            <a:ext cx="3063240" cy="292608"/>
          </a:xfrm>
          <a:prstGeom prst="roundRect">
            <a:avLst>
              <a:gd name="adj" fmla="val 37500"/>
            </a:avLst>
          </a:prstGeom>
          <a:solidFill>
            <a:srgbClr val="0969DA"/>
          </a:solidFill>
          <a:ln w="8890">
            <a:solidFill>
              <a:srgbClr val="0969DA"/>
            </a:solidFill>
            <a:prstDash val="solid"/>
          </a:ln>
        </p:spPr>
      </p:sp>
      <p:sp>
        <p:nvSpPr>
          <p:cNvPr id="10" name="label"/>
          <p:cNvSpPr txBox="1"/>
          <p:nvPr/>
        </p:nvSpPr>
        <p:spPr>
          <a:xfrm>
            <a:off x="640080" y="1842516"/>
            <a:ext cx="291693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APP CONTROLS</a:t>
            </a:r>
            <a:endParaRPr lang="en-US" sz="1200" dirty="0"/>
          </a:p>
        </p:txBody>
      </p:sp>
      <p:sp>
        <p:nvSpPr>
          <p:cNvPr id="11" name="content"/>
          <p:cNvSpPr txBox="1"/>
          <p:nvPr/>
        </p:nvSpPr>
        <p:spPr>
          <a:xfrm>
            <a:off x="749808" y="2414016"/>
            <a:ext cx="3328416" cy="2606040"/>
          </a:xfrm>
          <a:prstGeom prst="rect">
            <a:avLst/>
          </a:prstGeom>
          <a:noFill/>
          <a:ln/>
        </p:spPr>
        <p:txBody>
          <a:bodyPr wrap="square" lIns="0" tIns="0" rIns="0" bIns="0" rtlCol="0" anchor="t"/>
          <a:lstStyle/>
          <a:p>
            <a:pPr indent="0" marL="0">
              <a:buNone/>
            </a:pPr>
            <a:r>
              <a:rPr lang="en-US" sz="2200" dirty="0">
                <a:solidFill>
                  <a:srgbClr val="14202B"/>
                </a:solidFill>
                <a:latin typeface="Segoe UI" pitchFamily="34" charset="0"/>
                <a:ea typeface="Segoe UI" pitchFamily="34" charset="-122"/>
                <a:cs typeface="Segoe UI" pitchFamily="34" charset="-120"/>
              </a:rPr>
              <a:t>Session modes</a:t>
            </a:r>
            <a:endParaRPr lang="en-US" sz="2200" dirty="0"/>
          </a:p>
          <a:p>
            <a:pPr indent="0" marL="0">
              <a:buNone/>
            </a:pPr>
            <a:r>
              <a:rPr lang="en-US" sz="2200" dirty="0">
                <a:solidFill>
                  <a:srgbClr val="14202B"/>
                </a:solidFill>
                <a:latin typeface="Segoe UI" pitchFamily="34" charset="0"/>
                <a:ea typeface="Segoe UI" pitchFamily="34" charset="-122"/>
                <a:cs typeface="Segoe UI" pitchFamily="34" charset="-120"/>
              </a:rPr>
              <a:t>Tool permissions</a:t>
            </a:r>
            <a:endParaRPr lang="en-US" sz="2200" dirty="0"/>
          </a:p>
          <a:p>
            <a:pPr indent="0" marL="0">
              <a:buNone/>
            </a:pPr>
            <a:r>
              <a:rPr lang="en-US" sz="2200" dirty="0">
                <a:solidFill>
                  <a:srgbClr val="14202B"/>
                </a:solidFill>
                <a:latin typeface="Segoe UI" pitchFamily="34" charset="0"/>
                <a:ea typeface="Segoe UI" pitchFamily="34" charset="-122"/>
                <a:cs typeface="Segoe UI" pitchFamily="34" charset="-120"/>
              </a:rPr>
              <a:t>Local / cloud sandboxes</a:t>
            </a:r>
            <a:endParaRPr lang="en-US" sz="2200" dirty="0"/>
          </a:p>
          <a:p>
            <a:pPr indent="0" marL="0">
              <a:buNone/>
            </a:pPr>
            <a:r>
              <a:rPr lang="en-US" sz="2200" dirty="0">
                <a:solidFill>
                  <a:srgbClr val="14202B"/>
                </a:solidFill>
                <a:latin typeface="Segoe UI" pitchFamily="34" charset="0"/>
                <a:ea typeface="Segoe UI" pitchFamily="34" charset="-122"/>
                <a:cs typeface="Segoe UI" pitchFamily="34" charset="-120"/>
              </a:rPr>
              <a:t>Managed settings</a:t>
            </a:r>
            <a:endParaRPr lang="en-US" sz="2200" dirty="0"/>
          </a:p>
          <a:p>
            <a:pPr indent="0" marL="0">
              <a:buNone/>
            </a:pPr>
            <a:r>
              <a:rPr lang="en-US" sz="2200" dirty="0">
                <a:solidFill>
                  <a:srgbClr val="14202B"/>
                </a:solidFill>
                <a:latin typeface="Segoe UI" pitchFamily="34" charset="0"/>
                <a:ea typeface="Segoe UI" pitchFamily="34" charset="-122"/>
                <a:cs typeface="Segoe UI" pitchFamily="34" charset="-120"/>
              </a:rPr>
              <a:t>Content exclusion</a:t>
            </a:r>
            <a:endParaRPr lang="en-US" sz="2200" dirty="0"/>
          </a:p>
        </p:txBody>
      </p:sp>
      <p:sp>
        <p:nvSpPr>
          <p:cNvPr id="12" name="layout-panel"/>
          <p:cNvSpPr/>
          <p:nvPr/>
        </p:nvSpPr>
        <p:spPr>
          <a:xfrm>
            <a:off x="4233672" y="1828800"/>
            <a:ext cx="7397496" cy="3584448"/>
          </a:xfrm>
          <a:prstGeom prst="roundRect">
            <a:avLst>
              <a:gd name="adj" fmla="val 3061"/>
            </a:avLst>
          </a:prstGeom>
          <a:solidFill>
            <a:srgbClr val="FFFFFF"/>
          </a:solidFill>
          <a:ln w="8890">
            <a:solidFill>
              <a:srgbClr val="D4DDE7"/>
            </a:solidFill>
            <a:prstDash val="solid"/>
          </a:ln>
        </p:spPr>
      </p:sp>
      <p:sp>
        <p:nvSpPr>
          <p:cNvPr id="13" name="label"/>
          <p:cNvSpPr txBox="1"/>
          <p:nvPr/>
        </p:nvSpPr>
        <p:spPr>
          <a:xfrm>
            <a:off x="4462272" y="2039112"/>
            <a:ext cx="6958584" cy="292608"/>
          </a:xfrm>
          <a:prstGeom prst="rect">
            <a:avLst/>
          </a:prstGeom>
          <a:noFill/>
          <a:ln/>
        </p:spPr>
        <p:txBody>
          <a:bodyPr wrap="square" lIns="0" tIns="0" rIns="0" bIns="0" rtlCol="0" anchor="ctr"/>
          <a:lstStyle/>
          <a:p>
            <a:pPr indent="0" marL="0">
              <a:buNone/>
            </a:pPr>
            <a:r>
              <a:rPr lang="en-US" sz="1600" b="1" dirty="0">
                <a:solidFill>
                  <a:srgbClr val="8250DF"/>
                </a:solidFill>
                <a:latin typeface="Segoe UI" pitchFamily="34" charset="0"/>
                <a:ea typeface="Segoe UI" pitchFamily="34" charset="-122"/>
                <a:cs typeface="Segoe UI" pitchFamily="34" charset="-120"/>
              </a:rPr>
              <a:t>TWO CUSTOMER DECISIONS</a:t>
            </a:r>
            <a:endParaRPr lang="en-US" sz="1600" dirty="0"/>
          </a:p>
        </p:txBody>
      </p:sp>
      <p:sp>
        <p:nvSpPr>
          <p:cNvPr id="14" name="content"/>
          <p:cNvSpPr txBox="1"/>
          <p:nvPr/>
        </p:nvSpPr>
        <p:spPr>
          <a:xfrm>
            <a:off x="4480560" y="2624328"/>
            <a:ext cx="6876288" cy="448056"/>
          </a:xfrm>
          <a:prstGeom prst="rect">
            <a:avLst/>
          </a:prstGeom>
          <a:noFill/>
          <a:ln/>
        </p:spPr>
        <p:txBody>
          <a:bodyPr wrap="square" lIns="0" tIns="0" rIns="0" bIns="0" rtlCol="0" anchor="ctr"/>
          <a:lstStyle/>
          <a:p>
            <a:pPr indent="0" marL="0">
              <a:buNone/>
            </a:pPr>
            <a:r>
              <a:rPr lang="en-US" sz="2800" b="1" dirty="0">
                <a:solidFill>
                  <a:srgbClr val="14202B"/>
                </a:solidFill>
                <a:latin typeface="Segoe UI" pitchFamily="34" charset="0"/>
                <a:ea typeface="Segoe UI" pitchFamily="34" charset="-122"/>
                <a:cs typeface="Segoe UI" pitchFamily="34" charset="-120"/>
              </a:rPr>
              <a:t>1  Select the architecture</a:t>
            </a:r>
            <a:endParaRPr lang="en-US" sz="2800" dirty="0"/>
          </a:p>
        </p:txBody>
      </p:sp>
      <p:sp>
        <p:nvSpPr>
          <p:cNvPr id="15" name="content"/>
          <p:cNvSpPr txBox="1"/>
          <p:nvPr/>
        </p:nvSpPr>
        <p:spPr>
          <a:xfrm>
            <a:off x="4901184" y="3182112"/>
            <a:ext cx="6364224" cy="329184"/>
          </a:xfrm>
          <a:prstGeom prst="rect">
            <a:avLst/>
          </a:prstGeom>
          <a:noFill/>
          <a:ln/>
        </p:spPr>
        <p:txBody>
          <a:bodyPr wrap="square" lIns="0" tIns="0" rIns="0" bIns="0" rtlCol="0" anchor="ctr"/>
          <a:lstStyle/>
          <a:p>
            <a:pPr indent="0" marL="0">
              <a:buNone/>
            </a:pPr>
            <a:r>
              <a:rPr lang="en-US" sz="2000" dirty="0">
                <a:solidFill>
                  <a:srgbClr val="526174"/>
                </a:solidFill>
                <a:latin typeface="Segoe UI" pitchFamily="34" charset="0"/>
                <a:ea typeface="Segoe UI" pitchFamily="34" charset="-122"/>
                <a:cs typeface="Segoe UI" pitchFamily="34" charset="-120"/>
              </a:rPr>
              <a:t>Before a selected full dossier.</a:t>
            </a:r>
            <a:endParaRPr lang="en-US" sz="2000" dirty="0"/>
          </a:p>
        </p:txBody>
      </p:sp>
      <p:sp>
        <p:nvSpPr>
          <p:cNvPr id="16" name="content"/>
          <p:cNvSpPr txBox="1"/>
          <p:nvPr/>
        </p:nvSpPr>
        <p:spPr>
          <a:xfrm>
            <a:off x="4480560" y="3803904"/>
            <a:ext cx="6876288" cy="448056"/>
          </a:xfrm>
          <a:prstGeom prst="rect">
            <a:avLst/>
          </a:prstGeom>
          <a:noFill/>
          <a:ln/>
        </p:spPr>
        <p:txBody>
          <a:bodyPr wrap="square" lIns="0" tIns="0" rIns="0" bIns="0" rtlCol="0" anchor="ctr"/>
          <a:lstStyle/>
          <a:p>
            <a:pPr indent="0" marL="0">
              <a:buNone/>
            </a:pPr>
            <a:r>
              <a:rPr lang="en-US" sz="2500" b="1" dirty="0">
                <a:solidFill>
                  <a:srgbClr val="14202B"/>
                </a:solidFill>
                <a:latin typeface="Segoe UI" pitchFamily="34" charset="0"/>
                <a:ea typeface="Segoe UI" pitchFamily="34" charset="-122"/>
                <a:cs typeface="Segoe UI" pitchFamily="34" charset="-120"/>
              </a:rPr>
              <a:t>2  Approve the exact dossier revision</a:t>
            </a:r>
            <a:endParaRPr lang="en-US" sz="2500" dirty="0"/>
          </a:p>
        </p:txBody>
      </p:sp>
      <p:sp>
        <p:nvSpPr>
          <p:cNvPr id="17" name="content"/>
          <p:cNvSpPr txBox="1"/>
          <p:nvPr/>
        </p:nvSpPr>
        <p:spPr>
          <a:xfrm>
            <a:off x="4901184" y="4407408"/>
            <a:ext cx="6336792" cy="576072"/>
          </a:xfrm>
          <a:prstGeom prst="rect">
            <a:avLst/>
          </a:prstGeom>
          <a:noFill/>
          <a:ln/>
        </p:spPr>
        <p:txBody>
          <a:bodyPr wrap="square" lIns="0" tIns="0" rIns="0" bIns="0" rtlCol="0" anchor="ctr"/>
          <a:lstStyle/>
          <a:p>
            <a:pPr indent="0" marL="0">
              <a:buNone/>
            </a:pPr>
            <a:r>
              <a:rPr lang="en-US" sz="2000" dirty="0">
                <a:solidFill>
                  <a:srgbClr val="526174"/>
                </a:solidFill>
                <a:latin typeface="Segoe UI" pitchFamily="34" charset="0"/>
                <a:ea typeface="Segoe UI" pitchFamily="34" charset="-122"/>
                <a:cs typeface="Segoe UI" pitchFamily="34" charset="-120"/>
              </a:rPr>
              <a:t>In the customer workflow, with authorized people.</a:t>
            </a:r>
            <a:endParaRPr lang="en-US" sz="2000" dirty="0"/>
          </a:p>
        </p:txBody>
      </p:sp>
      <p:sp>
        <p:nvSpPr>
          <p:cNvPr id="18" name="caption"/>
          <p:cNvSpPr txBox="1"/>
          <p:nvPr/>
        </p:nvSpPr>
        <p:spPr>
          <a:xfrm>
            <a:off x="777240" y="5532120"/>
            <a:ext cx="10652760" cy="210312"/>
          </a:xfrm>
          <a:prstGeom prst="rect">
            <a:avLst/>
          </a:prstGeom>
          <a:noFill/>
          <a:ln/>
        </p:spPr>
        <p:txBody>
          <a:bodyPr wrap="square" lIns="0" tIns="0" rIns="0" bIns="0" rtlCol="0" anchor="ctr"/>
          <a:lstStyle/>
          <a:p>
            <a:pPr indent="0" marL="0">
              <a:buNone/>
            </a:pPr>
            <a:r>
              <a:rPr lang="en-US" sz="1400" dirty="0">
                <a:solidFill>
                  <a:srgbClr val="526174"/>
                </a:solidFill>
                <a:latin typeface="Segoe UI" pitchFamily="34" charset="0"/>
                <a:ea typeface="Segoe UI" pitchFamily="34" charset="-122"/>
                <a:cs typeface="Segoe UI" pitchFamily="34" charset="-120"/>
              </a:rPr>
              <a:t>Neither decision is recorded by this reference. Security review is assistance, not certification.</a:t>
            </a:r>
            <a:endParaRPr lang="en-US" sz="1400" dirty="0"/>
          </a:p>
        </p:txBody>
      </p:sp>
      <p:sp>
        <p:nvSpPr>
          <p:cNvPr id="19"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0"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MOSAIC stops at awaiting_human_review. No implementation, deployment or release authority.</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Put a value hypothesis behind the demo.</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S04, M05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13</a:t>
            </a:r>
            <a:endParaRPr lang="en-US" sz="1000" dirty="0"/>
          </a:p>
        </p:txBody>
      </p:sp>
      <p:sp>
        <p:nvSpPr>
          <p:cNvPr id="9" name="layout-panel"/>
          <p:cNvSpPr/>
          <p:nvPr/>
        </p:nvSpPr>
        <p:spPr>
          <a:xfrm>
            <a:off x="594360" y="1792224"/>
            <a:ext cx="7690104" cy="292608"/>
          </a:xfrm>
          <a:prstGeom prst="roundRect">
            <a:avLst>
              <a:gd name="adj" fmla="val 37500"/>
            </a:avLst>
          </a:prstGeom>
          <a:solidFill>
            <a:srgbClr val="8B5C00"/>
          </a:solidFill>
          <a:ln w="8890">
            <a:solidFill>
              <a:srgbClr val="8B5C00"/>
            </a:solidFill>
            <a:prstDash val="solid"/>
          </a:ln>
        </p:spPr>
      </p:sp>
      <p:sp>
        <p:nvSpPr>
          <p:cNvPr id="10" name="label"/>
          <p:cNvSpPr txBox="1"/>
          <p:nvPr/>
        </p:nvSpPr>
        <p:spPr>
          <a:xfrm>
            <a:off x="667512" y="1815084"/>
            <a:ext cx="754380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ILLUSTRATIVE PLANNING CASE - NOT MEASURED</a:t>
            </a:r>
            <a:endParaRPr lang="en-US" sz="1200" dirty="0"/>
          </a:p>
        </p:txBody>
      </p:sp>
      <p:sp>
        <p:nvSpPr>
          <p:cNvPr id="11" name="content"/>
          <p:cNvSpPr txBox="1"/>
          <p:nvPr/>
        </p:nvSpPr>
        <p:spPr>
          <a:xfrm>
            <a:off x="685800" y="2386584"/>
            <a:ext cx="2203704" cy="850392"/>
          </a:xfrm>
          <a:prstGeom prst="rect">
            <a:avLst/>
          </a:prstGeom>
          <a:noFill/>
          <a:ln/>
        </p:spPr>
        <p:txBody>
          <a:bodyPr wrap="square" lIns="0" tIns="0" rIns="0" bIns="0" rtlCol="0" anchor="ctr"/>
          <a:lstStyle/>
          <a:p>
            <a:pPr indent="0" marL="0">
              <a:buNone/>
            </a:pPr>
            <a:r>
              <a:rPr lang="en-US" sz="4800" b="1" dirty="0">
                <a:solidFill>
                  <a:srgbClr val="526174"/>
                </a:solidFill>
                <a:latin typeface="Segoe UI" pitchFamily="34" charset="0"/>
                <a:ea typeface="Segoe UI" pitchFamily="34" charset="-122"/>
                <a:cs typeface="Segoe UI" pitchFamily="34" charset="-120"/>
              </a:rPr>
              <a:t>96h</a:t>
            </a:r>
            <a:endParaRPr lang="en-US" sz="4800" dirty="0"/>
          </a:p>
        </p:txBody>
      </p:sp>
      <p:sp>
        <p:nvSpPr>
          <p:cNvPr id="12" name="content"/>
          <p:cNvSpPr txBox="1"/>
          <p:nvPr/>
        </p:nvSpPr>
        <p:spPr>
          <a:xfrm>
            <a:off x="731520" y="3328416"/>
            <a:ext cx="3255264" cy="384048"/>
          </a:xfrm>
          <a:prstGeom prst="rect">
            <a:avLst/>
          </a:prstGeom>
          <a:noFill/>
          <a:ln/>
        </p:spPr>
        <p:txBody>
          <a:bodyPr wrap="square" lIns="0" tIns="0" rIns="0" bIns="0" rtlCol="0" anchor="ctr"/>
          <a:lstStyle/>
          <a:p>
            <a:pPr indent="0" marL="0">
              <a:buNone/>
            </a:pPr>
            <a:r>
              <a:rPr lang="en-US" sz="2100" dirty="0">
                <a:solidFill>
                  <a:srgbClr val="14202B"/>
                </a:solidFill>
                <a:latin typeface="Segoe UI" pitchFamily="34" charset="0"/>
                <a:ea typeface="Segoe UI" pitchFamily="34" charset="-122"/>
                <a:cs typeface="Segoe UI" pitchFamily="34" charset="-120"/>
              </a:rPr>
              <a:t>Manual preparation</a:t>
            </a:r>
            <a:endParaRPr lang="en-US" sz="2100" dirty="0"/>
          </a:p>
        </p:txBody>
      </p:sp>
      <p:sp>
        <p:nvSpPr>
          <p:cNvPr id="13" name="content"/>
          <p:cNvSpPr txBox="1"/>
          <p:nvPr/>
        </p:nvSpPr>
        <p:spPr>
          <a:xfrm>
            <a:off x="4224528" y="2386584"/>
            <a:ext cx="2103120" cy="850392"/>
          </a:xfrm>
          <a:prstGeom prst="rect">
            <a:avLst/>
          </a:prstGeom>
          <a:noFill/>
          <a:ln/>
        </p:spPr>
        <p:txBody>
          <a:bodyPr wrap="square" lIns="0" tIns="0" rIns="0" bIns="0" rtlCol="0" anchor="ctr"/>
          <a:lstStyle/>
          <a:p>
            <a:pPr indent="0" marL="0">
              <a:buNone/>
            </a:pPr>
            <a:r>
              <a:rPr lang="en-US" sz="4800" b="1" dirty="0">
                <a:solidFill>
                  <a:srgbClr val="0969DA"/>
                </a:solidFill>
                <a:latin typeface="Segoe UI" pitchFamily="34" charset="0"/>
                <a:ea typeface="Segoe UI" pitchFamily="34" charset="-122"/>
                <a:cs typeface="Segoe UI" pitchFamily="34" charset="-120"/>
              </a:rPr>
              <a:t>16h</a:t>
            </a:r>
            <a:endParaRPr lang="en-US" sz="4800" dirty="0"/>
          </a:p>
        </p:txBody>
      </p:sp>
      <p:sp>
        <p:nvSpPr>
          <p:cNvPr id="14" name="content"/>
          <p:cNvSpPr txBox="1"/>
          <p:nvPr/>
        </p:nvSpPr>
        <p:spPr>
          <a:xfrm>
            <a:off x="4279392" y="3328416"/>
            <a:ext cx="3675888" cy="384048"/>
          </a:xfrm>
          <a:prstGeom prst="rect">
            <a:avLst/>
          </a:prstGeom>
          <a:noFill/>
          <a:ln/>
        </p:spPr>
        <p:txBody>
          <a:bodyPr wrap="square" lIns="0" tIns="0" rIns="0" bIns="0" rtlCol="0" anchor="ctr"/>
          <a:lstStyle/>
          <a:p>
            <a:pPr indent="0" marL="0">
              <a:buNone/>
            </a:pPr>
            <a:r>
              <a:rPr lang="en-US" sz="2100" dirty="0">
                <a:solidFill>
                  <a:srgbClr val="14202B"/>
                </a:solidFill>
                <a:latin typeface="Segoe UI" pitchFamily="34" charset="0"/>
                <a:ea typeface="Segoe UI" pitchFamily="34" charset="-122"/>
                <a:cs typeface="Segoe UI" pitchFamily="34" charset="-120"/>
              </a:rPr>
              <a:t>Retained human review</a:t>
            </a:r>
            <a:endParaRPr lang="en-US" sz="2100" dirty="0"/>
          </a:p>
        </p:txBody>
      </p:sp>
      <p:sp>
        <p:nvSpPr>
          <p:cNvPr id="15" name="content"/>
          <p:cNvSpPr txBox="1"/>
          <p:nvPr/>
        </p:nvSpPr>
        <p:spPr>
          <a:xfrm>
            <a:off x="8394192" y="2386584"/>
            <a:ext cx="2340864" cy="850392"/>
          </a:xfrm>
          <a:prstGeom prst="rect">
            <a:avLst/>
          </a:prstGeom>
          <a:noFill/>
          <a:ln/>
        </p:spPr>
        <p:txBody>
          <a:bodyPr wrap="square" lIns="0" tIns="0" rIns="0" bIns="0" rtlCol="0" anchor="ctr"/>
          <a:lstStyle/>
          <a:p>
            <a:pPr indent="0" marL="0">
              <a:buNone/>
            </a:pPr>
            <a:r>
              <a:rPr lang="en-US" sz="4800" b="1" dirty="0">
                <a:solidFill>
                  <a:srgbClr val="1A7F37"/>
                </a:solidFill>
                <a:latin typeface="Segoe UI" pitchFamily="34" charset="0"/>
                <a:ea typeface="Segoe UI" pitchFamily="34" charset="-122"/>
                <a:cs typeface="Segoe UI" pitchFamily="34" charset="-120"/>
              </a:rPr>
              <a:t>80h</a:t>
            </a:r>
            <a:endParaRPr lang="en-US" sz="4800" dirty="0"/>
          </a:p>
        </p:txBody>
      </p:sp>
      <p:sp>
        <p:nvSpPr>
          <p:cNvPr id="16" name="content"/>
          <p:cNvSpPr txBox="1"/>
          <p:nvPr/>
        </p:nvSpPr>
        <p:spPr>
          <a:xfrm>
            <a:off x="8421624" y="3328416"/>
            <a:ext cx="2907792" cy="384048"/>
          </a:xfrm>
          <a:prstGeom prst="rect">
            <a:avLst/>
          </a:prstGeom>
          <a:noFill/>
          <a:ln/>
        </p:spPr>
        <p:txBody>
          <a:bodyPr wrap="square" lIns="0" tIns="0" rIns="0" bIns="0" rtlCol="0" anchor="ctr"/>
          <a:lstStyle/>
          <a:p>
            <a:pPr indent="0" marL="0">
              <a:buNone/>
            </a:pPr>
            <a:r>
              <a:rPr lang="en-US" sz="2100" dirty="0">
                <a:solidFill>
                  <a:srgbClr val="14202B"/>
                </a:solidFill>
                <a:latin typeface="Segoe UI" pitchFamily="34" charset="0"/>
                <a:ea typeface="Segoe UI" pitchFamily="34" charset="-122"/>
                <a:cs typeface="Segoe UI" pitchFamily="34" charset="-120"/>
              </a:rPr>
              <a:t>Potential capacity</a:t>
            </a:r>
            <a:endParaRPr lang="en-US" sz="2100" dirty="0"/>
          </a:p>
        </p:txBody>
      </p:sp>
      <p:sp>
        <p:nvSpPr>
          <p:cNvPr id="17" name="layout-panel"/>
          <p:cNvSpPr/>
          <p:nvPr/>
        </p:nvSpPr>
        <p:spPr>
          <a:xfrm>
            <a:off x="731520" y="4142232"/>
            <a:ext cx="10597896" cy="384048"/>
          </a:xfrm>
          <a:prstGeom prst="rect">
            <a:avLst>
              <a:gd name="adj" fmla="val 28571"/>
            </a:avLst>
          </a:prstGeom>
          <a:solidFill>
            <a:srgbClr val="DCE4EF"/>
          </a:solidFill>
          <a:ln w="8890">
            <a:solidFill>
              <a:srgbClr val="DCE4EF"/>
            </a:solidFill>
            <a:prstDash val="solid"/>
          </a:ln>
        </p:spPr>
      </p:sp>
      <p:sp>
        <p:nvSpPr>
          <p:cNvPr id="18" name="layout-panel"/>
          <p:cNvSpPr/>
          <p:nvPr/>
        </p:nvSpPr>
        <p:spPr>
          <a:xfrm>
            <a:off x="731520" y="4142232"/>
            <a:ext cx="1766316" cy="384048"/>
          </a:xfrm>
          <a:prstGeom prst="rect">
            <a:avLst>
              <a:gd name="adj" fmla="val 28571"/>
            </a:avLst>
          </a:prstGeom>
          <a:solidFill>
            <a:srgbClr val="0969DA"/>
          </a:solidFill>
          <a:ln w="8890">
            <a:solidFill>
              <a:srgbClr val="0969DA"/>
            </a:solidFill>
            <a:prstDash val="solid"/>
          </a:ln>
        </p:spPr>
      </p:sp>
      <p:sp>
        <p:nvSpPr>
          <p:cNvPr id="19" name="layout-panel"/>
          <p:cNvSpPr/>
          <p:nvPr/>
        </p:nvSpPr>
        <p:spPr>
          <a:xfrm>
            <a:off x="2497836" y="4142232"/>
            <a:ext cx="8831580" cy="384048"/>
          </a:xfrm>
          <a:prstGeom prst="rect">
            <a:avLst>
              <a:gd name="adj" fmla="val 28571"/>
            </a:avLst>
          </a:prstGeom>
          <a:solidFill>
            <a:srgbClr val="9BE9A8"/>
          </a:solidFill>
          <a:ln w="8890">
            <a:solidFill>
              <a:srgbClr val="9BE9A8"/>
            </a:solidFill>
            <a:prstDash val="solid"/>
          </a:ln>
        </p:spPr>
      </p:sp>
      <p:sp>
        <p:nvSpPr>
          <p:cNvPr id="20" name="content"/>
          <p:cNvSpPr txBox="1"/>
          <p:nvPr/>
        </p:nvSpPr>
        <p:spPr>
          <a:xfrm>
            <a:off x="758952" y="4700016"/>
            <a:ext cx="10616184" cy="713232"/>
          </a:xfrm>
          <a:prstGeom prst="rect">
            <a:avLst/>
          </a:prstGeom>
          <a:noFill/>
          <a:ln/>
        </p:spPr>
        <p:txBody>
          <a:bodyPr wrap="square" lIns="0" tIns="0" rIns="0" bIns="0" rtlCol="0" anchor="ctr"/>
          <a:lstStyle/>
          <a:p>
            <a:pPr indent="0" marL="0">
              <a:buNone/>
            </a:pPr>
            <a:r>
              <a:rPr lang="en-US" sz="2100" b="1" dirty="0">
                <a:solidFill>
                  <a:srgbClr val="14202B"/>
                </a:solidFill>
                <a:latin typeface="Segoe UI" pitchFamily="34" charset="0"/>
                <a:ea typeface="Segoe UI" pitchFamily="34" charset="-122"/>
                <a:cs typeface="Segoe UI" pitchFamily="34" charset="-120"/>
              </a:rPr>
              <a:t>About 83% potential effort reduction.</a:t>
            </a:r>
            <a:endParaRPr lang="en-US" sz="2100" dirty="0"/>
          </a:p>
          <a:p>
            <a:pPr indent="0" marL="0">
              <a:buNone/>
            </a:pPr>
            <a:r>
              <a:rPr lang="en-US" sz="2100" b="1" dirty="0">
                <a:solidFill>
                  <a:srgbClr val="14202B"/>
                </a:solidFill>
                <a:latin typeface="Segoe UI" pitchFamily="34" charset="0"/>
                <a:ea typeface="Segoe UI" pitchFamily="34" charset="-122"/>
                <a:cs typeface="Segoe UI" pitchFamily="34" charset="-120"/>
              </a:rPr>
              <a:t>$16,000 gross capacity at an assumed $200/hour.</a:t>
            </a:r>
            <a:endParaRPr lang="en-US" sz="2100" dirty="0"/>
          </a:p>
        </p:txBody>
      </p:sp>
      <p:sp>
        <p:nvSpPr>
          <p:cNvPr id="21" name="caption"/>
          <p:cNvSpPr txBox="1"/>
          <p:nvPr/>
        </p:nvSpPr>
        <p:spPr>
          <a:xfrm>
            <a:off x="768096" y="5504688"/>
            <a:ext cx="10607040" cy="256032"/>
          </a:xfrm>
          <a:prstGeom prst="rect">
            <a:avLst/>
          </a:prstGeom>
          <a:noFill/>
          <a:ln/>
        </p:spPr>
        <p:txBody>
          <a:bodyPr wrap="square" lIns="0" tIns="0" rIns="0" bIns="0" rtlCol="0" anchor="ctr"/>
          <a:lstStyle/>
          <a:p>
            <a:pPr indent="0" marL="0">
              <a:buNone/>
            </a:pPr>
            <a:r>
              <a:rPr lang="en-US" sz="1350" dirty="0">
                <a:solidFill>
                  <a:srgbClr val="526174"/>
                </a:solidFill>
                <a:latin typeface="Segoe UI" pitchFamily="34" charset="0"/>
                <a:ea typeface="Segoe UI" pitchFamily="34" charset="-122"/>
                <a:cs typeface="Segoe UI" pitchFamily="34" charset="-120"/>
              </a:rPr>
              <a:t>Extra retained effort is zero in this base case. Subtract added effort and all incremental costs; capacity is not cash savings.</a:t>
            </a:r>
            <a:endParaRPr lang="en-US" sz="1350" dirty="0"/>
          </a:p>
        </p:txBody>
      </p:sp>
      <p:sp>
        <p:nvSpPr>
          <p:cNvPr id="22"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3"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Measure effort, elapsed time, corrections, reviewer quality and total incremental cost.</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CUSTOMER DEMO</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400" b="1" dirty="0">
                <a:solidFill>
                  <a:srgbClr val="14202B"/>
                </a:solidFill>
                <a:latin typeface="Bahnschrift" pitchFamily="34" charset="0"/>
                <a:ea typeface="Bahnschrift" pitchFamily="34" charset="-122"/>
                <a:cs typeface="Bahnschrift" pitchFamily="34" charset="-120"/>
              </a:rPr>
              <a:t>Prove the fit on your own workflow.</a:t>
            </a:r>
            <a:endParaRPr lang="en-US" sz="34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S02, S03, S08, M06  |  Synthetic reference; customer decisions remain with people.</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14</a:t>
            </a:r>
            <a:endParaRPr lang="en-US" sz="1000" dirty="0"/>
          </a:p>
        </p:txBody>
      </p:sp>
      <p:sp>
        <p:nvSpPr>
          <p:cNvPr id="9" name="layout-panel"/>
          <p:cNvSpPr/>
          <p:nvPr/>
        </p:nvSpPr>
        <p:spPr>
          <a:xfrm>
            <a:off x="548640" y="1828800"/>
            <a:ext cx="2651760" cy="3044952"/>
          </a:xfrm>
          <a:prstGeom prst="roundRect">
            <a:avLst>
              <a:gd name="adj" fmla="val 4138"/>
            </a:avLst>
          </a:prstGeom>
          <a:solidFill>
            <a:srgbClr val="FFFFFF"/>
          </a:solidFill>
          <a:ln w="8890">
            <a:solidFill>
              <a:srgbClr val="D4DDE7"/>
            </a:solidFill>
            <a:prstDash val="solid"/>
          </a:ln>
        </p:spPr>
      </p:sp>
      <p:sp>
        <p:nvSpPr>
          <p:cNvPr id="10" name="layout-panel"/>
          <p:cNvSpPr/>
          <p:nvPr/>
        </p:nvSpPr>
        <p:spPr>
          <a:xfrm>
            <a:off x="731520" y="2029968"/>
            <a:ext cx="329184" cy="50292"/>
          </a:xfrm>
          <a:prstGeom prst="rect">
            <a:avLst>
              <a:gd name="adj" fmla="val 218182"/>
            </a:avLst>
          </a:prstGeom>
          <a:solidFill>
            <a:srgbClr val="0969DA"/>
          </a:solidFill>
          <a:ln w="8890">
            <a:solidFill>
              <a:srgbClr val="0969DA"/>
            </a:solidFill>
            <a:prstDash val="solid"/>
          </a:ln>
        </p:spPr>
      </p:sp>
      <p:sp>
        <p:nvSpPr>
          <p:cNvPr id="11" name="content"/>
          <p:cNvSpPr txBox="1"/>
          <p:nvPr/>
        </p:nvSpPr>
        <p:spPr>
          <a:xfrm>
            <a:off x="731520" y="2212848"/>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1  Same task</a:t>
            </a:r>
            <a:endParaRPr lang="en-US" sz="2300" dirty="0"/>
          </a:p>
        </p:txBody>
      </p:sp>
      <p:sp>
        <p:nvSpPr>
          <p:cNvPr id="12" name="content"/>
          <p:cNvSpPr txBox="1"/>
          <p:nvPr/>
        </p:nvSpPr>
        <p:spPr>
          <a:xfrm>
            <a:off x="731520" y="2834640"/>
            <a:ext cx="2286000" cy="185623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Same approved task,</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evidence and acceptance criteria.</a:t>
            </a:r>
            <a:endParaRPr lang="en-US" sz="2000" dirty="0"/>
          </a:p>
        </p:txBody>
      </p:sp>
      <p:sp>
        <p:nvSpPr>
          <p:cNvPr id="13" name="layout-panel"/>
          <p:cNvSpPr/>
          <p:nvPr/>
        </p:nvSpPr>
        <p:spPr>
          <a:xfrm>
            <a:off x="3360420" y="1828800"/>
            <a:ext cx="2651760" cy="3044952"/>
          </a:xfrm>
          <a:prstGeom prst="roundRect">
            <a:avLst>
              <a:gd name="adj" fmla="val 4138"/>
            </a:avLst>
          </a:prstGeom>
          <a:solidFill>
            <a:srgbClr val="FFFFFF"/>
          </a:solidFill>
          <a:ln w="8890">
            <a:solidFill>
              <a:srgbClr val="D4DDE7"/>
            </a:solidFill>
            <a:prstDash val="solid"/>
          </a:ln>
        </p:spPr>
      </p:sp>
      <p:sp>
        <p:nvSpPr>
          <p:cNvPr id="14" name="layout-panel"/>
          <p:cNvSpPr/>
          <p:nvPr/>
        </p:nvSpPr>
        <p:spPr>
          <a:xfrm>
            <a:off x="3543300" y="2029968"/>
            <a:ext cx="329184" cy="50292"/>
          </a:xfrm>
          <a:prstGeom prst="rect">
            <a:avLst>
              <a:gd name="adj" fmla="val 218182"/>
            </a:avLst>
          </a:prstGeom>
          <a:solidFill>
            <a:srgbClr val="8250DF"/>
          </a:solidFill>
          <a:ln w="8890">
            <a:solidFill>
              <a:srgbClr val="8250DF"/>
            </a:solidFill>
            <a:prstDash val="solid"/>
          </a:ln>
        </p:spPr>
      </p:sp>
      <p:sp>
        <p:nvSpPr>
          <p:cNvPr id="15" name="content"/>
          <p:cNvSpPr txBox="1"/>
          <p:nvPr/>
        </p:nvSpPr>
        <p:spPr>
          <a:xfrm>
            <a:off x="3543300" y="2212848"/>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2  Compare</a:t>
            </a:r>
            <a:endParaRPr lang="en-US" sz="2300" dirty="0"/>
          </a:p>
        </p:txBody>
      </p:sp>
      <p:sp>
        <p:nvSpPr>
          <p:cNvPr id="16" name="content"/>
          <p:cNvSpPr txBox="1"/>
          <p:nvPr/>
        </p:nvSpPr>
        <p:spPr>
          <a:xfrm>
            <a:off x="3543300" y="2834640"/>
            <a:ext cx="2286000" cy="185623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Copilot App versus your current IDE or execution tool.</a:t>
            </a:r>
            <a:endParaRPr lang="en-US" sz="2000" dirty="0"/>
          </a:p>
        </p:txBody>
      </p:sp>
      <p:sp>
        <p:nvSpPr>
          <p:cNvPr id="17" name="layout-panel"/>
          <p:cNvSpPr/>
          <p:nvPr/>
        </p:nvSpPr>
        <p:spPr>
          <a:xfrm>
            <a:off x="6172200" y="1828800"/>
            <a:ext cx="2651760" cy="3044952"/>
          </a:xfrm>
          <a:prstGeom prst="roundRect">
            <a:avLst>
              <a:gd name="adj" fmla="val 4138"/>
            </a:avLst>
          </a:prstGeom>
          <a:solidFill>
            <a:srgbClr val="FFFFFF"/>
          </a:solidFill>
          <a:ln w="8890">
            <a:solidFill>
              <a:srgbClr val="D4DDE7"/>
            </a:solidFill>
            <a:prstDash val="solid"/>
          </a:ln>
        </p:spPr>
      </p:sp>
      <p:sp>
        <p:nvSpPr>
          <p:cNvPr id="18" name="layout-panel"/>
          <p:cNvSpPr/>
          <p:nvPr/>
        </p:nvSpPr>
        <p:spPr>
          <a:xfrm>
            <a:off x="6355080" y="2029968"/>
            <a:ext cx="329184" cy="50292"/>
          </a:xfrm>
          <a:prstGeom prst="rect">
            <a:avLst>
              <a:gd name="adj" fmla="val 218182"/>
            </a:avLst>
          </a:prstGeom>
          <a:solidFill>
            <a:srgbClr val="1A7F37"/>
          </a:solidFill>
          <a:ln w="8890">
            <a:solidFill>
              <a:srgbClr val="1A7F37"/>
            </a:solidFill>
            <a:prstDash val="solid"/>
          </a:ln>
        </p:spPr>
      </p:sp>
      <p:sp>
        <p:nvSpPr>
          <p:cNvPr id="19" name="content"/>
          <p:cNvSpPr txBox="1"/>
          <p:nvPr/>
        </p:nvSpPr>
        <p:spPr>
          <a:xfrm>
            <a:off x="6355080" y="2212848"/>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3  Measure</a:t>
            </a:r>
            <a:endParaRPr lang="en-US" sz="2300" dirty="0"/>
          </a:p>
        </p:txBody>
      </p:sp>
      <p:sp>
        <p:nvSpPr>
          <p:cNvPr id="20" name="content"/>
          <p:cNvSpPr txBox="1"/>
          <p:nvPr/>
        </p:nvSpPr>
        <p:spPr>
          <a:xfrm>
            <a:off x="6355080" y="2834640"/>
            <a:ext cx="2286000" cy="185623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Effort, handoffs,</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cycle time, quality,</a:t>
            </a:r>
            <a:endParaRPr lang="en-US" sz="2000" dirty="0"/>
          </a:p>
          <a:p>
            <a:pPr indent="0" marL="0">
              <a:buNone/>
            </a:pPr>
            <a:r>
              <a:rPr lang="en-US" sz="2000" dirty="0">
                <a:solidFill>
                  <a:srgbClr val="526174"/>
                </a:solidFill>
                <a:latin typeface="Segoe UI" pitchFamily="34" charset="0"/>
                <a:ea typeface="Segoe UI" pitchFamily="34" charset="-122"/>
                <a:cs typeface="Segoe UI" pitchFamily="34" charset="-120"/>
              </a:rPr>
              <a:t>corrections and cost.</a:t>
            </a:r>
            <a:endParaRPr lang="en-US" sz="2000" dirty="0"/>
          </a:p>
        </p:txBody>
      </p:sp>
      <p:sp>
        <p:nvSpPr>
          <p:cNvPr id="21" name="layout-panel"/>
          <p:cNvSpPr/>
          <p:nvPr/>
        </p:nvSpPr>
        <p:spPr>
          <a:xfrm>
            <a:off x="8983980" y="1828800"/>
            <a:ext cx="2651760" cy="3044952"/>
          </a:xfrm>
          <a:prstGeom prst="roundRect">
            <a:avLst>
              <a:gd name="adj" fmla="val 4138"/>
            </a:avLst>
          </a:prstGeom>
          <a:solidFill>
            <a:srgbClr val="FFFFFF"/>
          </a:solidFill>
          <a:ln w="8890">
            <a:solidFill>
              <a:srgbClr val="D4DDE7"/>
            </a:solidFill>
            <a:prstDash val="solid"/>
          </a:ln>
        </p:spPr>
      </p:sp>
      <p:sp>
        <p:nvSpPr>
          <p:cNvPr id="22" name="layout-panel"/>
          <p:cNvSpPr/>
          <p:nvPr/>
        </p:nvSpPr>
        <p:spPr>
          <a:xfrm>
            <a:off x="9166860" y="2029968"/>
            <a:ext cx="329184" cy="50292"/>
          </a:xfrm>
          <a:prstGeom prst="rect">
            <a:avLst>
              <a:gd name="adj" fmla="val 218182"/>
            </a:avLst>
          </a:prstGeom>
          <a:solidFill>
            <a:srgbClr val="0969DA"/>
          </a:solidFill>
          <a:ln w="8890">
            <a:solidFill>
              <a:srgbClr val="0969DA"/>
            </a:solidFill>
            <a:prstDash val="solid"/>
          </a:ln>
        </p:spPr>
      </p:sp>
      <p:sp>
        <p:nvSpPr>
          <p:cNvPr id="23" name="content"/>
          <p:cNvSpPr txBox="1"/>
          <p:nvPr/>
        </p:nvSpPr>
        <p:spPr>
          <a:xfrm>
            <a:off x="9166860" y="2212848"/>
            <a:ext cx="2286000" cy="530352"/>
          </a:xfrm>
          <a:prstGeom prst="rect">
            <a:avLst/>
          </a:prstGeom>
          <a:noFill/>
          <a:ln/>
        </p:spPr>
        <p:txBody>
          <a:bodyPr wrap="square" lIns="0" tIns="0" rIns="0" bIns="0" rtlCol="0" anchor="ctr"/>
          <a:lstStyle/>
          <a:p>
            <a:pPr indent="0" marL="0">
              <a:buNone/>
            </a:pPr>
            <a:r>
              <a:rPr lang="en-US" sz="2300" b="1" dirty="0">
                <a:solidFill>
                  <a:srgbClr val="14202B"/>
                </a:solidFill>
                <a:latin typeface="Segoe UI" pitchFamily="34" charset="0"/>
                <a:ea typeface="Segoe UI" pitchFamily="34" charset="-122"/>
                <a:cs typeface="Segoe UI" pitchFamily="34" charset="-120"/>
              </a:rPr>
              <a:t>4  Decide</a:t>
            </a:r>
            <a:endParaRPr lang="en-US" sz="2300" dirty="0"/>
          </a:p>
        </p:txBody>
      </p:sp>
      <p:sp>
        <p:nvSpPr>
          <p:cNvPr id="24" name="content"/>
          <p:cNvSpPr txBox="1"/>
          <p:nvPr/>
        </p:nvSpPr>
        <p:spPr>
          <a:xfrm>
            <a:off x="9166860" y="2834640"/>
            <a:ext cx="2286000" cy="1856232"/>
          </a:xfrm>
          <a:prstGeom prst="rect">
            <a:avLst/>
          </a:prstGeom>
          <a:noFill/>
          <a:ln/>
        </p:spPr>
        <p:txBody>
          <a:bodyPr wrap="square" lIns="0" tIns="0" rIns="0" bIns="0" rtlCol="0" anchor="t"/>
          <a:lstStyle/>
          <a:p>
            <a:pPr indent="0" marL="0">
              <a:buNone/>
            </a:pPr>
            <a:r>
              <a:rPr lang="en-US" sz="2000" dirty="0">
                <a:solidFill>
                  <a:srgbClr val="526174"/>
                </a:solidFill>
                <a:latin typeface="Segoe UI" pitchFamily="34" charset="0"/>
                <a:ea typeface="Segoe UI" pitchFamily="34" charset="-122"/>
                <a:cs typeface="Segoe UI" pitchFamily="34" charset="-120"/>
              </a:rPr>
              <a:t>Add approved extensions; scale only where the fit is proven.</a:t>
            </a:r>
            <a:endParaRPr lang="en-US" sz="2000" dirty="0"/>
          </a:p>
        </p:txBody>
      </p:sp>
      <p:sp>
        <p:nvSpPr>
          <p:cNvPr id="25" name="caption"/>
          <p:cNvSpPr txBox="1"/>
          <p:nvPr/>
        </p:nvSpPr>
        <p:spPr>
          <a:xfrm>
            <a:off x="777240" y="5230368"/>
            <a:ext cx="10616184" cy="448056"/>
          </a:xfrm>
          <a:prstGeom prst="rect">
            <a:avLst/>
          </a:prstGeom>
          <a:noFill/>
          <a:ln/>
        </p:spPr>
        <p:txBody>
          <a:bodyPr wrap="square" lIns="0" tIns="0" rIns="0" bIns="0" rtlCol="0" anchor="ctr"/>
          <a:lstStyle/>
          <a:p>
            <a:pPr indent="0" marL="0">
              <a:buNone/>
            </a:pPr>
            <a:r>
              <a:rPr lang="en-US" sz="1700" dirty="0">
                <a:solidFill>
                  <a:srgbClr val="526174"/>
                </a:solidFill>
                <a:latin typeface="Segoe UI" pitchFamily="34" charset="0"/>
                <a:ea typeface="Segoe UI" pitchFamily="34" charset="-122"/>
                <a:cs typeface="Segoe UI" pitchFamily="34" charset="-120"/>
              </a:rPr>
              <a:t>Record versions, models and configurations. No head-to-head result is claimed by this demo.</a:t>
            </a:r>
            <a:endParaRPr lang="en-US" sz="1700" dirty="0"/>
          </a:p>
        </p:txBody>
      </p:sp>
      <p:sp>
        <p:nvSpPr>
          <p:cNvPr id="26"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7"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 feature list is not a benchmark. Prove the workflow advantage with customer evidence.</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79C0FF"/>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B8C6D8"/>
                </a:solidFill>
                <a:latin typeface="Segoe UI" pitchFamily="34" charset="0"/>
                <a:ea typeface="Segoe UI" pitchFamily="34" charset="-122"/>
                <a:cs typeface="Segoe UI" pitchFamily="34" charset="-120"/>
              </a:rPr>
              <a:t>MOSAIC / CUSTOMER DEMO</a:t>
            </a:r>
            <a:endParaRPr lang="en-US" sz="1050" dirty="0"/>
          </a:p>
        </p:txBody>
      </p:sp>
      <p:sp>
        <p:nvSpPr>
          <p:cNvPr id="4" name="Shape 2"/>
          <p:cNvSpPr/>
          <p:nvPr/>
        </p:nvSpPr>
        <p:spPr>
          <a:xfrm>
            <a:off x="548640" y="6510528"/>
            <a:ext cx="11091672" cy="0"/>
          </a:xfrm>
          <a:prstGeom prst="line">
            <a:avLst/>
          </a:prstGeom>
          <a:noFill/>
          <a:ln w="12700">
            <a:solidFill>
              <a:srgbClr val="344256"/>
            </a:solidFill>
            <a:prstDash val="solid"/>
          </a:ln>
        </p:spPr>
      </p:sp>
      <p:sp>
        <p:nvSpPr>
          <p:cNvPr id="5"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B8C6D8"/>
                </a:solidFill>
                <a:latin typeface="Segoe UI" pitchFamily="34" charset="0"/>
                <a:ea typeface="Segoe UI" pitchFamily="34" charset="-122"/>
                <a:cs typeface="Segoe UI" pitchFamily="34" charset="-120"/>
              </a:rPr>
              <a:t>Sources: S01, S16, M02, M06  |  Synthetic reference; customer decisions remain with people.</a:t>
            </a:r>
            <a:endParaRPr lang="en-US" sz="900" dirty="0"/>
          </a:p>
        </p:txBody>
      </p:sp>
      <p:sp>
        <p:nvSpPr>
          <p:cNvPr id="6"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B8C6D8"/>
                </a:solidFill>
                <a:latin typeface="Segoe UI" pitchFamily="34" charset="0"/>
                <a:ea typeface="Segoe UI" pitchFamily="34" charset="-122"/>
                <a:cs typeface="Segoe UI" pitchFamily="34" charset="-120"/>
              </a:rPr>
              <a:t>15</a:t>
            </a:r>
            <a:endParaRPr lang="en-US" sz="1000" dirty="0"/>
          </a:p>
        </p:txBody>
      </p:sp>
      <p:sp>
        <p:nvSpPr>
          <p:cNvPr id="8" name="content"/>
          <p:cNvSpPr txBox="1"/>
          <p:nvPr/>
        </p:nvSpPr>
        <p:spPr>
          <a:xfrm>
            <a:off x="594360" y="1042416"/>
            <a:ext cx="10917936" cy="1572768"/>
          </a:xfrm>
          <a:prstGeom prst="rect">
            <a:avLst/>
          </a:prstGeom>
          <a:noFill/>
          <a:ln/>
        </p:spPr>
        <p:txBody>
          <a:bodyPr wrap="square" lIns="0" tIns="0" rIns="0" bIns="0" rtlCol="0" anchor="ctr"/>
          <a:lstStyle/>
          <a:p>
            <a:pPr indent="0" marL="0">
              <a:buNone/>
            </a:pPr>
            <a:r>
              <a:rPr lang="en-US" sz="4700" b="1" dirty="0">
                <a:solidFill>
                  <a:srgbClr val="FFFFFF"/>
                </a:solidFill>
                <a:latin typeface="Bahnschrift" pitchFamily="34" charset="0"/>
                <a:ea typeface="Bahnschrift" pitchFamily="34" charset="-122"/>
                <a:cs typeface="Bahnschrift" pitchFamily="34" charset="-120"/>
              </a:rPr>
              <a:t>Bring your next workflow</a:t>
            </a:r>
            <a:endParaRPr lang="en-US" sz="4700" dirty="0"/>
          </a:p>
          <a:p>
            <a:pPr indent="0" marL="0">
              <a:buNone/>
            </a:pPr>
            <a:r>
              <a:rPr lang="en-US" sz="4700" b="1" dirty="0">
                <a:solidFill>
                  <a:srgbClr val="FFFFFF"/>
                </a:solidFill>
                <a:latin typeface="Bahnschrift" pitchFamily="34" charset="0"/>
                <a:ea typeface="Bahnschrift" pitchFamily="34" charset="-122"/>
                <a:cs typeface="Bahnschrift" pitchFamily="34" charset="-120"/>
              </a:rPr>
              <a:t>to GitHub Copilot App.</a:t>
            </a:r>
            <a:endParaRPr lang="en-US" sz="4700" dirty="0"/>
          </a:p>
        </p:txBody>
      </p:sp>
      <p:sp>
        <p:nvSpPr>
          <p:cNvPr id="9" name="layout-panel"/>
          <p:cNvSpPr/>
          <p:nvPr/>
        </p:nvSpPr>
        <p:spPr>
          <a:xfrm>
            <a:off x="594360" y="3200400"/>
            <a:ext cx="3538728" cy="1764792"/>
          </a:xfrm>
          <a:prstGeom prst="roundRect">
            <a:avLst>
              <a:gd name="adj" fmla="val 6218"/>
            </a:avLst>
          </a:prstGeom>
          <a:solidFill>
            <a:srgbClr val="161F2B"/>
          </a:solidFill>
          <a:ln w="8890">
            <a:solidFill>
              <a:srgbClr val="344256"/>
            </a:solidFill>
            <a:prstDash val="solid"/>
          </a:ln>
        </p:spPr>
      </p:sp>
      <p:sp>
        <p:nvSpPr>
          <p:cNvPr id="10" name="content">
            <a:hlinkClick r:id="rId1" tooltip=""/>
          </p:cNvPr>
          <p:cNvSpPr txBox="1"/>
          <p:nvPr/>
        </p:nvSpPr>
        <p:spPr>
          <a:xfrm>
            <a:off x="795528" y="3502152"/>
            <a:ext cx="3136392" cy="475488"/>
          </a:xfrm>
          <a:prstGeom prst="rect">
            <a:avLst/>
          </a:prstGeom>
          <a:noFill/>
          <a:ln/>
        </p:spPr>
        <p:txBody>
          <a:bodyPr wrap="square" lIns="0" tIns="0" rIns="0" bIns="0" rtlCol="0" anchor="ctr"/>
          <a:lstStyle/>
          <a:p>
            <a:pPr indent="0" marL="0">
              <a:buNone/>
            </a:pPr>
            <a:r>
              <a:rPr lang="en-US" sz="2500" b="1" u="sng" dirty="0">
                <a:solidFill>
                  <a:srgbClr val="79C0FF"/>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Explore the App</a:t>
            </a:r>
            <a:endParaRPr lang="en-US" sz="2500" dirty="0"/>
          </a:p>
        </p:txBody>
      </p:sp>
      <p:sp>
        <p:nvSpPr>
          <p:cNvPr id="11" name="diagram"/>
          <p:cNvSpPr txBox="1"/>
          <p:nvPr/>
        </p:nvSpPr>
        <p:spPr>
          <a:xfrm>
            <a:off x="795528" y="4178808"/>
            <a:ext cx="3136392" cy="530352"/>
          </a:xfrm>
          <a:prstGeom prst="rect">
            <a:avLst/>
          </a:prstGeom>
          <a:noFill/>
          <a:ln/>
        </p:spPr>
        <p:txBody>
          <a:bodyPr wrap="square" lIns="0" tIns="0" rIns="0" bIns="0" rtlCol="0" anchor="ctr"/>
          <a:lstStyle/>
          <a:p>
            <a:pPr indent="0" marL="0">
              <a:buNone/>
            </a:pPr>
            <a:r>
              <a:rPr lang="en-US" sz="1800" dirty="0">
                <a:solidFill>
                  <a:srgbClr val="B8C6D8"/>
                </a:solidFill>
                <a:latin typeface="Segoe UI" pitchFamily="34" charset="0"/>
                <a:ea typeface="Segoe UI" pitchFamily="34" charset="-122"/>
                <a:cs typeface="Segoe UI" pitchFamily="34" charset="-120"/>
              </a:rPr>
              <a:t>Product capabilities</a:t>
            </a:r>
            <a:endParaRPr lang="en-US" sz="1800" dirty="0"/>
          </a:p>
        </p:txBody>
      </p:sp>
      <p:sp>
        <p:nvSpPr>
          <p:cNvPr id="12" name="layout-panel"/>
          <p:cNvSpPr/>
          <p:nvPr/>
        </p:nvSpPr>
        <p:spPr>
          <a:xfrm>
            <a:off x="4370832" y="3200400"/>
            <a:ext cx="3538728" cy="1764792"/>
          </a:xfrm>
          <a:prstGeom prst="roundRect">
            <a:avLst>
              <a:gd name="adj" fmla="val 6218"/>
            </a:avLst>
          </a:prstGeom>
          <a:solidFill>
            <a:srgbClr val="161F2B"/>
          </a:solidFill>
          <a:ln w="8890">
            <a:solidFill>
              <a:srgbClr val="344256"/>
            </a:solidFill>
            <a:prstDash val="solid"/>
          </a:ln>
        </p:spPr>
      </p:sp>
      <p:sp>
        <p:nvSpPr>
          <p:cNvPr id="13" name="content">
            <a:hlinkClick r:id="rId2" tooltip=""/>
          </p:cNvPr>
          <p:cNvSpPr txBox="1"/>
          <p:nvPr/>
        </p:nvSpPr>
        <p:spPr>
          <a:xfrm>
            <a:off x="4572000" y="3502152"/>
            <a:ext cx="3136392" cy="475488"/>
          </a:xfrm>
          <a:prstGeom prst="rect">
            <a:avLst/>
          </a:prstGeom>
          <a:noFill/>
          <a:ln/>
        </p:spPr>
        <p:txBody>
          <a:bodyPr wrap="square" lIns="0" tIns="0" rIns="0" bIns="0" rtlCol="0" anchor="ctr"/>
          <a:lstStyle/>
          <a:p>
            <a:pPr indent="0" marL="0">
              <a:buNone/>
            </a:pPr>
            <a:r>
              <a:rPr lang="en-US" sz="2500" b="1" u="sng" dirty="0">
                <a:solidFill>
                  <a:srgbClr val="79C0FF"/>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Replay MOSAIC</a:t>
            </a:r>
            <a:endParaRPr lang="en-US" sz="2500" dirty="0"/>
          </a:p>
        </p:txBody>
      </p:sp>
      <p:sp>
        <p:nvSpPr>
          <p:cNvPr id="14" name="diagram"/>
          <p:cNvSpPr txBox="1"/>
          <p:nvPr/>
        </p:nvSpPr>
        <p:spPr>
          <a:xfrm>
            <a:off x="4572000" y="4178808"/>
            <a:ext cx="3136392" cy="530352"/>
          </a:xfrm>
          <a:prstGeom prst="rect">
            <a:avLst/>
          </a:prstGeom>
          <a:noFill/>
          <a:ln/>
        </p:spPr>
        <p:txBody>
          <a:bodyPr wrap="square" lIns="0" tIns="0" rIns="0" bIns="0" rtlCol="0" anchor="ctr"/>
          <a:lstStyle/>
          <a:p>
            <a:pPr indent="0" marL="0">
              <a:buNone/>
            </a:pPr>
            <a:r>
              <a:rPr lang="en-US" sz="1800" dirty="0">
                <a:solidFill>
                  <a:srgbClr val="B8C6D8"/>
                </a:solidFill>
                <a:latin typeface="Segoe UI" pitchFamily="34" charset="0"/>
                <a:ea typeface="Segoe UI" pitchFamily="34" charset="-122"/>
                <a:cs typeface="Segoe UI" pitchFamily="34" charset="-120"/>
              </a:rPr>
              <a:t>Authentic 2:55 workflow</a:t>
            </a:r>
            <a:endParaRPr lang="en-US" sz="1800" dirty="0"/>
          </a:p>
        </p:txBody>
      </p:sp>
      <p:sp>
        <p:nvSpPr>
          <p:cNvPr id="15" name="layout-panel"/>
          <p:cNvSpPr/>
          <p:nvPr/>
        </p:nvSpPr>
        <p:spPr>
          <a:xfrm>
            <a:off x="8147304" y="3200400"/>
            <a:ext cx="3538728" cy="1764792"/>
          </a:xfrm>
          <a:prstGeom prst="roundRect">
            <a:avLst>
              <a:gd name="adj" fmla="val 6218"/>
            </a:avLst>
          </a:prstGeom>
          <a:solidFill>
            <a:srgbClr val="161F2B"/>
          </a:solidFill>
          <a:ln w="8890">
            <a:solidFill>
              <a:srgbClr val="344256"/>
            </a:solidFill>
            <a:prstDash val="solid"/>
          </a:ln>
        </p:spPr>
      </p:sp>
      <p:sp>
        <p:nvSpPr>
          <p:cNvPr id="16" name="content">
            <a:hlinkClick r:id="rId3" tooltip=""/>
          </p:cNvPr>
          <p:cNvSpPr txBox="1"/>
          <p:nvPr/>
        </p:nvSpPr>
        <p:spPr>
          <a:xfrm>
            <a:off x="8348472" y="3502152"/>
            <a:ext cx="3136392" cy="475488"/>
          </a:xfrm>
          <a:prstGeom prst="rect">
            <a:avLst/>
          </a:prstGeom>
          <a:noFill/>
          <a:ln/>
        </p:spPr>
        <p:txBody>
          <a:bodyPr wrap="square" lIns="0" tIns="0" rIns="0" bIns="0" rtlCol="0" anchor="ctr"/>
          <a:lstStyle/>
          <a:p>
            <a:pPr indent="0" marL="0">
              <a:buNone/>
            </a:pPr>
            <a:r>
              <a:rPr lang="en-US" sz="2500" b="1" u="sng" dirty="0">
                <a:solidFill>
                  <a:srgbClr val="79C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Compare the fit</a:t>
            </a:r>
            <a:endParaRPr lang="en-US" sz="2500" dirty="0"/>
          </a:p>
        </p:txBody>
      </p:sp>
      <p:sp>
        <p:nvSpPr>
          <p:cNvPr id="17" name="diagram"/>
          <p:cNvSpPr txBox="1"/>
          <p:nvPr/>
        </p:nvSpPr>
        <p:spPr>
          <a:xfrm>
            <a:off x="8348472" y="4178808"/>
            <a:ext cx="3136392" cy="530352"/>
          </a:xfrm>
          <a:prstGeom prst="rect">
            <a:avLst/>
          </a:prstGeom>
          <a:noFill/>
          <a:ln/>
        </p:spPr>
        <p:txBody>
          <a:bodyPr wrap="square" lIns="0" tIns="0" rIns="0" bIns="0" rtlCol="0" anchor="ctr"/>
          <a:lstStyle/>
          <a:p>
            <a:pPr indent="0" marL="0">
              <a:buNone/>
            </a:pPr>
            <a:r>
              <a:rPr lang="en-US" sz="1800" dirty="0">
                <a:solidFill>
                  <a:srgbClr val="B8C6D8"/>
                </a:solidFill>
                <a:latin typeface="Segoe UI" pitchFamily="34" charset="0"/>
                <a:ea typeface="Segoe UI" pitchFamily="34" charset="-122"/>
                <a:cs typeface="Segoe UI" pitchFamily="34" charset="-120"/>
              </a:rPr>
              <a:t>Measure fit before scaling</a:t>
            </a:r>
            <a:endParaRPr lang="en-US" sz="1800" dirty="0"/>
          </a:p>
        </p:txBody>
      </p:sp>
      <p:sp>
        <p:nvSpPr>
          <p:cNvPr id="18" name="caption"/>
          <p:cNvSpPr txBox="1"/>
          <p:nvPr/>
        </p:nvSpPr>
        <p:spPr>
          <a:xfrm>
            <a:off x="777240" y="5276088"/>
            <a:ext cx="10671048" cy="502920"/>
          </a:xfrm>
          <a:prstGeom prst="rect">
            <a:avLst/>
          </a:prstGeom>
          <a:noFill/>
          <a:ln/>
        </p:spPr>
        <p:txBody>
          <a:bodyPr wrap="square" lIns="0" tIns="0" rIns="0" bIns="0" rtlCol="0" anchor="ctr"/>
          <a:lstStyle/>
          <a:p>
            <a:pPr indent="0" marL="0">
              <a:buNone/>
            </a:pPr>
            <a:r>
              <a:rPr lang="en-US" sz="1700" dirty="0">
                <a:solidFill>
                  <a:srgbClr val="B8C6D8"/>
                </a:solidFill>
                <a:latin typeface="Segoe UI" pitchFamily="34" charset="0"/>
                <a:ea typeface="Segoe UI" pitchFamily="34" charset="-122"/>
                <a:cs typeface="Segoe UI" pitchFamily="34" charset="-120"/>
              </a:rPr>
              <a:t>Agent engine + extensible workspace + GitHub-connected review.</a:t>
            </a:r>
            <a:endParaRPr lang="en-US" sz="1700" dirty="0"/>
          </a:p>
          <a:p>
            <a:pPr indent="0" marL="0">
              <a:buNone/>
            </a:pPr>
            <a:r>
              <a:rPr lang="en-US" sz="1700" dirty="0">
                <a:solidFill>
                  <a:srgbClr val="B8C6D8"/>
                </a:solidFill>
                <a:latin typeface="Segoe UI" pitchFamily="34" charset="0"/>
                <a:ea typeface="Segoe UI" pitchFamily="34" charset="-122"/>
                <a:cs typeface="Segoe UI" pitchFamily="34" charset="-120"/>
              </a:rPr>
              <a:t>Your expertise becomes the workflow. People retain the decision rights.</a:t>
            </a:r>
            <a:endParaRPr lang="en-US" sz="1700" dirty="0"/>
          </a:p>
        </p:txBody>
      </p:sp>
      <p:sp>
        <p:nvSpPr>
          <p:cNvPr id="19" name="layout-panel"/>
          <p:cNvSpPr/>
          <p:nvPr/>
        </p:nvSpPr>
        <p:spPr>
          <a:xfrm>
            <a:off x="548640" y="5916168"/>
            <a:ext cx="11091672" cy="448056"/>
          </a:xfrm>
          <a:prstGeom prst="roundRect">
            <a:avLst>
              <a:gd name="adj" fmla="val 24490"/>
            </a:avLst>
          </a:prstGeom>
          <a:solidFill>
            <a:srgbClr val="233043"/>
          </a:solidFill>
          <a:ln w="8890">
            <a:solidFill>
              <a:srgbClr val="233043"/>
            </a:solidFill>
            <a:prstDash val="solid"/>
          </a:ln>
        </p:spPr>
      </p:sp>
      <p:sp>
        <p:nvSpPr>
          <p:cNvPr id="20"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79C0FF"/>
                </a:solidFill>
                <a:latin typeface="Segoe UI" pitchFamily="34" charset="0"/>
                <a:ea typeface="Segoe UI" pitchFamily="34" charset="-122"/>
                <a:cs typeface="Segoe UI" pitchFamily="34" charset="-120"/>
              </a:rPr>
              <a:t>Connect more of the work. Reuse more of the expertise. Keep people accountable.</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1/10: Intake and direction</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S03, M01, M02, S04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16</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F01  Chats before a workspace</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Scope a need before opening an implementation workstream.</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S03 / main 2</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F02  Interactive sessions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Ask relevant business questions in the App; keep the requester involved.</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1A7F37"/>
                </a:solidFill>
                <a:latin typeface="Segoe UI" pitchFamily="34" charset="0"/>
                <a:ea typeface="Segoe UI" pitchFamily="34" charset="-122"/>
                <a:cs typeface="Segoe UI" pitchFamily="34" charset="-120"/>
              </a:rPr>
              <a:t>App proof</a:t>
            </a:r>
            <a:endParaRPr lang="en-US" sz="1250" dirty="0"/>
          </a:p>
          <a:p>
            <a:pPr indent="0" marL="0">
              <a:buNone/>
            </a:pPr>
            <a:r>
              <a:rPr lang="en-US" sz="1250" dirty="0">
                <a:solidFill>
                  <a:srgbClr val="1A7F37"/>
                </a:solidFill>
                <a:latin typeface="Segoe UI" pitchFamily="34" charset="0"/>
                <a:ea typeface="Segoe UI" pitchFamily="34" charset="-122"/>
                <a:cs typeface="Segoe UI" pitchFamily="34" charset="-120"/>
              </a:rPr>
              <a:t>S03, M01 / main 4</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F03  Plan mode</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Declare sources, tools, output and stop conditions before generation.</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Configured</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M02 / main 12</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F04  Autopilot mode</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Run an approved, bounded preparation task; never bypass customer decisions.</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M02 / main 12</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F05  File and folder attachments</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Bring approved briefs into context; @ files and # issues reduce re-entry.</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2</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F06  Voice dictation</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Speak an intake prompt, then review the locally transcribed text before sending.</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 main 2</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2/10: Workspaces and reach</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S03, S05, S04, S16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17</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F07  Parallel sessions and worktrees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Prepare independent workstreams on separate branches, then reconcile changes.</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S03 / main 7</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F08  Local folders and Git URLs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Reuse the workflow in an approved local repo, including non-GitHub Git hosts.</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 main 14</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F09  Cloud sandboxes + setup skill</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Move suitable work off the laptop; configure the cloud environment explicitly.</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S05 / main 14</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F10  Local sandbox controls</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Limit tool access to files, networks and credentials where supported.</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12</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F11  Remote session control</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Steer an authorized session from GitHub.com or GitHub Mobile, subject to policy.</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 main 11</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F12  Deep links into the App</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Launch a scoped intake from an internal portal or ticket; never put secrets in URLs.</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S16 / main 15</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3/10: Models and the shared runtime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S15, M02, S03, S04, S10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18</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F13  Copilot CLI agent harness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Reuse planning and tool execution; MOSAIC supplies domain rules and validation.</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App + worker</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S15, M02 / main 8</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F14  Model selection</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Choose a permitted model for the task instead of tying the workflow to one model.</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8</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F15  Auto model selection</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Let the App select a model for task complexity; evaluate quality and consumption.</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 main 8</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F16  Reasoning effort</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Allocate more reasoning to difficult tradeoffs, less to straightforward preparation.</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 main 8</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F17  Bring your own key (BYOK)</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Evaluate approved hosted or local providers; this is a preview App capability.</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S10 / main 8</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F18  Copilot SDK integration</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Embed the same CLI engine in a future service; separate from this App experience.</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SDK path</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S15, M02 / main 8</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4/10: Connected business context</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S02, S14, M07, S08, S09, S20, S19, M02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19</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F19  Local / remote MCP and toolsets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Connect approved tools. App proof: two read-only tools, four synthetic sources.</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1A7F37"/>
                </a:solidFill>
                <a:latin typeface="Segoe UI" pitchFamily="34" charset="0"/>
                <a:ea typeface="Segoe UI" pitchFamily="34" charset="-122"/>
                <a:cs typeface="Segoe UI" pitchFamily="34" charset="-120"/>
              </a:rPr>
              <a:t>App proof</a:t>
            </a:r>
            <a:endParaRPr lang="en-US" sz="1250" dirty="0"/>
          </a:p>
          <a:p>
            <a:pPr indent="0" marL="0">
              <a:buNone/>
            </a:pPr>
            <a:r>
              <a:rPr lang="en-US" sz="1250" dirty="0">
                <a:solidFill>
                  <a:srgbClr val="1A7F37"/>
                </a:solidFill>
                <a:latin typeface="Segoe UI" pitchFamily="34" charset="0"/>
                <a:ea typeface="Segoe UI" pitchFamily="34" charset="-122"/>
                <a:cs typeface="Segoe UI" pitchFamily="34" charset="-120"/>
              </a:rPr>
              <a:t>S02, S14, M07 / main 5</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F20  WorkIQ</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Propose permissioned M365 evidence retrieval; its full tool surface also has writes.</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S08, S09 / main 5</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F21  WorkIQ preview</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Evaluate retrieve-first grounding and exact operations; tenant-gated, not automatic.</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S08, S09 / main 5</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F22  WorkIQ productivity</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Use the ten read-only insight skills for approved project and engagement context.</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S08 / main 5</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F23  Azure DevOps MCP</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Bring approved work items, repo, wiki, pipeline and test context into preparation.</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S20, S14 / main 5</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F24  Browser tools via Playwright MCP</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Inspect and exercise approved report UIs; an optional integration, not App footage.</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S19, M02 / main 9</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5/10: Reusable expertise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S02, S04, M02, S17, M07, S18, M04, S06, S05, S14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20</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F25  Global App instructions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Set organization-approved expectations for every session, not just one prompt.</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S02 / main 6</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F26  Repository instructions + /init</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Version MOSAIC workflow, evidence boundaries and human-review requirements.</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Configured</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S02, S04, M02 / main 6</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F27  Project and personal skills</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Package repeatable intake/review procedures; manage and reload skills as needed.</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1A7F37"/>
                </a:solidFill>
                <a:latin typeface="Segoe UI" pitchFamily="34" charset="0"/>
                <a:ea typeface="Segoe UI" pitchFamily="34" charset="-122"/>
                <a:cs typeface="Segoe UI" pitchFamily="34" charset="-120"/>
              </a:rPr>
              <a:t>App proof</a:t>
            </a:r>
            <a:endParaRPr lang="en-US" sz="1250" dirty="0"/>
          </a:p>
          <a:p>
            <a:pPr indent="0" marL="0">
              <a:buNone/>
            </a:pPr>
            <a:r>
              <a:rPr lang="en-US" sz="1250" dirty="0">
                <a:solidFill>
                  <a:srgbClr val="1A7F37"/>
                </a:solidFill>
                <a:latin typeface="Segoe UI" pitchFamily="34" charset="0"/>
                <a:ea typeface="Segoe UI" pitchFamily="34" charset="-122"/>
                <a:cs typeface="Segoe UI" pitchFamily="34" charset="-120"/>
              </a:rPr>
              <a:t>S17, S04, M07 / main 6</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F28  Custom agents and tool scopes</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Select the Orchestrator and reuse four specialist profiles; constrain their tools.</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Configured</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S18, M04 / main 7</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F29  Plugins and marketplaces</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Distribute approved skills, agents, hooks, MCP and canvases as a reusable package.</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S02, S06 / main 6</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F30  Agent Finder + MCP Registry</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Discover relevant tools, agents, skills and servers; inspect before installing.</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S05, S14 / main 6</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6/10: Extension interfaces</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S02, S06, S07, S05, S11, S08, S14, M02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21</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F31  Plugin hooks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Add supported lifecycle checks or audit integrations; validate enforcement behavior.</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S02, S06 / main 6</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F32  Plugin LSP configurations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Supply language-aware context for future code work; client support must be verified.</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S06 / main 6</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F33  Canvases and canvas extensions</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Build a shared intake, options or evidence board with human and agent actions.</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S07, S05 / main 9</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F34  Computer use</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Reach GUI-only applications on Windows/macOS; opt-in preview, disabled by default.</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S11 / main 9</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F35  M365 Agents Toolkit plugin</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Support a later M365 agent build/evaluation handoff under separate implementation authority.</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S08 / main 5</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F36  Customer-specific MCP adapters</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Extend to approved knowledge or business systems; no prebuilt adapter is assumed.</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S14, M02 / main 5</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7/10: Delegation and challenge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S04, S05, M04, S03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22</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F37  Cross-session orchestration</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Coordinate child sessions and repositories for a larger, explicitly scoped engagement.</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S05 / main 7</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F38  Parallel agent fleets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Split an independent task into parallel specialist work, then reconcile the result.</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M04 / main 7</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F39  Focused child sessions</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Delegate a bounded evidence or architecture question without losing the parent task.</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 main 7</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F40  Session fork and merge</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Explore a branch of the work and deliberately bring accepted changes back.</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 main 7</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F41  Cited research</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Investigate approved sources and retain citations; findings still need qualified review.</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 main 8</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F42  Rubber duck and sparring</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Use a different-model critique and adversarial reasoning; neither grants approval.</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8</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8/10: GitHub-native accountability</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S12, S04, M02, S05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23</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F43  My work, filters and inbox</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Find requests and review obligations in one App workspace.</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S12, S04 / main 10</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F44  Issue context and templates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Start an intake from an issue, or create a scoped follow-up using repo conventions.</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S12 / main 10</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F45  PRs, diffs and review comments</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Open a reviewable change, inspect it, and address feedback using the repo template.</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S12, S04 / main 10</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F46  CI checks and targeted fixes</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See check results and ask for fixes; local tests are not evidence of hosted CI.</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S12, S04, M02 / main 10</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F47  Stacked pull requests</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Separate dependent changes into reviewable layers with child sessions.</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S05 / main 10</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F48  Agent merge and PR merge</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App can resolve blockers and merge. MOSAIC does not treat a merge as customer approval.</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8B5C00"/>
                </a:solidFill>
                <a:latin typeface="Segoe UI" pitchFamily="34" charset="0"/>
                <a:ea typeface="Segoe UI" pitchFamily="34" charset="-122"/>
                <a:cs typeface="Segoe UI" pitchFamily="34" charset="-120"/>
              </a:rPr>
              <a:t>Restricted</a:t>
            </a:r>
            <a:endParaRPr lang="en-US" sz="1250" dirty="0"/>
          </a:p>
          <a:p>
            <a:pPr indent="0" marL="0">
              <a:buNone/>
            </a:pPr>
            <a:r>
              <a:rPr lang="en-US" sz="1250" dirty="0">
                <a:solidFill>
                  <a:srgbClr val="8B5C00"/>
                </a:solidFill>
                <a:latin typeface="Segoe UI" pitchFamily="34" charset="0"/>
                <a:ea typeface="Segoe UI" pitchFamily="34" charset="-122"/>
                <a:cs typeface="Segoe UI" pitchFamily="34" charset="-120"/>
              </a:rPr>
              <a:t>S12, S05, S04 / main 10</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9/10: Continuity and efficiency</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M02, S03, S04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24</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F49  Scheduled / on-demand automations</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Propose recurring evidence-refresh drafts; no automatic customer approval or release.</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M02 / main 11</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F50  Chronicle history and insights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Search, summarize, reindex and improve sessions; history is not approved evidence.</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11</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F51  Context usage and compaction</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Inspect context pressure and summarize long sessions; retain the authoritative dossier.</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 main 11</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F52  Session and chat management</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Rename, restart, clear, archive, restore, search and manage storage deliberately.</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11</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F53  Usage and rate-limit visibility</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Monitor the App allowance and usage; distinguish it from MOSAIC worker cost records.</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S04, M02 / main 13</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F54  Terminal and local tool execution</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Run approved preparation and validation workers from the App-directed workflow.</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App + worker</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S04, M02 / main 8</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Feature reference 10/10: Control and administration</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S04, M02, S02, S13, S01, S03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25</a:t>
            </a:r>
            <a:endParaRPr lang="en-US" sz="1000" dirty="0"/>
          </a:p>
        </p:txBody>
      </p:sp>
      <p:sp>
        <p:nvSpPr>
          <p:cNvPr id="9" name="label"/>
          <p:cNvSpPr txBox="1"/>
          <p:nvPr/>
        </p:nvSpPr>
        <p:spPr>
          <a:xfrm>
            <a:off x="630936" y="1755648"/>
            <a:ext cx="2999232"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APP / HARNESS CAPABILITY</a:t>
            </a:r>
            <a:endParaRPr lang="en-US" sz="1200" dirty="0"/>
          </a:p>
        </p:txBody>
      </p:sp>
      <p:sp>
        <p:nvSpPr>
          <p:cNvPr id="10" name="label"/>
          <p:cNvSpPr txBox="1"/>
          <p:nvPr/>
        </p:nvSpPr>
        <p:spPr>
          <a:xfrm>
            <a:off x="3712464" y="1755648"/>
            <a:ext cx="5349240" cy="265176"/>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HOW IT COULD EXTEND MOSAIC</a:t>
            </a:r>
            <a:endParaRPr lang="en-US" sz="1200" dirty="0"/>
          </a:p>
        </p:txBody>
      </p:sp>
      <p:sp>
        <p:nvSpPr>
          <p:cNvPr id="11" name="label"/>
          <p:cNvSpPr txBox="1"/>
          <p:nvPr/>
        </p:nvSpPr>
        <p:spPr>
          <a:xfrm>
            <a:off x="9144000" y="1755648"/>
            <a:ext cx="2450592" cy="265176"/>
          </a:xfrm>
          <a:prstGeom prst="rect">
            <a:avLst/>
          </a:prstGeom>
          <a:noFill/>
          <a:ln/>
        </p:spPr>
        <p:txBody>
          <a:bodyPr wrap="square" lIns="0" tIns="0" rIns="0" bIns="0" rtlCol="0" anchor="ctr"/>
          <a:lstStyle/>
          <a:p>
            <a:pPr indent="0" marL="0">
              <a:buNone/>
            </a:pPr>
            <a:r>
              <a:rPr lang="en-US" sz="1100" b="1" dirty="0">
                <a:solidFill>
                  <a:srgbClr val="0969DA"/>
                </a:solidFill>
                <a:latin typeface="Segoe UI" pitchFamily="34" charset="0"/>
                <a:ea typeface="Segoe UI" pitchFamily="34" charset="-122"/>
                <a:cs typeface="Segoe UI" pitchFamily="34" charset="-120"/>
              </a:rPr>
              <a:t>MOSAIC STATE / SOURCES</a:t>
            </a:r>
            <a:endParaRPr lang="en-US" sz="1100" dirty="0"/>
          </a:p>
        </p:txBody>
      </p:sp>
      <p:sp>
        <p:nvSpPr>
          <p:cNvPr id="12" name="layout-panel"/>
          <p:cNvSpPr/>
          <p:nvPr/>
        </p:nvSpPr>
        <p:spPr>
          <a:xfrm>
            <a:off x="548640" y="2148840"/>
            <a:ext cx="11091672" cy="585216"/>
          </a:xfrm>
          <a:prstGeom prst="rect">
            <a:avLst>
              <a:gd name="adj" fmla="val 18750"/>
            </a:avLst>
          </a:prstGeom>
          <a:solidFill>
            <a:srgbClr val="FFFFFF"/>
          </a:solidFill>
          <a:ln w="8890">
            <a:solidFill>
              <a:srgbClr val="FFFFFF"/>
            </a:solidFill>
            <a:prstDash val="solid"/>
          </a:ln>
        </p:spPr>
      </p:sp>
      <p:sp>
        <p:nvSpPr>
          <p:cNvPr id="13" name="reference"/>
          <p:cNvSpPr txBox="1"/>
          <p:nvPr/>
        </p:nvSpPr>
        <p:spPr>
          <a:xfrm>
            <a:off x="640080" y="219456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F55  Tool permissions and auto-approval</a:t>
            </a:r>
            <a:endParaRPr lang="en-US" sz="1550" dirty="0"/>
          </a:p>
        </p:txBody>
      </p:sp>
      <p:sp>
        <p:nvSpPr>
          <p:cNvPr id="14" name="reference"/>
          <p:cNvSpPr txBox="1"/>
          <p:nvPr/>
        </p:nvSpPr>
        <p:spPr>
          <a:xfrm>
            <a:off x="3712464" y="219456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Inspect or reset approvals. Broad auto-approval must not override MOSAIC boundaries.</a:t>
            </a:r>
            <a:endParaRPr lang="en-US" sz="1500" dirty="0"/>
          </a:p>
        </p:txBody>
      </p:sp>
      <p:sp>
        <p:nvSpPr>
          <p:cNvPr id="15" name="reference"/>
          <p:cNvSpPr txBox="1"/>
          <p:nvPr/>
        </p:nvSpPr>
        <p:spPr>
          <a:xfrm>
            <a:off x="9144000" y="2194560"/>
            <a:ext cx="2423160" cy="493776"/>
          </a:xfrm>
          <a:prstGeom prst="rect">
            <a:avLst/>
          </a:prstGeom>
          <a:noFill/>
          <a:ln/>
        </p:spPr>
        <p:txBody>
          <a:bodyPr wrap="square" lIns="0" tIns="0" rIns="0" bIns="0" rtlCol="0" anchor="ctr"/>
          <a:lstStyle/>
          <a:p>
            <a:pPr indent="0" marL="0">
              <a:buNone/>
            </a:pPr>
            <a:r>
              <a:rPr lang="en-US" sz="1250" dirty="0">
                <a:solidFill>
                  <a:srgbClr val="8B5C00"/>
                </a:solidFill>
                <a:latin typeface="Segoe UI" pitchFamily="34" charset="0"/>
                <a:ea typeface="Segoe UI" pitchFamily="34" charset="-122"/>
                <a:cs typeface="Segoe UI" pitchFamily="34" charset="-120"/>
              </a:rPr>
              <a:t>Restricted</a:t>
            </a:r>
            <a:endParaRPr lang="en-US" sz="1250" dirty="0"/>
          </a:p>
          <a:p>
            <a:pPr indent="0" marL="0">
              <a:buNone/>
            </a:pPr>
            <a:r>
              <a:rPr lang="en-US" sz="1250" dirty="0">
                <a:solidFill>
                  <a:srgbClr val="8B5C00"/>
                </a:solidFill>
                <a:latin typeface="Segoe UI" pitchFamily="34" charset="0"/>
                <a:ea typeface="Segoe UI" pitchFamily="34" charset="-122"/>
                <a:cs typeface="Segoe UI" pitchFamily="34" charset="-120"/>
              </a:rPr>
              <a:t>S04, M02 / main 12</a:t>
            </a:r>
            <a:endParaRPr lang="en-US" sz="1250" dirty="0"/>
          </a:p>
        </p:txBody>
      </p:sp>
      <p:sp>
        <p:nvSpPr>
          <p:cNvPr id="16" name="reference"/>
          <p:cNvSpPr txBox="1"/>
          <p:nvPr/>
        </p:nvSpPr>
        <p:spPr>
          <a:xfrm>
            <a:off x="640080" y="2779776"/>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F56  Enterprise-managed settings</a:t>
            </a:r>
            <a:endParaRPr lang="en-US" sz="1550" dirty="0"/>
          </a:p>
        </p:txBody>
      </p:sp>
      <p:sp>
        <p:nvSpPr>
          <p:cNvPr id="17" name="reference"/>
          <p:cNvSpPr txBox="1"/>
          <p:nvPr/>
        </p:nvSpPr>
        <p:spPr>
          <a:xfrm>
            <a:off x="3712464" y="2779776"/>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Govern supported model, plugin, tool and sandbox settings; check client coverage.</a:t>
            </a:r>
            <a:endParaRPr lang="en-US" sz="1500" dirty="0"/>
          </a:p>
        </p:txBody>
      </p:sp>
      <p:sp>
        <p:nvSpPr>
          <p:cNvPr id="18" name="reference"/>
          <p:cNvSpPr txBox="1"/>
          <p:nvPr/>
        </p:nvSpPr>
        <p:spPr>
          <a:xfrm>
            <a:off x="9144000" y="2779776"/>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S02, S13 / main 12</a:t>
            </a:r>
            <a:endParaRPr lang="en-US" sz="1250" dirty="0"/>
          </a:p>
        </p:txBody>
      </p:sp>
      <p:sp>
        <p:nvSpPr>
          <p:cNvPr id="19" name="layout-panel"/>
          <p:cNvSpPr/>
          <p:nvPr/>
        </p:nvSpPr>
        <p:spPr>
          <a:xfrm>
            <a:off x="548640" y="3319272"/>
            <a:ext cx="11091672" cy="585216"/>
          </a:xfrm>
          <a:prstGeom prst="rect">
            <a:avLst>
              <a:gd name="adj" fmla="val 18750"/>
            </a:avLst>
          </a:prstGeom>
          <a:solidFill>
            <a:srgbClr val="FFFFFF"/>
          </a:solidFill>
          <a:ln w="8890">
            <a:solidFill>
              <a:srgbClr val="FFFFFF"/>
            </a:solidFill>
            <a:prstDash val="solid"/>
          </a:ln>
        </p:spPr>
      </p:sp>
      <p:sp>
        <p:nvSpPr>
          <p:cNvPr id="20" name="reference"/>
          <p:cNvSpPr txBox="1"/>
          <p:nvPr/>
        </p:nvSpPr>
        <p:spPr>
          <a:xfrm>
            <a:off x="640080" y="3364992"/>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F57  Content exclusion</a:t>
            </a:r>
            <a:endParaRPr lang="en-US" sz="1550" dirty="0"/>
          </a:p>
        </p:txBody>
      </p:sp>
      <p:sp>
        <p:nvSpPr>
          <p:cNvPr id="21" name="reference"/>
          <p:cNvSpPr txBox="1"/>
          <p:nvPr/>
        </p:nvSpPr>
        <p:spPr>
          <a:xfrm>
            <a:off x="3712464" y="3364992"/>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The App respects configured exclusions; confirm scope and other policy limitations.</a:t>
            </a:r>
            <a:endParaRPr lang="en-US" sz="1500" dirty="0"/>
          </a:p>
        </p:txBody>
      </p:sp>
      <p:sp>
        <p:nvSpPr>
          <p:cNvPr id="22" name="reference"/>
          <p:cNvSpPr txBox="1"/>
          <p:nvPr/>
        </p:nvSpPr>
        <p:spPr>
          <a:xfrm>
            <a:off x="9144000" y="3364992"/>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 main 12</a:t>
            </a:r>
            <a:endParaRPr lang="en-US" sz="1250" dirty="0"/>
          </a:p>
        </p:txBody>
      </p:sp>
      <p:sp>
        <p:nvSpPr>
          <p:cNvPr id="23" name="reference"/>
          <p:cNvSpPr txBox="1"/>
          <p:nvPr/>
        </p:nvSpPr>
        <p:spPr>
          <a:xfrm>
            <a:off x="640080" y="3950208"/>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F58  Security-focused review</a:t>
            </a:r>
            <a:endParaRPr lang="en-US" sz="1550" dirty="0"/>
          </a:p>
        </p:txBody>
      </p:sp>
      <p:sp>
        <p:nvSpPr>
          <p:cNvPr id="24" name="reference"/>
          <p:cNvSpPr txBox="1"/>
          <p:nvPr/>
        </p:nvSpPr>
        <p:spPr>
          <a:xfrm>
            <a:off x="3712464" y="3950208"/>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Use the preview review command for code changes; not a certification or security sign-off.</a:t>
            </a:r>
            <a:endParaRPr lang="en-US" sz="1500" dirty="0"/>
          </a:p>
        </p:txBody>
      </p:sp>
      <p:sp>
        <p:nvSpPr>
          <p:cNvPr id="25" name="reference"/>
          <p:cNvSpPr txBox="1"/>
          <p:nvPr/>
        </p:nvSpPr>
        <p:spPr>
          <a:xfrm>
            <a:off x="9144000" y="3950208"/>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Extension</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S03, S04 / main 12</a:t>
            </a:r>
            <a:endParaRPr lang="en-US" sz="1250" dirty="0"/>
          </a:p>
        </p:txBody>
      </p:sp>
      <p:sp>
        <p:nvSpPr>
          <p:cNvPr id="26" name="layout-panel"/>
          <p:cNvSpPr/>
          <p:nvPr/>
        </p:nvSpPr>
        <p:spPr>
          <a:xfrm>
            <a:off x="548640" y="4489704"/>
            <a:ext cx="11091672" cy="585216"/>
          </a:xfrm>
          <a:prstGeom prst="rect">
            <a:avLst>
              <a:gd name="adj" fmla="val 18750"/>
            </a:avLst>
          </a:prstGeom>
          <a:solidFill>
            <a:srgbClr val="FFFFFF"/>
          </a:solidFill>
          <a:ln w="8890">
            <a:solidFill>
              <a:srgbClr val="FFFFFF"/>
            </a:solidFill>
            <a:prstDash val="solid"/>
          </a:ln>
        </p:spPr>
      </p:sp>
      <p:sp>
        <p:nvSpPr>
          <p:cNvPr id="27" name="reference"/>
          <p:cNvSpPr txBox="1"/>
          <p:nvPr/>
        </p:nvSpPr>
        <p:spPr>
          <a:xfrm>
            <a:off x="640080" y="4535424"/>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F59  Debug logs and transcript export</a:t>
            </a:r>
            <a:endParaRPr lang="en-US" sz="1550" dirty="0"/>
          </a:p>
        </p:txBody>
      </p:sp>
      <p:sp>
        <p:nvSpPr>
          <p:cNvPr id="28" name="reference"/>
          <p:cNvSpPr txBox="1"/>
          <p:nvPr/>
        </p:nvSpPr>
        <p:spPr>
          <a:xfrm>
            <a:off x="3712464" y="4535424"/>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Debug locally under policy. Never export raw customer context to a gist by default.</a:t>
            </a:r>
            <a:endParaRPr lang="en-US" sz="1500" dirty="0"/>
          </a:p>
        </p:txBody>
      </p:sp>
      <p:sp>
        <p:nvSpPr>
          <p:cNvPr id="29" name="reference"/>
          <p:cNvSpPr txBox="1"/>
          <p:nvPr/>
        </p:nvSpPr>
        <p:spPr>
          <a:xfrm>
            <a:off x="9144000" y="4535424"/>
            <a:ext cx="2423160" cy="493776"/>
          </a:xfrm>
          <a:prstGeom prst="rect">
            <a:avLst/>
          </a:prstGeom>
          <a:noFill/>
          <a:ln/>
        </p:spPr>
        <p:txBody>
          <a:bodyPr wrap="square" lIns="0" tIns="0" rIns="0" bIns="0" rtlCol="0" anchor="ctr"/>
          <a:lstStyle/>
          <a:p>
            <a:pPr indent="0" marL="0">
              <a:buNone/>
            </a:pPr>
            <a:r>
              <a:rPr lang="en-US" sz="1250" dirty="0">
                <a:solidFill>
                  <a:srgbClr val="8B5C00"/>
                </a:solidFill>
                <a:latin typeface="Segoe UI" pitchFamily="34" charset="0"/>
                <a:ea typeface="Segoe UI" pitchFamily="34" charset="-122"/>
                <a:cs typeface="Segoe UI" pitchFamily="34" charset="-120"/>
              </a:rPr>
              <a:t>Restricted</a:t>
            </a:r>
            <a:endParaRPr lang="en-US" sz="1250" dirty="0"/>
          </a:p>
          <a:p>
            <a:pPr indent="0" marL="0">
              <a:buNone/>
            </a:pPr>
            <a:r>
              <a:rPr lang="en-US" sz="1250" dirty="0">
                <a:solidFill>
                  <a:srgbClr val="8B5C00"/>
                </a:solidFill>
                <a:latin typeface="Segoe UI" pitchFamily="34" charset="0"/>
                <a:ea typeface="Segoe UI" pitchFamily="34" charset="-122"/>
                <a:cs typeface="Segoe UI" pitchFamily="34" charset="-120"/>
              </a:rPr>
              <a:t>S04, M02 / main 11</a:t>
            </a:r>
            <a:endParaRPr lang="en-US" sz="1250" dirty="0"/>
          </a:p>
        </p:txBody>
      </p:sp>
      <p:sp>
        <p:nvSpPr>
          <p:cNvPr id="30" name="reference"/>
          <p:cNvSpPr txBox="1"/>
          <p:nvPr/>
        </p:nvSpPr>
        <p:spPr>
          <a:xfrm>
            <a:off x="640080" y="5120640"/>
            <a:ext cx="2916936" cy="493776"/>
          </a:xfrm>
          <a:prstGeom prst="rect">
            <a:avLst/>
          </a:prstGeom>
          <a:noFill/>
          <a:ln/>
        </p:spPr>
        <p:txBody>
          <a:bodyPr wrap="square" lIns="0" tIns="0" rIns="0" bIns="0" rtlCol="0" anchor="ctr"/>
          <a:lstStyle/>
          <a:p>
            <a:pPr indent="0" marL="0">
              <a:buNone/>
            </a:pPr>
            <a:r>
              <a:rPr lang="en-US" sz="1550" b="1" dirty="0">
                <a:solidFill>
                  <a:srgbClr val="14202B"/>
                </a:solidFill>
                <a:latin typeface="Segoe UI" pitchFamily="34" charset="0"/>
                <a:ea typeface="Segoe UI" pitchFamily="34" charset="-122"/>
                <a:cs typeface="Segoe UI" pitchFamily="34" charset="-120"/>
              </a:rPr>
              <a:t>F60  Access, navigation and discovery</a:t>
            </a:r>
            <a:endParaRPr lang="en-US" sz="1550" dirty="0"/>
          </a:p>
        </p:txBody>
      </p:sp>
      <p:sp>
        <p:nvSpPr>
          <p:cNvPr id="31" name="reference"/>
          <p:cNvSpPr txBox="1"/>
          <p:nvPr/>
        </p:nvSpPr>
        <p:spPr>
          <a:xfrm>
            <a:off x="3712464" y="5120640"/>
            <a:ext cx="5084064" cy="493776"/>
          </a:xfrm>
          <a:prstGeom prst="rect">
            <a:avLst/>
          </a:prstGeom>
          <a:noFill/>
          <a:ln/>
        </p:spPr>
        <p:txBody>
          <a:bodyPr wrap="square" lIns="0" tIns="0" rIns="0" bIns="0" rtlCol="0" anchor="ctr"/>
          <a:lstStyle/>
          <a:p>
            <a:pPr indent="0" marL="0">
              <a:buNone/>
            </a:pPr>
            <a:r>
              <a:rPr lang="en-US" sz="1500" dirty="0">
                <a:solidFill>
                  <a:srgbClr val="526174"/>
                </a:solidFill>
                <a:latin typeface="Segoe UI" pitchFamily="34" charset="0"/>
                <a:ea typeface="Segoe UI" pitchFamily="34" charset="-122"/>
                <a:cs typeface="Segoe UI" pitchFamily="34" charset="-120"/>
              </a:rPr>
              <a:t>App on Windows/macOS/Linux; GitHub sign-in, App policy, keyboard shortcuts and / picker.</a:t>
            </a:r>
            <a:endParaRPr lang="en-US" sz="1500" dirty="0"/>
          </a:p>
        </p:txBody>
      </p:sp>
      <p:sp>
        <p:nvSpPr>
          <p:cNvPr id="32" name="reference"/>
          <p:cNvSpPr txBox="1"/>
          <p:nvPr/>
        </p:nvSpPr>
        <p:spPr>
          <a:xfrm>
            <a:off x="9144000" y="5120640"/>
            <a:ext cx="2423160" cy="493776"/>
          </a:xfrm>
          <a:prstGeom prst="rect">
            <a:avLst/>
          </a:prstGeom>
          <a:noFill/>
          <a:ln/>
        </p:spPr>
        <p:txBody>
          <a:bodyPr wrap="square" lIns="0" tIns="0" rIns="0" bIns="0" rtlCol="0" anchor="ctr"/>
          <a:lstStyle/>
          <a:p>
            <a:pPr indent="0" marL="0">
              <a:buNone/>
            </a:pPr>
            <a:r>
              <a:rPr lang="en-US" sz="1250" dirty="0">
                <a:solidFill>
                  <a:srgbClr val="0969DA"/>
                </a:solidFill>
                <a:latin typeface="Segoe UI" pitchFamily="34" charset="0"/>
                <a:ea typeface="Segoe UI" pitchFamily="34" charset="-122"/>
                <a:cs typeface="Segoe UI" pitchFamily="34" charset="-120"/>
              </a:rPr>
              <a:t>Documented</a:t>
            </a:r>
            <a:endParaRPr lang="en-US" sz="1250" dirty="0"/>
          </a:p>
          <a:p>
            <a:pPr indent="0" marL="0">
              <a:buNone/>
            </a:pPr>
            <a:r>
              <a:rPr lang="en-US" sz="1250" dirty="0">
                <a:solidFill>
                  <a:srgbClr val="0969DA"/>
                </a:solidFill>
                <a:latin typeface="Segoe UI" pitchFamily="34" charset="0"/>
                <a:ea typeface="Segoe UI" pitchFamily="34" charset="-122"/>
                <a:cs typeface="Segoe UI" pitchFamily="34" charset="-120"/>
              </a:rPr>
              <a:t>S01, S03, S04 / main 14</a:t>
            </a:r>
            <a:endParaRPr lang="en-US" sz="1250" dirty="0"/>
          </a:p>
        </p:txBody>
      </p:sp>
      <p:sp>
        <p:nvSpPr>
          <p:cNvPr id="33"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4"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App proof = recorded. Configured = present. Extension = proposed. Commands are in notes.</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Competitive conversation: fit, not feature myths.</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S02, S03, S12, S15, M02, M05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26</a:t>
            </a:r>
            <a:endParaRPr lang="en-US" sz="1000" dirty="0"/>
          </a:p>
        </p:txBody>
      </p:sp>
      <p:sp>
        <p:nvSpPr>
          <p:cNvPr id="9" name="label"/>
          <p:cNvSpPr txBox="1"/>
          <p:nvPr/>
        </p:nvSpPr>
        <p:spPr>
          <a:xfrm>
            <a:off x="713232" y="1819656"/>
            <a:ext cx="2468880" cy="237744"/>
          </a:xfrm>
          <a:prstGeom prst="rect">
            <a:avLst/>
          </a:prstGeom>
          <a:noFill/>
          <a:ln/>
        </p:spPr>
        <p:txBody>
          <a:bodyPr wrap="square" lIns="0" tIns="0" rIns="0" bIns="0" rtlCol="0" anchor="ctr"/>
          <a:lstStyle/>
          <a:p>
            <a:pPr indent="0" marL="0">
              <a:buNone/>
            </a:pPr>
            <a:r>
              <a:rPr lang="en-US" sz="1300" b="1" dirty="0">
                <a:solidFill>
                  <a:srgbClr val="0969DA"/>
                </a:solidFill>
                <a:latin typeface="Segoe UI" pitchFamily="34" charset="0"/>
                <a:ea typeface="Segoe UI" pitchFamily="34" charset="-122"/>
                <a:cs typeface="Segoe UI" pitchFamily="34" charset="-120"/>
              </a:rPr>
              <a:t>ALTERNATIVE</a:t>
            </a:r>
            <a:endParaRPr lang="en-US" sz="1300" dirty="0"/>
          </a:p>
        </p:txBody>
      </p:sp>
      <p:sp>
        <p:nvSpPr>
          <p:cNvPr id="10" name="label"/>
          <p:cNvSpPr txBox="1"/>
          <p:nvPr/>
        </p:nvSpPr>
        <p:spPr>
          <a:xfrm>
            <a:off x="3328416" y="1819656"/>
            <a:ext cx="3794760" cy="237744"/>
          </a:xfrm>
          <a:prstGeom prst="rect">
            <a:avLst/>
          </a:prstGeom>
          <a:noFill/>
          <a:ln/>
        </p:spPr>
        <p:txBody>
          <a:bodyPr wrap="square" lIns="0" tIns="0" rIns="0" bIns="0" rtlCol="0" anchor="ctr"/>
          <a:lstStyle/>
          <a:p>
            <a:pPr indent="0" marL="0">
              <a:buNone/>
            </a:pPr>
            <a:r>
              <a:rPr lang="en-US" sz="1300" b="1" dirty="0">
                <a:solidFill>
                  <a:srgbClr val="0969DA"/>
                </a:solidFill>
                <a:latin typeface="Segoe UI" pitchFamily="34" charset="0"/>
                <a:ea typeface="Segoe UI" pitchFamily="34" charset="-122"/>
                <a:cs typeface="Segoe UI" pitchFamily="34" charset="-120"/>
              </a:rPr>
              <a:t>WHEN IT CAN FIT</a:t>
            </a:r>
            <a:endParaRPr lang="en-US" sz="1300" dirty="0"/>
          </a:p>
        </p:txBody>
      </p:sp>
      <p:sp>
        <p:nvSpPr>
          <p:cNvPr id="11" name="label"/>
          <p:cNvSpPr txBox="1"/>
          <p:nvPr/>
        </p:nvSpPr>
        <p:spPr>
          <a:xfrm>
            <a:off x="7461504" y="1819656"/>
            <a:ext cx="3794760" cy="237744"/>
          </a:xfrm>
          <a:prstGeom prst="rect">
            <a:avLst/>
          </a:prstGeom>
          <a:noFill/>
          <a:ln/>
        </p:spPr>
        <p:txBody>
          <a:bodyPr wrap="square" lIns="0" tIns="0" rIns="0" bIns="0" rtlCol="0" anchor="ctr"/>
          <a:lstStyle/>
          <a:p>
            <a:pPr indent="0" marL="0">
              <a:buNone/>
            </a:pPr>
            <a:r>
              <a:rPr lang="en-US" sz="1300" b="1" dirty="0">
                <a:solidFill>
                  <a:srgbClr val="0969DA"/>
                </a:solidFill>
                <a:latin typeface="Segoe UI" pitchFamily="34" charset="0"/>
                <a:ea typeface="Segoe UI" pitchFamily="34" charset="-122"/>
                <a:cs typeface="Segoe UI" pitchFamily="34" charset="-120"/>
              </a:rPr>
              <a:t>WHAT TO EVALUATE</a:t>
            </a:r>
            <a:endParaRPr lang="en-US" sz="1300" dirty="0"/>
          </a:p>
        </p:txBody>
      </p:sp>
      <p:sp>
        <p:nvSpPr>
          <p:cNvPr id="12" name="layout-panel"/>
          <p:cNvSpPr/>
          <p:nvPr/>
        </p:nvSpPr>
        <p:spPr>
          <a:xfrm>
            <a:off x="548640" y="2212848"/>
            <a:ext cx="11091672" cy="658368"/>
          </a:xfrm>
          <a:prstGeom prst="rect">
            <a:avLst>
              <a:gd name="adj" fmla="val 16667"/>
            </a:avLst>
          </a:prstGeom>
          <a:solidFill>
            <a:srgbClr val="FFFFFF"/>
          </a:solidFill>
          <a:ln w="8890">
            <a:solidFill>
              <a:srgbClr val="FFFFFF"/>
            </a:solidFill>
            <a:prstDash val="solid"/>
          </a:ln>
        </p:spPr>
      </p:sp>
      <p:sp>
        <p:nvSpPr>
          <p:cNvPr id="13" name="reference"/>
          <p:cNvSpPr txBox="1"/>
          <p:nvPr/>
        </p:nvSpPr>
        <p:spPr>
          <a:xfrm>
            <a:off x="713232" y="2267712"/>
            <a:ext cx="2377440" cy="521208"/>
          </a:xfrm>
          <a:prstGeom prst="rect">
            <a:avLst/>
          </a:prstGeom>
          <a:noFill/>
          <a:ln/>
        </p:spPr>
        <p:txBody>
          <a:bodyPr wrap="square" lIns="0" tIns="0" rIns="0" bIns="0" rtlCol="0" anchor="ctr"/>
          <a:lstStyle/>
          <a:p>
            <a:pPr indent="0" marL="0">
              <a:buNone/>
            </a:pPr>
            <a:r>
              <a:rPr lang="en-US" sz="1800" b="1" dirty="0">
                <a:solidFill>
                  <a:srgbClr val="14202B"/>
                </a:solidFill>
                <a:latin typeface="Segoe UI" pitchFamily="34" charset="0"/>
                <a:ea typeface="Segoe UI" pitchFamily="34" charset="-122"/>
                <a:cs typeface="Segoe UI" pitchFamily="34" charset="-120"/>
              </a:rPr>
              <a:t>IDE</a:t>
            </a:r>
            <a:endParaRPr lang="en-US" sz="1800" dirty="0"/>
          </a:p>
        </p:txBody>
      </p:sp>
      <p:sp>
        <p:nvSpPr>
          <p:cNvPr id="14" name="reference"/>
          <p:cNvSpPr txBox="1"/>
          <p:nvPr/>
        </p:nvSpPr>
        <p:spPr>
          <a:xfrm>
            <a:off x="3328416" y="2267712"/>
            <a:ext cx="3703320"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Keep hands-on editing and debugging.</a:t>
            </a:r>
            <a:endParaRPr lang="en-US" sz="1700" dirty="0"/>
          </a:p>
        </p:txBody>
      </p:sp>
      <p:sp>
        <p:nvSpPr>
          <p:cNvPr id="15" name="reference"/>
          <p:cNvSpPr txBox="1"/>
          <p:nvPr/>
        </p:nvSpPr>
        <p:spPr>
          <a:xfrm>
            <a:off x="7461504" y="2267712"/>
            <a:ext cx="3803904"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Compare workflow supervision + review handoffs.</a:t>
            </a:r>
            <a:endParaRPr lang="en-US" sz="1700" dirty="0"/>
          </a:p>
        </p:txBody>
      </p:sp>
      <p:sp>
        <p:nvSpPr>
          <p:cNvPr id="16" name="layout-panel"/>
          <p:cNvSpPr/>
          <p:nvPr/>
        </p:nvSpPr>
        <p:spPr>
          <a:xfrm>
            <a:off x="548640" y="2889504"/>
            <a:ext cx="11091672" cy="658368"/>
          </a:xfrm>
          <a:prstGeom prst="rect">
            <a:avLst>
              <a:gd name="adj" fmla="val 16667"/>
            </a:avLst>
          </a:prstGeom>
          <a:solidFill>
            <a:srgbClr val="F5F7FA"/>
          </a:solidFill>
          <a:ln w="8890">
            <a:solidFill>
              <a:srgbClr val="F5F7FA"/>
            </a:solidFill>
            <a:prstDash val="solid"/>
          </a:ln>
        </p:spPr>
      </p:sp>
      <p:sp>
        <p:nvSpPr>
          <p:cNvPr id="17" name="reference"/>
          <p:cNvSpPr txBox="1"/>
          <p:nvPr/>
        </p:nvSpPr>
        <p:spPr>
          <a:xfrm>
            <a:off x="713232" y="2944368"/>
            <a:ext cx="2377440" cy="521208"/>
          </a:xfrm>
          <a:prstGeom prst="rect">
            <a:avLst/>
          </a:prstGeom>
          <a:noFill/>
          <a:ln/>
        </p:spPr>
        <p:txBody>
          <a:bodyPr wrap="square" lIns="0" tIns="0" rIns="0" bIns="0" rtlCol="0" anchor="ctr"/>
          <a:lstStyle/>
          <a:p>
            <a:pPr indent="0" marL="0">
              <a:buNone/>
            </a:pPr>
            <a:r>
              <a:rPr lang="en-US" sz="1800" b="1" dirty="0">
                <a:solidFill>
                  <a:srgbClr val="14202B"/>
                </a:solidFill>
                <a:latin typeface="Segoe UI" pitchFamily="34" charset="0"/>
                <a:ea typeface="Segoe UI" pitchFamily="34" charset="-122"/>
                <a:cs typeface="Segoe UI" pitchFamily="34" charset="-120"/>
              </a:rPr>
              <a:t>Terminal / CLI runner</a:t>
            </a:r>
            <a:endParaRPr lang="en-US" sz="1800" dirty="0"/>
          </a:p>
        </p:txBody>
      </p:sp>
      <p:sp>
        <p:nvSpPr>
          <p:cNvPr id="18" name="reference"/>
          <p:cNvSpPr txBox="1"/>
          <p:nvPr/>
        </p:nvSpPr>
        <p:spPr>
          <a:xfrm>
            <a:off x="3328416" y="2944368"/>
            <a:ext cx="3703320"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Keep scriptable execution and automation.</a:t>
            </a:r>
            <a:endParaRPr lang="en-US" sz="1700" dirty="0"/>
          </a:p>
        </p:txBody>
      </p:sp>
      <p:sp>
        <p:nvSpPr>
          <p:cNvPr id="19" name="reference"/>
          <p:cNvSpPr txBox="1"/>
          <p:nvPr/>
        </p:nvSpPr>
        <p:spPr>
          <a:xfrm>
            <a:off x="7461504" y="2944368"/>
            <a:ext cx="3803904"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Compare session visibility + GitHub review.</a:t>
            </a:r>
            <a:endParaRPr lang="en-US" sz="1700" dirty="0"/>
          </a:p>
        </p:txBody>
      </p:sp>
      <p:sp>
        <p:nvSpPr>
          <p:cNvPr id="20" name="layout-panel"/>
          <p:cNvSpPr/>
          <p:nvPr/>
        </p:nvSpPr>
        <p:spPr>
          <a:xfrm>
            <a:off x="548640" y="3566160"/>
            <a:ext cx="11091672" cy="658368"/>
          </a:xfrm>
          <a:prstGeom prst="rect">
            <a:avLst>
              <a:gd name="adj" fmla="val 16667"/>
            </a:avLst>
          </a:prstGeom>
          <a:solidFill>
            <a:srgbClr val="FFFFFF"/>
          </a:solidFill>
          <a:ln w="8890">
            <a:solidFill>
              <a:srgbClr val="FFFFFF"/>
            </a:solidFill>
            <a:prstDash val="solid"/>
          </a:ln>
        </p:spPr>
      </p:sp>
      <p:sp>
        <p:nvSpPr>
          <p:cNvPr id="21" name="reference"/>
          <p:cNvSpPr txBox="1"/>
          <p:nvPr/>
        </p:nvSpPr>
        <p:spPr>
          <a:xfrm>
            <a:off x="713232" y="3621024"/>
            <a:ext cx="2377440" cy="521208"/>
          </a:xfrm>
          <a:prstGeom prst="rect">
            <a:avLst/>
          </a:prstGeom>
          <a:noFill/>
          <a:ln/>
        </p:spPr>
        <p:txBody>
          <a:bodyPr wrap="square" lIns="0" tIns="0" rIns="0" bIns="0" rtlCol="0" anchor="ctr"/>
          <a:lstStyle/>
          <a:p>
            <a:pPr indent="0" marL="0">
              <a:buNone/>
            </a:pPr>
            <a:r>
              <a:rPr lang="en-US" sz="1800" b="1" dirty="0">
                <a:solidFill>
                  <a:srgbClr val="14202B"/>
                </a:solidFill>
                <a:latin typeface="Segoe UI" pitchFamily="34" charset="0"/>
                <a:ea typeface="Segoe UI" pitchFamily="34" charset="-122"/>
                <a:cs typeface="Segoe UI" pitchFamily="34" charset="-120"/>
              </a:rPr>
              <a:t>Other agent apps</a:t>
            </a:r>
            <a:endParaRPr lang="en-US" sz="1800" dirty="0"/>
          </a:p>
        </p:txBody>
      </p:sp>
      <p:sp>
        <p:nvSpPr>
          <p:cNvPr id="22" name="reference"/>
          <p:cNvSpPr txBox="1"/>
          <p:nvPr/>
        </p:nvSpPr>
        <p:spPr>
          <a:xfrm>
            <a:off x="3328416" y="3621024"/>
            <a:ext cx="3703320"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Include Claude Code in a same-task trial.</a:t>
            </a:r>
            <a:endParaRPr lang="en-US" sz="1700" dirty="0"/>
          </a:p>
        </p:txBody>
      </p:sp>
      <p:sp>
        <p:nvSpPr>
          <p:cNvPr id="23" name="reference"/>
          <p:cNvSpPr txBox="1"/>
          <p:nvPr/>
        </p:nvSpPr>
        <p:spPr>
          <a:xfrm>
            <a:off x="7461504" y="3621024"/>
            <a:ext cx="3803904"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Compare the end-to-end experience, not model rank.</a:t>
            </a:r>
            <a:endParaRPr lang="en-US" sz="1700" dirty="0"/>
          </a:p>
        </p:txBody>
      </p:sp>
      <p:sp>
        <p:nvSpPr>
          <p:cNvPr id="24" name="layout-panel"/>
          <p:cNvSpPr/>
          <p:nvPr/>
        </p:nvSpPr>
        <p:spPr>
          <a:xfrm>
            <a:off x="548640" y="4242816"/>
            <a:ext cx="11091672" cy="658368"/>
          </a:xfrm>
          <a:prstGeom prst="rect">
            <a:avLst>
              <a:gd name="adj" fmla="val 16667"/>
            </a:avLst>
          </a:prstGeom>
          <a:solidFill>
            <a:srgbClr val="F5F7FA"/>
          </a:solidFill>
          <a:ln w="8890">
            <a:solidFill>
              <a:srgbClr val="F5F7FA"/>
            </a:solidFill>
            <a:prstDash val="solid"/>
          </a:ln>
        </p:spPr>
      </p:sp>
      <p:sp>
        <p:nvSpPr>
          <p:cNvPr id="25" name="reference"/>
          <p:cNvSpPr txBox="1"/>
          <p:nvPr/>
        </p:nvSpPr>
        <p:spPr>
          <a:xfrm>
            <a:off x="713232" y="4297680"/>
            <a:ext cx="2377440" cy="521208"/>
          </a:xfrm>
          <a:prstGeom prst="rect">
            <a:avLst/>
          </a:prstGeom>
          <a:noFill/>
          <a:ln/>
        </p:spPr>
        <p:txBody>
          <a:bodyPr wrap="square" lIns="0" tIns="0" rIns="0" bIns="0" rtlCol="0" anchor="ctr"/>
          <a:lstStyle/>
          <a:p>
            <a:pPr indent="0" marL="0">
              <a:buNone/>
            </a:pPr>
            <a:r>
              <a:rPr lang="en-US" sz="1800" b="1" dirty="0">
                <a:solidFill>
                  <a:srgbClr val="14202B"/>
                </a:solidFill>
                <a:latin typeface="Segoe UI" pitchFamily="34" charset="0"/>
                <a:ea typeface="Segoe UI" pitchFamily="34" charset="-122"/>
                <a:cs typeface="Segoe UI" pitchFamily="34" charset="-120"/>
              </a:rPr>
              <a:t>Custom application</a:t>
            </a:r>
            <a:endParaRPr lang="en-US" sz="1800" dirty="0"/>
          </a:p>
        </p:txBody>
      </p:sp>
      <p:sp>
        <p:nvSpPr>
          <p:cNvPr id="26" name="reference"/>
          <p:cNvSpPr txBox="1"/>
          <p:nvPr/>
        </p:nvSpPr>
        <p:spPr>
          <a:xfrm>
            <a:off x="3328416" y="4297680"/>
            <a:ext cx="3703320"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Build a dedicated customer interface when needed.</a:t>
            </a:r>
            <a:endParaRPr lang="en-US" sz="1700" dirty="0"/>
          </a:p>
        </p:txBody>
      </p:sp>
      <p:sp>
        <p:nvSpPr>
          <p:cNvPr id="27" name="reference"/>
          <p:cNvSpPr txBox="1"/>
          <p:nvPr/>
        </p:nvSpPr>
        <p:spPr>
          <a:xfrm>
            <a:off x="7461504" y="4297680"/>
            <a:ext cx="3803904" cy="521208"/>
          </a:xfrm>
          <a:prstGeom prst="rect">
            <a:avLst/>
          </a:prstGeom>
          <a:noFill/>
          <a:ln/>
        </p:spPr>
        <p:txBody>
          <a:bodyPr wrap="square" lIns="0" tIns="0" rIns="0" bIns="0" rtlCol="0" anchor="ctr"/>
          <a:lstStyle/>
          <a:p>
            <a:pPr indent="0" marL="0">
              <a:buNone/>
            </a:pPr>
            <a:r>
              <a:rPr lang="en-US" sz="1700" dirty="0">
                <a:solidFill>
                  <a:srgbClr val="14202B"/>
                </a:solidFill>
                <a:latin typeface="Segoe UI" pitchFamily="34" charset="0"/>
                <a:ea typeface="Segoe UI" pitchFamily="34" charset="-122"/>
                <a:cs typeface="Segoe UI" pitchFamily="34" charset="-120"/>
              </a:rPr>
              <a:t>Compare integration, maintenance and user needs.</a:t>
            </a:r>
            <a:endParaRPr lang="en-US" sz="1700" dirty="0"/>
          </a:p>
        </p:txBody>
      </p:sp>
      <p:sp>
        <p:nvSpPr>
          <p:cNvPr id="28" name="caption"/>
          <p:cNvSpPr txBox="1"/>
          <p:nvPr/>
        </p:nvSpPr>
        <p:spPr>
          <a:xfrm>
            <a:off x="758952" y="5148072"/>
            <a:ext cx="10652760" cy="594360"/>
          </a:xfrm>
          <a:prstGeom prst="rect">
            <a:avLst/>
          </a:prstGeom>
          <a:noFill/>
          <a:ln/>
        </p:spPr>
        <p:txBody>
          <a:bodyPr wrap="square" lIns="0" tIns="0" rIns="0" bIns="0" rtlCol="0" anchor="ctr"/>
          <a:lstStyle/>
          <a:p>
            <a:pPr indent="0" marL="0">
              <a:buNone/>
            </a:pPr>
            <a:r>
              <a:rPr lang="en-US" sz="1700" dirty="0">
                <a:solidFill>
                  <a:srgbClr val="526174"/>
                </a:solidFill>
                <a:latin typeface="Segoe UI" pitchFamily="34" charset="0"/>
                <a:ea typeface="Segoe UI" pitchFamily="34" charset="-122"/>
                <a:cs typeface="Segoe UI" pitchFamily="34" charset="-120"/>
              </a:rPr>
              <a:t>PROVEN HERE: App intake + skill / synthetic MCP + browser handoff.</a:t>
            </a:r>
            <a:endParaRPr lang="en-US" sz="1700" dirty="0"/>
          </a:p>
          <a:p>
            <a:pPr indent="0" marL="0">
              <a:buNone/>
            </a:pPr>
            <a:r>
              <a:rPr lang="en-US" sz="1700" dirty="0">
                <a:solidFill>
                  <a:srgbClr val="526174"/>
                </a:solidFill>
                <a:latin typeface="Segoe UI" pitchFamily="34" charset="0"/>
                <a:ea typeface="Segoe UI" pitchFamily="34" charset="-122"/>
                <a:cs typeface="Segoe UI" pitchFamily="34" charset="-120"/>
              </a:rPr>
              <a:t>NEXT TO PROVE: native fleets, WorkIQ, canvas and hosted PR / CI workflow.</a:t>
            </a:r>
            <a:endParaRPr lang="en-US" sz="1700" dirty="0"/>
          </a:p>
        </p:txBody>
      </p:sp>
      <p:sp>
        <p:nvSpPr>
          <p:cNvPr id="29"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30"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No head-to-head result is claimed. Use comparable tasks and retain the evidence.</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Presenter runbook: a repeatable 15 minutes</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S02, M01, M02, M05, M06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27</a:t>
            </a:r>
            <a:endParaRPr lang="en-US" sz="1000" dirty="0"/>
          </a:p>
        </p:txBody>
      </p:sp>
      <p:sp>
        <p:nvSpPr>
          <p:cNvPr id="9" name="content"/>
          <p:cNvSpPr txBox="1"/>
          <p:nvPr/>
        </p:nvSpPr>
        <p:spPr>
          <a:xfrm>
            <a:off x="694944" y="1856232"/>
            <a:ext cx="2203704" cy="402336"/>
          </a:xfrm>
          <a:prstGeom prst="rect">
            <a:avLst/>
          </a:prstGeom>
          <a:noFill/>
          <a:ln/>
        </p:spPr>
        <p:txBody>
          <a:bodyPr wrap="square" lIns="0" tIns="0" rIns="0" bIns="0" rtlCol="0" anchor="ctr"/>
          <a:lstStyle/>
          <a:p>
            <a:pPr indent="0" marL="0">
              <a:buNone/>
            </a:pPr>
            <a:r>
              <a:rPr lang="en-US" sz="2100" b="1" dirty="0">
                <a:solidFill>
                  <a:srgbClr val="0969DA"/>
                </a:solidFill>
                <a:latin typeface="Segoe UI" pitchFamily="34" charset="0"/>
                <a:ea typeface="Segoe UI" pitchFamily="34" charset="-122"/>
                <a:cs typeface="Segoe UI" pitchFamily="34" charset="-120"/>
              </a:rPr>
              <a:t>00:00-02:15</a:t>
            </a:r>
            <a:endParaRPr lang="en-US" sz="2100" dirty="0"/>
          </a:p>
        </p:txBody>
      </p:sp>
      <p:sp>
        <p:nvSpPr>
          <p:cNvPr id="10" name="content"/>
          <p:cNvSpPr txBox="1"/>
          <p:nvPr/>
        </p:nvSpPr>
        <p:spPr>
          <a:xfrm>
            <a:off x="2980944" y="1856232"/>
            <a:ext cx="8385048" cy="402336"/>
          </a:xfrm>
          <a:prstGeom prst="rect">
            <a:avLst/>
          </a:prstGeom>
          <a:noFill/>
          <a:ln/>
        </p:spPr>
        <p:txBody>
          <a:bodyPr wrap="square" lIns="0" tIns="0" rIns="0" bIns="0" rtlCol="0" anchor="ctr"/>
          <a:lstStyle/>
          <a:p>
            <a:pPr indent="0" marL="0">
              <a:buNone/>
            </a:pPr>
            <a:r>
              <a:rPr lang="en-US" sz="2000" dirty="0">
                <a:solidFill>
                  <a:srgbClr val="14202B"/>
                </a:solidFill>
                <a:latin typeface="Segoe UI" pitchFamily="34" charset="0"/>
                <a:ea typeface="Segoe UI" pitchFamily="34" charset="-122"/>
                <a:cs typeface="Segoe UI" pitchFamily="34" charset="-120"/>
              </a:rPr>
              <a:t>Business need + why the App versus alternatives</a:t>
            </a:r>
            <a:endParaRPr lang="en-US" sz="2000" dirty="0"/>
          </a:p>
        </p:txBody>
      </p:sp>
      <p:sp>
        <p:nvSpPr>
          <p:cNvPr id="11" name="content"/>
          <p:cNvSpPr txBox="1"/>
          <p:nvPr/>
        </p:nvSpPr>
        <p:spPr>
          <a:xfrm>
            <a:off x="694944" y="2523744"/>
            <a:ext cx="2203704" cy="402336"/>
          </a:xfrm>
          <a:prstGeom prst="rect">
            <a:avLst/>
          </a:prstGeom>
          <a:noFill/>
          <a:ln/>
        </p:spPr>
        <p:txBody>
          <a:bodyPr wrap="square" lIns="0" tIns="0" rIns="0" bIns="0" rtlCol="0" anchor="ctr"/>
          <a:lstStyle/>
          <a:p>
            <a:pPr indent="0" marL="0">
              <a:buNone/>
            </a:pPr>
            <a:r>
              <a:rPr lang="en-US" sz="2100" b="1" dirty="0">
                <a:solidFill>
                  <a:srgbClr val="0969DA"/>
                </a:solidFill>
                <a:latin typeface="Segoe UI" pitchFamily="34" charset="0"/>
                <a:ea typeface="Segoe UI" pitchFamily="34" charset="-122"/>
                <a:cs typeface="Segoe UI" pitchFamily="34" charset="-120"/>
              </a:rPr>
              <a:t>02:15-05:35</a:t>
            </a:r>
            <a:endParaRPr lang="en-US" sz="2100" dirty="0"/>
          </a:p>
        </p:txBody>
      </p:sp>
      <p:sp>
        <p:nvSpPr>
          <p:cNvPr id="12" name="content"/>
          <p:cNvSpPr txBox="1"/>
          <p:nvPr/>
        </p:nvSpPr>
        <p:spPr>
          <a:xfrm>
            <a:off x="2980944" y="2523744"/>
            <a:ext cx="8385048" cy="402336"/>
          </a:xfrm>
          <a:prstGeom prst="rect">
            <a:avLst/>
          </a:prstGeom>
          <a:noFill/>
          <a:ln/>
        </p:spPr>
        <p:txBody>
          <a:bodyPr wrap="square" lIns="0" tIns="0" rIns="0" bIns="0" rtlCol="0" anchor="ctr"/>
          <a:lstStyle/>
          <a:p>
            <a:pPr indent="0" marL="0">
              <a:buNone/>
            </a:pPr>
            <a:r>
              <a:rPr lang="en-US" sz="2000" dirty="0">
                <a:solidFill>
                  <a:srgbClr val="14202B"/>
                </a:solidFill>
                <a:latin typeface="Segoe UI" pitchFamily="34" charset="0"/>
                <a:ea typeface="Segoe UI" pitchFamily="34" charset="-122"/>
                <a:cs typeface="Segoe UI" pitchFamily="34" charset="-120"/>
              </a:rPr>
              <a:t>Authentic 2:55.57 demo + introduction</a:t>
            </a:r>
            <a:endParaRPr lang="en-US" sz="2000" dirty="0"/>
          </a:p>
        </p:txBody>
      </p:sp>
      <p:sp>
        <p:nvSpPr>
          <p:cNvPr id="13" name="content"/>
          <p:cNvSpPr txBox="1"/>
          <p:nvPr/>
        </p:nvSpPr>
        <p:spPr>
          <a:xfrm>
            <a:off x="694944" y="3191256"/>
            <a:ext cx="2203704" cy="402336"/>
          </a:xfrm>
          <a:prstGeom prst="rect">
            <a:avLst/>
          </a:prstGeom>
          <a:noFill/>
          <a:ln/>
        </p:spPr>
        <p:txBody>
          <a:bodyPr wrap="square" lIns="0" tIns="0" rIns="0" bIns="0" rtlCol="0" anchor="ctr"/>
          <a:lstStyle/>
          <a:p>
            <a:pPr indent="0" marL="0">
              <a:buNone/>
            </a:pPr>
            <a:r>
              <a:rPr lang="en-US" sz="2100" b="1" dirty="0">
                <a:solidFill>
                  <a:srgbClr val="0969DA"/>
                </a:solidFill>
                <a:latin typeface="Segoe UI" pitchFamily="34" charset="0"/>
                <a:ea typeface="Segoe UI" pitchFamily="34" charset="-122"/>
                <a:cs typeface="Segoe UI" pitchFamily="34" charset="-120"/>
              </a:rPr>
              <a:t>05:35-10:40</a:t>
            </a:r>
            <a:endParaRPr lang="en-US" sz="2100" dirty="0"/>
          </a:p>
        </p:txBody>
      </p:sp>
      <p:sp>
        <p:nvSpPr>
          <p:cNvPr id="14" name="content"/>
          <p:cNvSpPr txBox="1"/>
          <p:nvPr/>
        </p:nvSpPr>
        <p:spPr>
          <a:xfrm>
            <a:off x="2980944" y="3191256"/>
            <a:ext cx="8385048" cy="402336"/>
          </a:xfrm>
          <a:prstGeom prst="rect">
            <a:avLst/>
          </a:prstGeom>
          <a:noFill/>
          <a:ln/>
        </p:spPr>
        <p:txBody>
          <a:bodyPr wrap="square" lIns="0" tIns="0" rIns="0" bIns="0" rtlCol="0" anchor="ctr"/>
          <a:lstStyle/>
          <a:p>
            <a:pPr indent="0" marL="0">
              <a:buNone/>
            </a:pPr>
            <a:r>
              <a:rPr lang="en-US" sz="2000" dirty="0">
                <a:solidFill>
                  <a:srgbClr val="14202B"/>
                </a:solidFill>
                <a:latin typeface="Segoe UI" pitchFamily="34" charset="0"/>
                <a:ea typeface="Segoe UI" pitchFamily="34" charset="-122"/>
                <a:cs typeface="Segoe UI" pitchFamily="34" charset="-120"/>
              </a:rPr>
              <a:t>Context, expertise, agents, shared engine, surfaces, GitHub</a:t>
            </a:r>
            <a:endParaRPr lang="en-US" sz="2000" dirty="0"/>
          </a:p>
        </p:txBody>
      </p:sp>
      <p:sp>
        <p:nvSpPr>
          <p:cNvPr id="15" name="content"/>
          <p:cNvSpPr txBox="1"/>
          <p:nvPr/>
        </p:nvSpPr>
        <p:spPr>
          <a:xfrm>
            <a:off x="694944" y="3858768"/>
            <a:ext cx="2203704" cy="402336"/>
          </a:xfrm>
          <a:prstGeom prst="rect">
            <a:avLst/>
          </a:prstGeom>
          <a:noFill/>
          <a:ln/>
        </p:spPr>
        <p:txBody>
          <a:bodyPr wrap="square" lIns="0" tIns="0" rIns="0" bIns="0" rtlCol="0" anchor="ctr"/>
          <a:lstStyle/>
          <a:p>
            <a:pPr indent="0" marL="0">
              <a:buNone/>
            </a:pPr>
            <a:r>
              <a:rPr lang="en-US" sz="2100" b="1" dirty="0">
                <a:solidFill>
                  <a:srgbClr val="0969DA"/>
                </a:solidFill>
                <a:latin typeface="Segoe UI" pitchFamily="34" charset="0"/>
                <a:ea typeface="Segoe UI" pitchFamily="34" charset="-122"/>
                <a:cs typeface="Segoe UI" pitchFamily="34" charset="-120"/>
              </a:rPr>
              <a:t>10:40-13:20</a:t>
            </a:r>
            <a:endParaRPr lang="en-US" sz="2100" dirty="0"/>
          </a:p>
        </p:txBody>
      </p:sp>
      <p:sp>
        <p:nvSpPr>
          <p:cNvPr id="16" name="content"/>
          <p:cNvSpPr txBox="1"/>
          <p:nvPr/>
        </p:nvSpPr>
        <p:spPr>
          <a:xfrm>
            <a:off x="2980944" y="3858768"/>
            <a:ext cx="8385048" cy="402336"/>
          </a:xfrm>
          <a:prstGeom prst="rect">
            <a:avLst/>
          </a:prstGeom>
          <a:noFill/>
          <a:ln/>
        </p:spPr>
        <p:txBody>
          <a:bodyPr wrap="square" lIns="0" tIns="0" rIns="0" bIns="0" rtlCol="0" anchor="ctr"/>
          <a:lstStyle/>
          <a:p>
            <a:pPr indent="0" marL="0">
              <a:buNone/>
            </a:pPr>
            <a:r>
              <a:rPr lang="en-US" sz="2000" dirty="0">
                <a:solidFill>
                  <a:srgbClr val="14202B"/>
                </a:solidFill>
                <a:latin typeface="Segoe UI" pitchFamily="34" charset="0"/>
                <a:ea typeface="Segoe UI" pitchFamily="34" charset="-122"/>
                <a:cs typeface="Segoe UI" pitchFamily="34" charset="-120"/>
              </a:rPr>
              <a:t>Repeatability, human control and value hypothesis</a:t>
            </a:r>
            <a:endParaRPr lang="en-US" sz="2000" dirty="0"/>
          </a:p>
        </p:txBody>
      </p:sp>
      <p:sp>
        <p:nvSpPr>
          <p:cNvPr id="17" name="content"/>
          <p:cNvSpPr txBox="1"/>
          <p:nvPr/>
        </p:nvSpPr>
        <p:spPr>
          <a:xfrm>
            <a:off x="694944" y="4526280"/>
            <a:ext cx="2203704" cy="402336"/>
          </a:xfrm>
          <a:prstGeom prst="rect">
            <a:avLst/>
          </a:prstGeom>
          <a:noFill/>
          <a:ln/>
        </p:spPr>
        <p:txBody>
          <a:bodyPr wrap="square" lIns="0" tIns="0" rIns="0" bIns="0" rtlCol="0" anchor="ctr"/>
          <a:lstStyle/>
          <a:p>
            <a:pPr indent="0" marL="0">
              <a:buNone/>
            </a:pPr>
            <a:r>
              <a:rPr lang="en-US" sz="2100" b="1" dirty="0">
                <a:solidFill>
                  <a:srgbClr val="0969DA"/>
                </a:solidFill>
                <a:latin typeface="Segoe UI" pitchFamily="34" charset="0"/>
                <a:ea typeface="Segoe UI" pitchFamily="34" charset="-122"/>
                <a:cs typeface="Segoe UI" pitchFamily="34" charset="-120"/>
              </a:rPr>
              <a:t>13:20-15:00</a:t>
            </a:r>
            <a:endParaRPr lang="en-US" sz="2100" dirty="0"/>
          </a:p>
        </p:txBody>
      </p:sp>
      <p:sp>
        <p:nvSpPr>
          <p:cNvPr id="18" name="content"/>
          <p:cNvSpPr txBox="1"/>
          <p:nvPr/>
        </p:nvSpPr>
        <p:spPr>
          <a:xfrm>
            <a:off x="2980944" y="4526280"/>
            <a:ext cx="8385048" cy="402336"/>
          </a:xfrm>
          <a:prstGeom prst="rect">
            <a:avLst/>
          </a:prstGeom>
          <a:noFill/>
          <a:ln/>
        </p:spPr>
        <p:txBody>
          <a:bodyPr wrap="square" lIns="0" tIns="0" rIns="0" bIns="0" rtlCol="0" anchor="ctr"/>
          <a:lstStyle/>
          <a:p>
            <a:pPr indent="0" marL="0">
              <a:buNone/>
            </a:pPr>
            <a:r>
              <a:rPr lang="en-US" sz="2000" dirty="0">
                <a:solidFill>
                  <a:srgbClr val="14202B"/>
                </a:solidFill>
                <a:latin typeface="Segoe UI" pitchFamily="34" charset="0"/>
                <a:ea typeface="Segoe UI" pitchFamily="34" charset="-122"/>
                <a:cs typeface="Segoe UI" pitchFamily="34" charset="-120"/>
              </a:rPr>
              <a:t>Adoption path + customer next step</a:t>
            </a:r>
            <a:endParaRPr lang="en-US" sz="2000" dirty="0"/>
          </a:p>
        </p:txBody>
      </p:sp>
      <p:sp>
        <p:nvSpPr>
          <p:cNvPr id="19" name="caption"/>
          <p:cNvSpPr txBox="1"/>
          <p:nvPr/>
        </p:nvSpPr>
        <p:spPr>
          <a:xfrm>
            <a:off x="768096" y="5340096"/>
            <a:ext cx="10716768" cy="448056"/>
          </a:xfrm>
          <a:prstGeom prst="rect">
            <a:avLst/>
          </a:prstGeom>
          <a:noFill/>
          <a:ln/>
        </p:spPr>
        <p:txBody>
          <a:bodyPr wrap="square" lIns="0" tIns="0" rIns="0" bIns="0" rtlCol="0" anchor="ctr"/>
          <a:lstStyle/>
          <a:p>
            <a:pPr indent="0" marL="0">
              <a:buNone/>
            </a:pPr>
            <a:r>
              <a:rPr lang="en-US" sz="1450" dirty="0">
                <a:solidFill>
                  <a:srgbClr val="526174"/>
                </a:solidFill>
                <a:latin typeface="Segoe UI" pitchFamily="34" charset="0"/>
                <a:ea typeface="Segoe UI" pitchFamily="34" charset="-122"/>
                <a:cs typeface="Segoe UI" pitchFamily="34" charset="-120"/>
              </a:rPr>
              <a:t>Preflight: video + audio, Presenter View, source freshness, approved media and screenshot fallback.</a:t>
            </a:r>
            <a:endParaRPr lang="en-US" sz="1450" dirty="0"/>
          </a:p>
          <a:p>
            <a:pPr indent="0" marL="0">
              <a:buNone/>
            </a:pPr>
            <a:r>
              <a:rPr lang="en-US" sz="1450" dirty="0">
                <a:solidFill>
                  <a:srgbClr val="526174"/>
                </a:solidFill>
                <a:latin typeface="Segoe UI" pitchFamily="34" charset="0"/>
                <a:ea typeface="Segoe UI" pitchFamily="34" charset="-122"/>
                <a:cs typeface="Segoe UI" pitchFamily="34" charset="-120"/>
              </a:rPr>
              <a:t>No connected tenant is needed. Do not improvise a live deployment or a customer approval.</a:t>
            </a:r>
            <a:endParaRPr lang="en-US" sz="1450" dirty="0"/>
          </a:p>
        </p:txBody>
      </p:sp>
      <p:sp>
        <p:nvSpPr>
          <p:cNvPr id="20"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1"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Discussion draft for owner/product-team review. Customer release is not approved.</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Sources 1/5: inspect the evidence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S01, S02, S03, S04, S05, S06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28</a:t>
            </a:r>
            <a:endParaRPr lang="en-US" sz="1000" dirty="0"/>
          </a:p>
        </p:txBody>
      </p:sp>
      <p:sp>
        <p:nvSpPr>
          <p:cNvPr id="9" name="content"/>
          <p:cNvSpPr txBox="1"/>
          <p:nvPr/>
        </p:nvSpPr>
        <p:spPr>
          <a:xfrm>
            <a:off x="658368" y="18470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S01</a:t>
            </a:r>
            <a:endParaRPr lang="en-US" sz="2000" dirty="0"/>
          </a:p>
        </p:txBody>
      </p:sp>
      <p:sp>
        <p:nvSpPr>
          <p:cNvPr id="10" name="content">
            <a:hlinkClick r:id="rId1" tooltip=""/>
          </p:cNvPr>
          <p:cNvSpPr txBox="1"/>
          <p:nvPr/>
        </p:nvSpPr>
        <p:spPr>
          <a:xfrm>
            <a:off x="1426464" y="18470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App overview and shared CLI foundation</a:t>
            </a:r>
            <a:endParaRPr lang="en-US" sz="1900" dirty="0"/>
          </a:p>
        </p:txBody>
      </p:sp>
      <p:sp>
        <p:nvSpPr>
          <p:cNvPr id="11" name="citation">
            <a:hlinkClick r:id="rId2" tooltip=""/>
          </p:cNvPr>
          <p:cNvSpPr txBox="1"/>
          <p:nvPr/>
        </p:nvSpPr>
        <p:spPr>
          <a:xfrm>
            <a:off x="1426464" y="22219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docs.github.com/en/copilot/concepts/copilot-surfaces/github-copilot-app</a:t>
            </a:r>
            <a:endParaRPr lang="en-US" sz="1050" dirty="0"/>
          </a:p>
        </p:txBody>
      </p:sp>
      <p:sp>
        <p:nvSpPr>
          <p:cNvPr id="12" name="content"/>
          <p:cNvSpPr txBox="1"/>
          <p:nvPr/>
        </p:nvSpPr>
        <p:spPr>
          <a:xfrm>
            <a:off x="658368" y="248716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S02</a:t>
            </a:r>
            <a:endParaRPr lang="en-US" sz="2000" dirty="0"/>
          </a:p>
        </p:txBody>
      </p:sp>
      <p:sp>
        <p:nvSpPr>
          <p:cNvPr id="13" name="content">
            <a:hlinkClick r:id="rId3" tooltip=""/>
          </p:cNvPr>
          <p:cNvSpPr txBox="1"/>
          <p:nvPr/>
        </p:nvSpPr>
        <p:spPr>
          <a:xfrm>
            <a:off x="1426464" y="248716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App instructions, skills, agents, MCP and plugins</a:t>
            </a:r>
            <a:endParaRPr lang="en-US" sz="1900" dirty="0"/>
          </a:p>
        </p:txBody>
      </p:sp>
      <p:sp>
        <p:nvSpPr>
          <p:cNvPr id="14" name="citation">
            <a:hlinkClick r:id="rId4" tooltip=""/>
          </p:cNvPr>
          <p:cNvSpPr txBox="1"/>
          <p:nvPr/>
        </p:nvSpPr>
        <p:spPr>
          <a:xfrm>
            <a:off x="1426464" y="286207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docs.github.com/en/copilot/how-tos/github-copilot-app/customize-github-copilot-app</a:t>
            </a:r>
            <a:endParaRPr lang="en-US" sz="1050" dirty="0"/>
          </a:p>
        </p:txBody>
      </p:sp>
      <p:sp>
        <p:nvSpPr>
          <p:cNvPr id="15" name="content"/>
          <p:cNvSpPr txBox="1"/>
          <p:nvPr/>
        </p:nvSpPr>
        <p:spPr>
          <a:xfrm>
            <a:off x="658368" y="312724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S03</a:t>
            </a:r>
            <a:endParaRPr lang="en-US" sz="2000" dirty="0"/>
          </a:p>
        </p:txBody>
      </p:sp>
      <p:sp>
        <p:nvSpPr>
          <p:cNvPr id="16" name="content">
            <a:hlinkClick r:id="rId5" tooltip=""/>
          </p:cNvPr>
          <p:cNvSpPr txBox="1"/>
          <p:nvPr/>
        </p:nvSpPr>
        <p:spPr>
          <a:xfrm>
            <a:off x="1426464" y="312724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Sessions, modes, worktrees, models, voice and history</a:t>
            </a:r>
            <a:endParaRPr lang="en-US" sz="1900" dirty="0"/>
          </a:p>
        </p:txBody>
      </p:sp>
      <p:sp>
        <p:nvSpPr>
          <p:cNvPr id="17" name="citation">
            <a:hlinkClick r:id="rId6" tooltip=""/>
          </p:cNvPr>
          <p:cNvSpPr txBox="1"/>
          <p:nvPr/>
        </p:nvSpPr>
        <p:spPr>
          <a:xfrm>
            <a:off x="1426464" y="350215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docs.github.com/en/copilot/how-tos/github-copilot-app/agent-sessions</a:t>
            </a:r>
            <a:endParaRPr lang="en-US" sz="1050" dirty="0"/>
          </a:p>
        </p:txBody>
      </p:sp>
      <p:sp>
        <p:nvSpPr>
          <p:cNvPr id="18" name="content"/>
          <p:cNvSpPr txBox="1"/>
          <p:nvPr/>
        </p:nvSpPr>
        <p:spPr>
          <a:xfrm>
            <a:off x="658368" y="376732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S04</a:t>
            </a:r>
            <a:endParaRPr lang="en-US" sz="2000" dirty="0"/>
          </a:p>
        </p:txBody>
      </p:sp>
      <p:sp>
        <p:nvSpPr>
          <p:cNvPr id="19" name="content">
            <a:hlinkClick r:id="rId7" tooltip=""/>
          </p:cNvPr>
          <p:cNvSpPr txBox="1"/>
          <p:nvPr/>
        </p:nvSpPr>
        <p:spPr>
          <a:xfrm>
            <a:off x="1426464" y="376732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Complete public App slash-command reference</a:t>
            </a:r>
            <a:endParaRPr lang="en-US" sz="1900" dirty="0"/>
          </a:p>
        </p:txBody>
      </p:sp>
      <p:sp>
        <p:nvSpPr>
          <p:cNvPr id="20" name="citation">
            <a:hlinkClick r:id="rId8" tooltip=""/>
          </p:cNvPr>
          <p:cNvSpPr txBox="1"/>
          <p:nvPr/>
        </p:nvSpPr>
        <p:spPr>
          <a:xfrm>
            <a:off x="1426464" y="414223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docs.github.com/en/copilot/reference/github-copilot-app-reference/slash-commands</a:t>
            </a:r>
            <a:endParaRPr lang="en-US" sz="1050" dirty="0"/>
          </a:p>
        </p:txBody>
      </p:sp>
      <p:sp>
        <p:nvSpPr>
          <p:cNvPr id="21" name="content"/>
          <p:cNvSpPr txBox="1"/>
          <p:nvPr/>
        </p:nvSpPr>
        <p:spPr>
          <a:xfrm>
            <a:off x="658368" y="440740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S05</a:t>
            </a:r>
            <a:endParaRPr lang="en-US" sz="2000" dirty="0"/>
          </a:p>
        </p:txBody>
      </p:sp>
      <p:sp>
        <p:nvSpPr>
          <p:cNvPr id="22" name="content">
            <a:hlinkClick r:id="rId9" tooltip=""/>
          </p:cNvPr>
          <p:cNvSpPr txBox="1"/>
          <p:nvPr/>
        </p:nvSpPr>
        <p:spPr>
          <a:xfrm>
            <a:off x="1426464" y="440740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All six GitHub-provided built-in App skills</a:t>
            </a:r>
            <a:endParaRPr lang="en-US" sz="1900" dirty="0"/>
          </a:p>
        </p:txBody>
      </p:sp>
      <p:sp>
        <p:nvSpPr>
          <p:cNvPr id="23" name="citation">
            <a:hlinkClick r:id="rId10" tooltip=""/>
          </p:cNvPr>
          <p:cNvSpPr txBox="1"/>
          <p:nvPr/>
        </p:nvSpPr>
        <p:spPr>
          <a:xfrm>
            <a:off x="1426464" y="478231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docs.github.com/en/copilot/reference/github-copilot-app-reference/built-in-skills</a:t>
            </a:r>
            <a:endParaRPr lang="en-US" sz="1050" dirty="0"/>
          </a:p>
        </p:txBody>
      </p:sp>
      <p:sp>
        <p:nvSpPr>
          <p:cNvPr id="24" name="content"/>
          <p:cNvSpPr txBox="1"/>
          <p:nvPr/>
        </p:nvSpPr>
        <p:spPr>
          <a:xfrm>
            <a:off x="658368" y="50474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S06</a:t>
            </a:r>
            <a:endParaRPr lang="en-US" sz="2000" dirty="0"/>
          </a:p>
        </p:txBody>
      </p:sp>
      <p:sp>
        <p:nvSpPr>
          <p:cNvPr id="25" name="content">
            <a:hlinkClick r:id="rId11" tooltip=""/>
          </p:cNvPr>
          <p:cNvSpPr txBox="1"/>
          <p:nvPr/>
        </p:nvSpPr>
        <p:spPr>
          <a:xfrm>
            <a:off x="1426464" y="50474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Plugin formats, hooks, LSP and marketplaces</a:t>
            </a:r>
            <a:endParaRPr lang="en-US" sz="1900" dirty="0"/>
          </a:p>
        </p:txBody>
      </p:sp>
      <p:sp>
        <p:nvSpPr>
          <p:cNvPr id="26" name="citation">
            <a:hlinkClick r:id="rId12" tooltip=""/>
          </p:cNvPr>
          <p:cNvSpPr txBox="1"/>
          <p:nvPr/>
        </p:nvSpPr>
        <p:spPr>
          <a:xfrm>
            <a:off x="1426464" y="54223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docs.github.com/en/copilot/concepts/agents/about-plugins</a:t>
            </a:r>
            <a:endParaRPr lang="en-US" sz="1050" dirty="0"/>
          </a:p>
        </p:txBody>
      </p:sp>
      <p:sp>
        <p:nvSpPr>
          <p:cNvPr id="27"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8"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Verified 19 Oct 2026. Recheck availability, preview status and policy before reuse.</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Sources 2/5: inspect the evidence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S07, S08, S09, S10, S11, S12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29</a:t>
            </a:r>
            <a:endParaRPr lang="en-US" sz="1000" dirty="0"/>
          </a:p>
        </p:txBody>
      </p:sp>
      <p:sp>
        <p:nvSpPr>
          <p:cNvPr id="9" name="content"/>
          <p:cNvSpPr txBox="1"/>
          <p:nvPr/>
        </p:nvSpPr>
        <p:spPr>
          <a:xfrm>
            <a:off x="658368" y="18470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S07</a:t>
            </a:r>
            <a:endParaRPr lang="en-US" sz="2000" dirty="0"/>
          </a:p>
        </p:txBody>
      </p:sp>
      <p:sp>
        <p:nvSpPr>
          <p:cNvPr id="10" name="content">
            <a:hlinkClick r:id="rId1" tooltip=""/>
          </p:cNvPr>
          <p:cNvSpPr txBox="1"/>
          <p:nvPr/>
        </p:nvSpPr>
        <p:spPr>
          <a:xfrm>
            <a:off x="1426464" y="18470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Bidirectional canvases and canvas extensions</a:t>
            </a:r>
            <a:endParaRPr lang="en-US" sz="1900" dirty="0"/>
          </a:p>
        </p:txBody>
      </p:sp>
      <p:sp>
        <p:nvSpPr>
          <p:cNvPr id="11" name="citation">
            <a:hlinkClick r:id="rId2" tooltip=""/>
          </p:cNvPr>
          <p:cNvSpPr txBox="1"/>
          <p:nvPr/>
        </p:nvSpPr>
        <p:spPr>
          <a:xfrm>
            <a:off x="1426464" y="22219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docs.github.com/en/copilot/how-tos/github-copilot-app/working-with-canvas-extensions</a:t>
            </a:r>
            <a:endParaRPr lang="en-US" sz="1050" dirty="0"/>
          </a:p>
        </p:txBody>
      </p:sp>
      <p:sp>
        <p:nvSpPr>
          <p:cNvPr id="12" name="content"/>
          <p:cNvSpPr txBox="1"/>
          <p:nvPr/>
        </p:nvSpPr>
        <p:spPr>
          <a:xfrm>
            <a:off x="658368" y="248716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S08</a:t>
            </a:r>
            <a:endParaRPr lang="en-US" sz="2000" dirty="0"/>
          </a:p>
        </p:txBody>
      </p:sp>
      <p:sp>
        <p:nvSpPr>
          <p:cNvPr id="13" name="content">
            <a:hlinkClick r:id="rId3" tooltip=""/>
          </p:cNvPr>
          <p:cNvSpPr txBox="1"/>
          <p:nvPr/>
        </p:nvSpPr>
        <p:spPr>
          <a:xfrm>
            <a:off x="1426464" y="248716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Microsoft Work IQ: all four marketplace plugins</a:t>
            </a:r>
            <a:endParaRPr lang="en-US" sz="1900" dirty="0"/>
          </a:p>
        </p:txBody>
      </p:sp>
      <p:sp>
        <p:nvSpPr>
          <p:cNvPr id="14" name="citation">
            <a:hlinkClick r:id="rId4" tooltip=""/>
          </p:cNvPr>
          <p:cNvSpPr txBox="1"/>
          <p:nvPr/>
        </p:nvSpPr>
        <p:spPr>
          <a:xfrm>
            <a:off x="1426464" y="286207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github.com/microsoft/work-iq/blob/main/PLUGINS.md</a:t>
            </a:r>
            <a:endParaRPr lang="en-US" sz="1050" dirty="0"/>
          </a:p>
        </p:txBody>
      </p:sp>
      <p:sp>
        <p:nvSpPr>
          <p:cNvPr id="15" name="content"/>
          <p:cNvSpPr txBox="1"/>
          <p:nvPr/>
        </p:nvSpPr>
        <p:spPr>
          <a:xfrm>
            <a:off x="658368" y="312724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S09</a:t>
            </a:r>
            <a:endParaRPr lang="en-US" sz="2000" dirty="0"/>
          </a:p>
        </p:txBody>
      </p:sp>
      <p:sp>
        <p:nvSpPr>
          <p:cNvPr id="16" name="content">
            <a:hlinkClick r:id="rId5" tooltip=""/>
          </p:cNvPr>
          <p:cNvSpPr txBox="1"/>
          <p:nvPr/>
        </p:nvSpPr>
        <p:spPr>
          <a:xfrm>
            <a:off x="1426464" y="312724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Work IQ preview status and tenant consent</a:t>
            </a:r>
            <a:endParaRPr lang="en-US" sz="1900" dirty="0"/>
          </a:p>
        </p:txBody>
      </p:sp>
      <p:sp>
        <p:nvSpPr>
          <p:cNvPr id="17" name="citation">
            <a:hlinkClick r:id="rId6" tooltip=""/>
          </p:cNvPr>
          <p:cNvSpPr txBox="1"/>
          <p:nvPr/>
        </p:nvSpPr>
        <p:spPr>
          <a:xfrm>
            <a:off x="1426464" y="350215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github.com/microsoft/work-iq</a:t>
            </a:r>
            <a:endParaRPr lang="en-US" sz="1050" dirty="0"/>
          </a:p>
        </p:txBody>
      </p:sp>
      <p:sp>
        <p:nvSpPr>
          <p:cNvPr id="18" name="content"/>
          <p:cNvSpPr txBox="1"/>
          <p:nvPr/>
        </p:nvSpPr>
        <p:spPr>
          <a:xfrm>
            <a:off x="658368" y="376732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S10</a:t>
            </a:r>
            <a:endParaRPr lang="en-US" sz="2000" dirty="0"/>
          </a:p>
        </p:txBody>
      </p:sp>
      <p:sp>
        <p:nvSpPr>
          <p:cNvPr id="19" name="content">
            <a:hlinkClick r:id="rId7" tooltip=""/>
          </p:cNvPr>
          <p:cNvSpPr txBox="1"/>
          <p:nvPr/>
        </p:nvSpPr>
        <p:spPr>
          <a:xfrm>
            <a:off x="1426464" y="376732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App BYOK providers and requirements</a:t>
            </a:r>
            <a:endParaRPr lang="en-US" sz="1900" dirty="0"/>
          </a:p>
        </p:txBody>
      </p:sp>
      <p:sp>
        <p:nvSpPr>
          <p:cNvPr id="20" name="citation">
            <a:hlinkClick r:id="rId8" tooltip=""/>
          </p:cNvPr>
          <p:cNvSpPr txBox="1"/>
          <p:nvPr/>
        </p:nvSpPr>
        <p:spPr>
          <a:xfrm>
            <a:off x="1426464" y="414223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docs.github.com/en/copilot/how-tos/github-copilot-app/use-byok-models</a:t>
            </a:r>
            <a:endParaRPr lang="en-US" sz="1050" dirty="0"/>
          </a:p>
        </p:txBody>
      </p:sp>
      <p:sp>
        <p:nvSpPr>
          <p:cNvPr id="21" name="content"/>
          <p:cNvSpPr txBox="1"/>
          <p:nvPr/>
        </p:nvSpPr>
        <p:spPr>
          <a:xfrm>
            <a:off x="658368" y="440740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S11</a:t>
            </a:r>
            <a:endParaRPr lang="en-US" sz="2000" dirty="0"/>
          </a:p>
        </p:txBody>
      </p:sp>
      <p:sp>
        <p:nvSpPr>
          <p:cNvPr id="22" name="content">
            <a:hlinkClick r:id="rId9" tooltip=""/>
          </p:cNvPr>
          <p:cNvSpPr txBox="1"/>
          <p:nvPr/>
        </p:nvSpPr>
        <p:spPr>
          <a:xfrm>
            <a:off x="1426464" y="440740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Computer use: capabilities, permissions and risks</a:t>
            </a:r>
            <a:endParaRPr lang="en-US" sz="1900" dirty="0"/>
          </a:p>
        </p:txBody>
      </p:sp>
      <p:sp>
        <p:nvSpPr>
          <p:cNvPr id="23" name="citation">
            <a:hlinkClick r:id="rId10" tooltip=""/>
          </p:cNvPr>
          <p:cNvSpPr txBox="1"/>
          <p:nvPr/>
        </p:nvSpPr>
        <p:spPr>
          <a:xfrm>
            <a:off x="1426464" y="478231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docs.github.com/en/copilot/concepts/agent-capabilities/agent-powered-workflows-and-operations/computer-use</a:t>
            </a:r>
            <a:endParaRPr lang="en-US" sz="1050" dirty="0"/>
          </a:p>
        </p:txBody>
      </p:sp>
      <p:sp>
        <p:nvSpPr>
          <p:cNvPr id="24" name="content"/>
          <p:cNvSpPr txBox="1"/>
          <p:nvPr/>
        </p:nvSpPr>
        <p:spPr>
          <a:xfrm>
            <a:off x="658368" y="50474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S12</a:t>
            </a:r>
            <a:endParaRPr lang="en-US" sz="2000" dirty="0"/>
          </a:p>
        </p:txBody>
      </p:sp>
      <p:sp>
        <p:nvSpPr>
          <p:cNvPr id="25" name="content">
            <a:hlinkClick r:id="rId11" tooltip=""/>
          </p:cNvPr>
          <p:cNvSpPr txBox="1"/>
          <p:nvPr/>
        </p:nvSpPr>
        <p:spPr>
          <a:xfrm>
            <a:off x="1426464" y="50474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My work, issues, PRs, checks and agent merge</a:t>
            </a:r>
            <a:endParaRPr lang="en-US" sz="1900" dirty="0"/>
          </a:p>
        </p:txBody>
      </p:sp>
      <p:sp>
        <p:nvSpPr>
          <p:cNvPr id="26" name="citation">
            <a:hlinkClick r:id="rId12" tooltip=""/>
          </p:cNvPr>
          <p:cNvSpPr txBox="1"/>
          <p:nvPr/>
        </p:nvSpPr>
        <p:spPr>
          <a:xfrm>
            <a:off x="1426464" y="54223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docs.github.com/en/copilot/how-tos/github-copilot-app/managing-issues-and-pull-requests</a:t>
            </a:r>
            <a:endParaRPr lang="en-US" sz="1050" dirty="0"/>
          </a:p>
        </p:txBody>
      </p:sp>
      <p:sp>
        <p:nvSpPr>
          <p:cNvPr id="27"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8"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Verified 19 Oct 2026. Recheck availability, preview status and policy before reuse.</a:t>
            </a:r>
            <a:endParaRPr lang="en-US" sz="1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Sources 3/5: inspect the evidence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S13, S14, S15, S16, S17, S18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30</a:t>
            </a:r>
            <a:endParaRPr lang="en-US" sz="1000" dirty="0"/>
          </a:p>
        </p:txBody>
      </p:sp>
      <p:sp>
        <p:nvSpPr>
          <p:cNvPr id="9" name="content"/>
          <p:cNvSpPr txBox="1"/>
          <p:nvPr/>
        </p:nvSpPr>
        <p:spPr>
          <a:xfrm>
            <a:off x="658368" y="18470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S13</a:t>
            </a:r>
            <a:endParaRPr lang="en-US" sz="2000" dirty="0"/>
          </a:p>
        </p:txBody>
      </p:sp>
      <p:sp>
        <p:nvSpPr>
          <p:cNvPr id="10" name="content">
            <a:hlinkClick r:id="rId1" tooltip=""/>
          </p:cNvPr>
          <p:cNvSpPr txBox="1"/>
          <p:nvPr/>
        </p:nvSpPr>
        <p:spPr>
          <a:xfrm>
            <a:off x="1426464" y="18470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Enterprise-managed settings and client coverage</a:t>
            </a:r>
            <a:endParaRPr lang="en-US" sz="1900" dirty="0"/>
          </a:p>
        </p:txBody>
      </p:sp>
      <p:sp>
        <p:nvSpPr>
          <p:cNvPr id="11" name="citation">
            <a:hlinkClick r:id="rId2" tooltip=""/>
          </p:cNvPr>
          <p:cNvSpPr txBox="1"/>
          <p:nvPr/>
        </p:nvSpPr>
        <p:spPr>
          <a:xfrm>
            <a:off x="1426464" y="22219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docs.github.com/en/copilot/how-tos/administer-copilot/manage-for-enterprise/use-managed-settings/get-started</a:t>
            </a:r>
            <a:endParaRPr lang="en-US" sz="1050" dirty="0"/>
          </a:p>
        </p:txBody>
      </p:sp>
      <p:sp>
        <p:nvSpPr>
          <p:cNvPr id="12" name="content"/>
          <p:cNvSpPr txBox="1"/>
          <p:nvPr/>
        </p:nvSpPr>
        <p:spPr>
          <a:xfrm>
            <a:off x="658368" y="248716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S14</a:t>
            </a:r>
            <a:endParaRPr lang="en-US" sz="2000" dirty="0"/>
          </a:p>
        </p:txBody>
      </p:sp>
      <p:sp>
        <p:nvSpPr>
          <p:cNvPr id="13" name="content">
            <a:hlinkClick r:id="rId3" tooltip=""/>
          </p:cNvPr>
          <p:cNvSpPr txBox="1"/>
          <p:nvPr/>
        </p:nvSpPr>
        <p:spPr>
          <a:xfrm>
            <a:off x="1426464" y="248716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MCP, server toolsets, Registry and Agent Finder</a:t>
            </a:r>
            <a:endParaRPr lang="en-US" sz="1900" dirty="0"/>
          </a:p>
        </p:txBody>
      </p:sp>
      <p:sp>
        <p:nvSpPr>
          <p:cNvPr id="14" name="citation">
            <a:hlinkClick r:id="rId4" tooltip=""/>
          </p:cNvPr>
          <p:cNvSpPr txBox="1"/>
          <p:nvPr/>
        </p:nvSpPr>
        <p:spPr>
          <a:xfrm>
            <a:off x="1426464" y="286207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docs.github.com/en/copilot/concepts/context/mcp</a:t>
            </a:r>
            <a:endParaRPr lang="en-US" sz="1050" dirty="0"/>
          </a:p>
        </p:txBody>
      </p:sp>
      <p:sp>
        <p:nvSpPr>
          <p:cNvPr id="15" name="content"/>
          <p:cNvSpPr txBox="1"/>
          <p:nvPr/>
        </p:nvSpPr>
        <p:spPr>
          <a:xfrm>
            <a:off x="658368" y="312724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S15</a:t>
            </a:r>
            <a:endParaRPr lang="en-US" sz="2000" dirty="0"/>
          </a:p>
        </p:txBody>
      </p:sp>
      <p:sp>
        <p:nvSpPr>
          <p:cNvPr id="16" name="content">
            <a:hlinkClick r:id="rId5" tooltip=""/>
          </p:cNvPr>
          <p:cNvSpPr txBox="1"/>
          <p:nvPr/>
        </p:nvSpPr>
        <p:spPr>
          <a:xfrm>
            <a:off x="1426464" y="312724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Copilot SDK: programmatic use of the CLI engine</a:t>
            </a:r>
            <a:endParaRPr lang="en-US" sz="1900" dirty="0"/>
          </a:p>
        </p:txBody>
      </p:sp>
      <p:sp>
        <p:nvSpPr>
          <p:cNvPr id="17" name="citation">
            <a:hlinkClick r:id="rId6" tooltip=""/>
          </p:cNvPr>
          <p:cNvSpPr txBox="1"/>
          <p:nvPr/>
        </p:nvSpPr>
        <p:spPr>
          <a:xfrm>
            <a:off x="1426464" y="350215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github.com/github/copilot-sdk</a:t>
            </a:r>
            <a:endParaRPr lang="en-US" sz="1050" dirty="0"/>
          </a:p>
        </p:txBody>
      </p:sp>
      <p:sp>
        <p:nvSpPr>
          <p:cNvPr id="18" name="content"/>
          <p:cNvSpPr txBox="1"/>
          <p:nvPr/>
        </p:nvSpPr>
        <p:spPr>
          <a:xfrm>
            <a:off x="658368" y="376732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S16</a:t>
            </a:r>
            <a:endParaRPr lang="en-US" sz="2000" dirty="0"/>
          </a:p>
        </p:txBody>
      </p:sp>
      <p:sp>
        <p:nvSpPr>
          <p:cNvPr id="19" name="content">
            <a:hlinkClick r:id="rId7" tooltip=""/>
          </p:cNvPr>
          <p:cNvSpPr txBox="1"/>
          <p:nvPr/>
        </p:nvSpPr>
        <p:spPr>
          <a:xfrm>
            <a:off x="1426464" y="376732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App deep links from tickets, portals and scripts</a:t>
            </a:r>
            <a:endParaRPr lang="en-US" sz="1900" dirty="0"/>
          </a:p>
        </p:txBody>
      </p:sp>
      <p:sp>
        <p:nvSpPr>
          <p:cNvPr id="20" name="citation">
            <a:hlinkClick r:id="rId8" tooltip=""/>
          </p:cNvPr>
          <p:cNvSpPr txBox="1"/>
          <p:nvPr/>
        </p:nvSpPr>
        <p:spPr>
          <a:xfrm>
            <a:off x="1426464" y="414223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docs.github.com/en/copilot/how-tos/github-copilot-app/open-with-deep-links</a:t>
            </a:r>
            <a:endParaRPr lang="en-US" sz="1050" dirty="0"/>
          </a:p>
        </p:txBody>
      </p:sp>
      <p:sp>
        <p:nvSpPr>
          <p:cNvPr id="21" name="content"/>
          <p:cNvSpPr txBox="1"/>
          <p:nvPr/>
        </p:nvSpPr>
        <p:spPr>
          <a:xfrm>
            <a:off x="658368" y="440740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S17</a:t>
            </a:r>
            <a:endParaRPr lang="en-US" sz="2000" dirty="0"/>
          </a:p>
        </p:txBody>
      </p:sp>
      <p:sp>
        <p:nvSpPr>
          <p:cNvPr id="22" name="content">
            <a:hlinkClick r:id="rId9" tooltip=""/>
          </p:cNvPr>
          <p:cNvSpPr txBox="1"/>
          <p:nvPr/>
        </p:nvSpPr>
        <p:spPr>
          <a:xfrm>
            <a:off x="1426464" y="440740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Reusable project and personal agent skills</a:t>
            </a:r>
            <a:endParaRPr lang="en-US" sz="1900" dirty="0"/>
          </a:p>
        </p:txBody>
      </p:sp>
      <p:sp>
        <p:nvSpPr>
          <p:cNvPr id="23" name="citation">
            <a:hlinkClick r:id="rId10" tooltip=""/>
          </p:cNvPr>
          <p:cNvSpPr txBox="1"/>
          <p:nvPr/>
        </p:nvSpPr>
        <p:spPr>
          <a:xfrm>
            <a:off x="1426464" y="478231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docs.github.com/en/copilot/concepts/agents/about-agent-skills</a:t>
            </a:r>
            <a:endParaRPr lang="en-US" sz="1050" dirty="0"/>
          </a:p>
        </p:txBody>
      </p:sp>
      <p:sp>
        <p:nvSpPr>
          <p:cNvPr id="24" name="content"/>
          <p:cNvSpPr txBox="1"/>
          <p:nvPr/>
        </p:nvSpPr>
        <p:spPr>
          <a:xfrm>
            <a:off x="658368" y="50474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S18</a:t>
            </a:r>
            <a:endParaRPr lang="en-US" sz="2000" dirty="0"/>
          </a:p>
        </p:txBody>
      </p:sp>
      <p:sp>
        <p:nvSpPr>
          <p:cNvPr id="25" name="content">
            <a:hlinkClick r:id="rId11" tooltip=""/>
          </p:cNvPr>
          <p:cNvSpPr txBox="1"/>
          <p:nvPr/>
        </p:nvSpPr>
        <p:spPr>
          <a:xfrm>
            <a:off x="1426464" y="50474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Custom agents and profile/tool scopes</a:t>
            </a:r>
            <a:endParaRPr lang="en-US" sz="1900" dirty="0"/>
          </a:p>
        </p:txBody>
      </p:sp>
      <p:sp>
        <p:nvSpPr>
          <p:cNvPr id="26" name="citation">
            <a:hlinkClick r:id="rId12" tooltip=""/>
          </p:cNvPr>
          <p:cNvSpPr txBox="1"/>
          <p:nvPr/>
        </p:nvSpPr>
        <p:spPr>
          <a:xfrm>
            <a:off x="1426464" y="54223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docs.github.com/en/copilot/concepts/agents/cloud-agent/about-custom-agents</a:t>
            </a:r>
            <a:endParaRPr lang="en-US" sz="1050" dirty="0"/>
          </a:p>
        </p:txBody>
      </p:sp>
      <p:sp>
        <p:nvSpPr>
          <p:cNvPr id="27"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8"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Verified 19 Oct 2026. Recheck availability, preview status and policy before reuse.</a:t>
            </a: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Sources 4/5: inspect the evidence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S19, S20, M01, M02, M03, M04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31</a:t>
            </a:r>
            <a:endParaRPr lang="en-US" sz="1000" dirty="0"/>
          </a:p>
        </p:txBody>
      </p:sp>
      <p:sp>
        <p:nvSpPr>
          <p:cNvPr id="9" name="content"/>
          <p:cNvSpPr txBox="1"/>
          <p:nvPr/>
        </p:nvSpPr>
        <p:spPr>
          <a:xfrm>
            <a:off x="658368" y="18470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S19</a:t>
            </a:r>
            <a:endParaRPr lang="en-US" sz="2000" dirty="0"/>
          </a:p>
        </p:txBody>
      </p:sp>
      <p:sp>
        <p:nvSpPr>
          <p:cNvPr id="10" name="content">
            <a:hlinkClick r:id="rId1" tooltip=""/>
          </p:cNvPr>
          <p:cNvSpPr txBox="1"/>
          <p:nvPr/>
        </p:nvSpPr>
        <p:spPr>
          <a:xfrm>
            <a:off x="1426464" y="18470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Playwright MCP browser tools</a:t>
            </a:r>
            <a:endParaRPr lang="en-US" sz="1900" dirty="0"/>
          </a:p>
        </p:txBody>
      </p:sp>
      <p:sp>
        <p:nvSpPr>
          <p:cNvPr id="11" name="citation">
            <a:hlinkClick r:id="rId2" tooltip=""/>
          </p:cNvPr>
          <p:cNvSpPr txBox="1"/>
          <p:nvPr/>
        </p:nvSpPr>
        <p:spPr>
          <a:xfrm>
            <a:off x="1426464" y="22219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github.com/microsoft/playwright-mcp</a:t>
            </a:r>
            <a:endParaRPr lang="en-US" sz="1050" dirty="0"/>
          </a:p>
        </p:txBody>
      </p:sp>
      <p:sp>
        <p:nvSpPr>
          <p:cNvPr id="12" name="content"/>
          <p:cNvSpPr txBox="1"/>
          <p:nvPr/>
        </p:nvSpPr>
        <p:spPr>
          <a:xfrm>
            <a:off x="658368" y="248716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S20</a:t>
            </a:r>
            <a:endParaRPr lang="en-US" sz="2000" dirty="0"/>
          </a:p>
        </p:txBody>
      </p:sp>
      <p:sp>
        <p:nvSpPr>
          <p:cNvPr id="13" name="content">
            <a:hlinkClick r:id="rId3" tooltip=""/>
          </p:cNvPr>
          <p:cNvSpPr txBox="1"/>
          <p:nvPr/>
        </p:nvSpPr>
        <p:spPr>
          <a:xfrm>
            <a:off x="1426464" y="248716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Azure DevOps MCP integration</a:t>
            </a:r>
            <a:endParaRPr lang="en-US" sz="1900" dirty="0"/>
          </a:p>
        </p:txBody>
      </p:sp>
      <p:sp>
        <p:nvSpPr>
          <p:cNvPr id="14" name="citation">
            <a:hlinkClick r:id="rId4" tooltip=""/>
          </p:cNvPr>
          <p:cNvSpPr txBox="1"/>
          <p:nvPr/>
        </p:nvSpPr>
        <p:spPr>
          <a:xfrm>
            <a:off x="1426464" y="286207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github.com/microsoft/azure-devops-mcp</a:t>
            </a:r>
            <a:endParaRPr lang="en-US" sz="1050" dirty="0"/>
          </a:p>
        </p:txBody>
      </p:sp>
      <p:sp>
        <p:nvSpPr>
          <p:cNvPr id="15" name="content"/>
          <p:cNvSpPr txBox="1"/>
          <p:nvPr/>
        </p:nvSpPr>
        <p:spPr>
          <a:xfrm>
            <a:off x="658368" y="312724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M01</a:t>
            </a:r>
            <a:endParaRPr lang="en-US" sz="2000" dirty="0"/>
          </a:p>
        </p:txBody>
      </p:sp>
      <p:sp>
        <p:nvSpPr>
          <p:cNvPr id="16" name="content">
            <a:hlinkClick r:id="rId5" tooltip=""/>
          </p:cNvPr>
          <p:cNvSpPr txBox="1"/>
          <p:nvPr/>
        </p:nvSpPr>
        <p:spPr>
          <a:xfrm>
            <a:off x="1426464" y="312724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Authentic App/report captures and provenance</a:t>
            </a:r>
            <a:endParaRPr lang="en-US" sz="1900" dirty="0"/>
          </a:p>
        </p:txBody>
      </p:sp>
      <p:sp>
        <p:nvSpPr>
          <p:cNvPr id="17" name="citation">
            <a:hlinkClick r:id="rId6" tooltip=""/>
          </p:cNvPr>
          <p:cNvSpPr txBox="1"/>
          <p:nvPr/>
        </p:nvSpPr>
        <p:spPr>
          <a:xfrm>
            <a:off x="1426464" y="350215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github.com/gregunger/ghca-mosaic-challenge-official/blob/4d18656.../presentation/assets/README.md</a:t>
            </a:r>
            <a:endParaRPr lang="en-US" sz="1050" dirty="0"/>
          </a:p>
        </p:txBody>
      </p:sp>
      <p:sp>
        <p:nvSpPr>
          <p:cNvPr id="18" name="content"/>
          <p:cNvSpPr txBox="1"/>
          <p:nvPr/>
        </p:nvSpPr>
        <p:spPr>
          <a:xfrm>
            <a:off x="658368" y="376732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M02</a:t>
            </a:r>
            <a:endParaRPr lang="en-US" sz="2000" dirty="0"/>
          </a:p>
        </p:txBody>
      </p:sp>
      <p:sp>
        <p:nvSpPr>
          <p:cNvPr id="19" name="content">
            <a:hlinkClick r:id="rId7" tooltip=""/>
          </p:cNvPr>
          <p:cNvSpPr txBox="1"/>
          <p:nvPr/>
        </p:nvSpPr>
        <p:spPr>
          <a:xfrm>
            <a:off x="1426464" y="376732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MOSAIC architecture and implementation boundaries</a:t>
            </a:r>
            <a:endParaRPr lang="en-US" sz="1900" dirty="0"/>
          </a:p>
        </p:txBody>
      </p:sp>
      <p:sp>
        <p:nvSpPr>
          <p:cNvPr id="20" name="citation">
            <a:hlinkClick r:id="rId8" tooltip=""/>
          </p:cNvPr>
          <p:cNvSpPr txBox="1"/>
          <p:nvPr/>
        </p:nvSpPr>
        <p:spPr>
          <a:xfrm>
            <a:off x="1426464" y="414223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github.com/gregunger/ghca-mosaic-challenge-official/blob/4d18656.../docs/architecture.md</a:t>
            </a:r>
            <a:endParaRPr lang="en-US" sz="1050" dirty="0"/>
          </a:p>
        </p:txBody>
      </p:sp>
      <p:sp>
        <p:nvSpPr>
          <p:cNvPr id="21" name="content"/>
          <p:cNvSpPr txBox="1"/>
          <p:nvPr/>
        </p:nvSpPr>
        <p:spPr>
          <a:xfrm>
            <a:off x="658368" y="440740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M03</a:t>
            </a:r>
            <a:endParaRPr lang="en-US" sz="2000" dirty="0"/>
          </a:p>
        </p:txBody>
      </p:sp>
      <p:sp>
        <p:nvSpPr>
          <p:cNvPr id="22" name="content">
            <a:hlinkClick r:id="rId9" tooltip=""/>
          </p:cNvPr>
          <p:cNvSpPr txBox="1"/>
          <p:nvPr/>
        </p:nvSpPr>
        <p:spPr>
          <a:xfrm>
            <a:off x="1426464" y="440740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Canonical synthetic dossier and human-review record</a:t>
            </a:r>
            <a:endParaRPr lang="en-US" sz="1900" dirty="0"/>
          </a:p>
        </p:txBody>
      </p:sp>
      <p:sp>
        <p:nvSpPr>
          <p:cNvPr id="23" name="citation">
            <a:hlinkClick r:id="rId10" tooltip=""/>
          </p:cNvPr>
          <p:cNvSpPr txBox="1"/>
          <p:nvPr/>
        </p:nvSpPr>
        <p:spPr>
          <a:xfrm>
            <a:off x="1426464" y="478231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github.com/gregunger/ghca-mosaic-challenge-official/tree/4d18656.../examples/synthetic/expected</a:t>
            </a:r>
            <a:endParaRPr lang="en-US" sz="1050" dirty="0"/>
          </a:p>
        </p:txBody>
      </p:sp>
      <p:sp>
        <p:nvSpPr>
          <p:cNvPr id="24" name="content"/>
          <p:cNvSpPr txBox="1"/>
          <p:nvPr/>
        </p:nvSpPr>
        <p:spPr>
          <a:xfrm>
            <a:off x="658368" y="50474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M04</a:t>
            </a:r>
            <a:endParaRPr lang="en-US" sz="2000" dirty="0"/>
          </a:p>
        </p:txBody>
      </p:sp>
      <p:sp>
        <p:nvSpPr>
          <p:cNvPr id="25" name="content">
            <a:hlinkClick r:id="rId11" tooltip=""/>
          </p:cNvPr>
          <p:cNvSpPr txBox="1"/>
          <p:nvPr/>
        </p:nvSpPr>
        <p:spPr>
          <a:xfrm>
            <a:off x="1426464" y="50474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Five configured MOSAIC agent profiles</a:t>
            </a:r>
            <a:endParaRPr lang="en-US" sz="1900" dirty="0"/>
          </a:p>
        </p:txBody>
      </p:sp>
      <p:sp>
        <p:nvSpPr>
          <p:cNvPr id="26" name="citation">
            <a:hlinkClick r:id="rId12" tooltip=""/>
          </p:cNvPr>
          <p:cNvSpPr txBox="1"/>
          <p:nvPr/>
        </p:nvSpPr>
        <p:spPr>
          <a:xfrm>
            <a:off x="1426464" y="54223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github.com/gregunger/ghca-mosaic-challenge-official/tree/4d18656.../.github/agents</a:t>
            </a:r>
            <a:endParaRPr lang="en-US" sz="1050" dirty="0"/>
          </a:p>
        </p:txBody>
      </p:sp>
      <p:sp>
        <p:nvSpPr>
          <p:cNvPr id="27"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28"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Verified 19 Oct 2026. Recheck availability, preview status and policy before reuse.</a:t>
            </a:r>
            <a:endParaRPr lang="en-US" sz="1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7FA"/>
        </a:solidFill>
      </p:bgPr>
    </p:bg>
    <p:spTree>
      <p:nvGrpSpPr>
        <p:cNvPr id="1" name=""/>
        <p:cNvGrpSpPr/>
        <p:nvPr/>
      </p:nvGrpSpPr>
      <p:grpSpPr>
        <a:xfrm>
          <a:off x="0" y="0"/>
          <a:ext cx="0" cy="0"/>
          <a:chOff x="0" y="0"/>
          <a:chExt cx="0" cy="0"/>
        </a:xfrm>
      </p:grpSpPr>
      <p:sp>
        <p:nvSpPr>
          <p:cNvPr id="2" name="label"/>
          <p:cNvSpPr txBox="1"/>
          <p:nvPr/>
        </p:nvSpPr>
        <p:spPr>
          <a:xfrm>
            <a:off x="548640" y="182880"/>
            <a:ext cx="4937760" cy="237744"/>
          </a:xfrm>
          <a:prstGeom prst="rect">
            <a:avLst/>
          </a:prstGeom>
          <a:noFill/>
          <a:ln/>
        </p:spPr>
        <p:txBody>
          <a:bodyPr wrap="square" lIns="0" tIns="0" rIns="0" bIns="0" rtlCol="0" anchor="ctr"/>
          <a:lstStyle/>
          <a:p>
            <a:pPr indent="0" marL="0">
              <a:buNone/>
            </a:pPr>
            <a:r>
              <a:rPr lang="en-US" sz="1250" b="1" dirty="0">
                <a:solidFill>
                  <a:srgbClr val="0969DA"/>
                </a:solidFill>
                <a:latin typeface="Segoe UI" pitchFamily="34" charset="0"/>
                <a:ea typeface="Segoe UI" pitchFamily="34" charset="-122"/>
                <a:cs typeface="Segoe UI" pitchFamily="34" charset="-120"/>
              </a:rPr>
              <a:t>GitHub Copilot App</a:t>
            </a:r>
            <a:endParaRPr lang="en-US" sz="1250" dirty="0"/>
          </a:p>
        </p:txBody>
      </p:sp>
      <p:sp>
        <p:nvSpPr>
          <p:cNvPr id="3" name="label"/>
          <p:cNvSpPr txBox="1"/>
          <p:nvPr/>
        </p:nvSpPr>
        <p:spPr>
          <a:xfrm>
            <a:off x="7406640" y="182880"/>
            <a:ext cx="4233672" cy="237744"/>
          </a:xfrm>
          <a:prstGeom prst="rect">
            <a:avLst/>
          </a:prstGeom>
          <a:noFill/>
          <a:ln/>
        </p:spPr>
        <p:txBody>
          <a:bodyPr wrap="square" lIns="0" tIns="0" rIns="0" bIns="0" rtlCol="0" anchor="ctr"/>
          <a:lstStyle/>
          <a:p>
            <a:pPr algn="r" indent="0" marL="0">
              <a:buNone/>
            </a:pPr>
            <a:r>
              <a:rPr lang="en-US" sz="1050" dirty="0">
                <a:solidFill>
                  <a:srgbClr val="526174"/>
                </a:solidFill>
                <a:latin typeface="Segoe UI" pitchFamily="34" charset="0"/>
                <a:ea typeface="Segoe UI" pitchFamily="34" charset="-122"/>
                <a:cs typeface="Segoe UI" pitchFamily="34" charset="-120"/>
              </a:rPr>
              <a:t>MOSAIC / OPTIONAL REFERENCE</a:t>
            </a:r>
            <a:endParaRPr lang="en-US" sz="1050" dirty="0"/>
          </a:p>
        </p:txBody>
      </p:sp>
      <p:sp>
        <p:nvSpPr>
          <p:cNvPr id="4" name="content"/>
          <p:cNvSpPr txBox="1"/>
          <p:nvPr/>
        </p:nvSpPr>
        <p:spPr>
          <a:xfrm>
            <a:off x="548640" y="694944"/>
            <a:ext cx="11091672" cy="914400"/>
          </a:xfrm>
          <a:prstGeom prst="rect">
            <a:avLst/>
          </a:prstGeom>
          <a:noFill/>
          <a:ln/>
        </p:spPr>
        <p:txBody>
          <a:bodyPr wrap="square" lIns="0" tIns="0" rIns="0" bIns="0" rtlCol="0" anchor="ctr"/>
          <a:lstStyle/>
          <a:p>
            <a:pPr indent="0" marL="0">
              <a:buNone/>
            </a:pPr>
            <a:r>
              <a:rPr lang="en-US" sz="3100" b="1" dirty="0">
                <a:solidFill>
                  <a:srgbClr val="14202B"/>
                </a:solidFill>
                <a:latin typeface="Bahnschrift" pitchFamily="34" charset="0"/>
                <a:ea typeface="Bahnschrift" pitchFamily="34" charset="-122"/>
                <a:cs typeface="Bahnschrift" pitchFamily="34" charset="-120"/>
              </a:rPr>
              <a:t>Sources 5/5: inspect the evidence</a:t>
            </a:r>
            <a:endParaRPr lang="en-US" sz="3100" dirty="0"/>
          </a:p>
        </p:txBody>
      </p:sp>
      <p:sp>
        <p:nvSpPr>
          <p:cNvPr id="5" name="Shape 3"/>
          <p:cNvSpPr/>
          <p:nvPr/>
        </p:nvSpPr>
        <p:spPr>
          <a:xfrm>
            <a:off x="548640" y="6510528"/>
            <a:ext cx="11091672" cy="0"/>
          </a:xfrm>
          <a:prstGeom prst="line">
            <a:avLst/>
          </a:prstGeom>
          <a:noFill/>
          <a:ln w="12700">
            <a:solidFill>
              <a:srgbClr val="D4DDE7"/>
            </a:solidFill>
            <a:prstDash val="solid"/>
          </a:ln>
        </p:spPr>
      </p:sp>
      <p:sp>
        <p:nvSpPr>
          <p:cNvPr id="6" name="citation"/>
          <p:cNvSpPr txBox="1"/>
          <p:nvPr/>
        </p:nvSpPr>
        <p:spPr>
          <a:xfrm>
            <a:off x="548640" y="6601968"/>
            <a:ext cx="10515600" cy="137160"/>
          </a:xfrm>
          <a:prstGeom prst="rect">
            <a:avLst/>
          </a:prstGeom>
          <a:noFill/>
          <a:ln/>
        </p:spPr>
        <p:txBody>
          <a:bodyPr wrap="square" lIns="0" tIns="0" rIns="0" bIns="0" rtlCol="0" anchor="ctr"/>
          <a:lstStyle/>
          <a:p>
            <a:pPr indent="0" marL="0">
              <a:buNone/>
            </a:pPr>
            <a:r>
              <a:rPr lang="en-US" sz="900" dirty="0">
                <a:solidFill>
                  <a:srgbClr val="526174"/>
                </a:solidFill>
                <a:latin typeface="Segoe UI" pitchFamily="34" charset="0"/>
                <a:ea typeface="Segoe UI" pitchFamily="34" charset="-122"/>
                <a:cs typeface="Segoe UI" pitchFamily="34" charset="-120"/>
              </a:rPr>
              <a:t>Sources: M05, M06, M07  |  Documented surface snapshot: 19 Oct 2026</a:t>
            </a:r>
            <a:endParaRPr lang="en-US" sz="900" dirty="0"/>
          </a:p>
        </p:txBody>
      </p:sp>
      <p:sp>
        <p:nvSpPr>
          <p:cNvPr id="7" name="label"/>
          <p:cNvSpPr txBox="1"/>
          <p:nvPr/>
        </p:nvSpPr>
        <p:spPr>
          <a:xfrm>
            <a:off x="11155680" y="6574536"/>
            <a:ext cx="457200" cy="201168"/>
          </a:xfrm>
          <a:prstGeom prst="rect">
            <a:avLst/>
          </a:prstGeom>
          <a:noFill/>
          <a:ln/>
        </p:spPr>
        <p:txBody>
          <a:bodyPr wrap="square" lIns="0" tIns="0" rIns="0" bIns="0" rtlCol="0" anchor="ctr"/>
          <a:lstStyle/>
          <a:p>
            <a:pPr algn="r" indent="0" marL="0">
              <a:buNone/>
            </a:pPr>
            <a:r>
              <a:rPr lang="en-US" sz="1000" dirty="0">
                <a:solidFill>
                  <a:srgbClr val="526174"/>
                </a:solidFill>
                <a:latin typeface="Segoe UI" pitchFamily="34" charset="0"/>
                <a:ea typeface="Segoe UI" pitchFamily="34" charset="-122"/>
                <a:cs typeface="Segoe UI" pitchFamily="34" charset="-120"/>
              </a:rPr>
              <a:t>32</a:t>
            </a:r>
            <a:endParaRPr lang="en-US" sz="1000" dirty="0"/>
          </a:p>
        </p:txBody>
      </p:sp>
      <p:sp>
        <p:nvSpPr>
          <p:cNvPr id="9" name="content"/>
          <p:cNvSpPr txBox="1"/>
          <p:nvPr/>
        </p:nvSpPr>
        <p:spPr>
          <a:xfrm>
            <a:off x="658368" y="184708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M05</a:t>
            </a:r>
            <a:endParaRPr lang="en-US" sz="2000" dirty="0"/>
          </a:p>
        </p:txBody>
      </p:sp>
      <p:sp>
        <p:nvSpPr>
          <p:cNvPr id="10" name="content">
            <a:hlinkClick r:id="rId1" tooltip=""/>
          </p:cNvPr>
          <p:cNvSpPr txBox="1"/>
          <p:nvPr/>
        </p:nvSpPr>
        <p:spPr>
          <a:xfrm>
            <a:off x="1426464" y="184708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Illustrative economics and measurement plan</a:t>
            </a:r>
            <a:endParaRPr lang="en-US" sz="1900" dirty="0"/>
          </a:p>
        </p:txBody>
      </p:sp>
      <p:sp>
        <p:nvSpPr>
          <p:cNvPr id="11" name="citation">
            <a:hlinkClick r:id="rId2" tooltip=""/>
          </p:cNvPr>
          <p:cNvSpPr txBox="1"/>
          <p:nvPr/>
        </p:nvSpPr>
        <p:spPr>
          <a:xfrm>
            <a:off x="1426464" y="222199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github.com/gregunger/ghca-mosaic-challenge-official/blob/4d18656.../docs/evaluation-plan.md#planning-economics</a:t>
            </a:r>
            <a:endParaRPr lang="en-US" sz="1050" dirty="0"/>
          </a:p>
        </p:txBody>
      </p:sp>
      <p:sp>
        <p:nvSpPr>
          <p:cNvPr id="12" name="content"/>
          <p:cNvSpPr txBox="1"/>
          <p:nvPr/>
        </p:nvSpPr>
        <p:spPr>
          <a:xfrm>
            <a:off x="658368" y="248716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M06</a:t>
            </a:r>
            <a:endParaRPr lang="en-US" sz="2000" dirty="0"/>
          </a:p>
        </p:txBody>
      </p:sp>
      <p:sp>
        <p:nvSpPr>
          <p:cNvPr id="13" name="content">
            <a:hlinkClick r:id="rId3" tooltip=""/>
          </p:cNvPr>
          <p:cNvSpPr txBox="1"/>
          <p:nvPr/>
        </p:nvSpPr>
        <p:spPr>
          <a:xfrm>
            <a:off x="1426464" y="248716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Field reuse and adoption path</a:t>
            </a:r>
            <a:endParaRPr lang="en-US" sz="1900" dirty="0"/>
          </a:p>
        </p:txBody>
      </p:sp>
      <p:sp>
        <p:nvSpPr>
          <p:cNvPr id="14" name="citation">
            <a:hlinkClick r:id="rId4" tooltip=""/>
          </p:cNvPr>
          <p:cNvSpPr txBox="1"/>
          <p:nvPr/>
        </p:nvSpPr>
        <p:spPr>
          <a:xfrm>
            <a:off x="1426464" y="286207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github.com/gregunger/ghca-mosaic-challenge-official/blob/4d18656.../docs/adoption-playbook.md</a:t>
            </a:r>
            <a:endParaRPr lang="en-US" sz="1050" dirty="0"/>
          </a:p>
        </p:txBody>
      </p:sp>
      <p:sp>
        <p:nvSpPr>
          <p:cNvPr id="15" name="content"/>
          <p:cNvSpPr txBox="1"/>
          <p:nvPr/>
        </p:nvSpPr>
        <p:spPr>
          <a:xfrm>
            <a:off x="658368" y="3127248"/>
            <a:ext cx="621792" cy="365760"/>
          </a:xfrm>
          <a:prstGeom prst="rect">
            <a:avLst/>
          </a:prstGeom>
          <a:noFill/>
          <a:ln/>
        </p:spPr>
        <p:txBody>
          <a:bodyPr wrap="square" lIns="0" tIns="0" rIns="0" bIns="0" rtlCol="0" anchor="ctr"/>
          <a:lstStyle/>
          <a:p>
            <a:pPr indent="0" marL="0">
              <a:buNone/>
            </a:pPr>
            <a:r>
              <a:rPr lang="en-US" sz="2000" b="1" dirty="0">
                <a:solidFill>
                  <a:srgbClr val="0969DA"/>
                </a:solidFill>
                <a:latin typeface="Segoe UI" pitchFamily="34" charset="0"/>
                <a:ea typeface="Segoe UI" pitchFamily="34" charset="-122"/>
                <a:cs typeface="Segoe UI" pitchFamily="34" charset="-120"/>
              </a:rPr>
              <a:t>M07</a:t>
            </a:r>
            <a:endParaRPr lang="en-US" sz="2000" dirty="0"/>
          </a:p>
        </p:txBody>
      </p:sp>
      <p:sp>
        <p:nvSpPr>
          <p:cNvPr id="16" name="content">
            <a:hlinkClick r:id="rId5" tooltip=""/>
          </p:cNvPr>
          <p:cNvSpPr txBox="1"/>
          <p:nvPr/>
        </p:nvSpPr>
        <p:spPr>
          <a:xfrm>
            <a:off x="1426464" y="3127248"/>
            <a:ext cx="9884664" cy="329184"/>
          </a:xfrm>
          <a:prstGeom prst="rect">
            <a:avLst/>
          </a:prstGeom>
          <a:noFill/>
          <a:ln/>
        </p:spPr>
        <p:txBody>
          <a:bodyPr wrap="square" lIns="0" tIns="0" rIns="0" bIns="0" rtlCol="0" anchor="ctr"/>
          <a:lstStyle/>
          <a:p>
            <a:pPr indent="0" marL="0">
              <a:buNone/>
            </a:pPr>
            <a:r>
              <a:rPr lang="en-US" sz="1900" b="1" u="sng" dirty="0">
                <a:solidFill>
                  <a:srgbClr val="14202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Observed App skill and read-only MCP rehearsal</a:t>
            </a:r>
            <a:endParaRPr lang="en-US" sz="1900" dirty="0"/>
          </a:p>
        </p:txBody>
      </p:sp>
      <p:sp>
        <p:nvSpPr>
          <p:cNvPr id="17" name="citation">
            <a:hlinkClick r:id="rId6" tooltip=""/>
          </p:cNvPr>
          <p:cNvSpPr txBox="1"/>
          <p:nvPr/>
        </p:nvSpPr>
        <p:spPr>
          <a:xfrm>
            <a:off x="1426464" y="3502152"/>
            <a:ext cx="9884664" cy="219456"/>
          </a:xfrm>
          <a:prstGeom prst="rect">
            <a:avLst/>
          </a:prstGeom>
          <a:noFill/>
          <a:ln/>
        </p:spPr>
        <p:txBody>
          <a:bodyPr wrap="square" lIns="0" tIns="0" rIns="0" bIns="0" rtlCol="0" anchor="ctr"/>
          <a:lstStyle/>
          <a:p>
            <a:pPr indent="0" marL="0">
              <a:buNone/>
            </a:pPr>
            <a:r>
              <a:rPr lang="en-US" sz="1050" u="sng" dirty="0">
                <a:solidFill>
                  <a:srgbClr val="526174"/>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github.com/gregunger/ghca-mosaic-challenge-official/blob/4d18656.../docs/product-feedback-observation-log.md</a:t>
            </a:r>
            <a:endParaRPr lang="en-US" sz="1050" dirty="0"/>
          </a:p>
        </p:txBody>
      </p:sp>
      <p:sp>
        <p:nvSpPr>
          <p:cNvPr id="18" name="layout-panel"/>
          <p:cNvSpPr/>
          <p:nvPr/>
        </p:nvSpPr>
        <p:spPr>
          <a:xfrm>
            <a:off x="548640" y="5916168"/>
            <a:ext cx="11091672" cy="448056"/>
          </a:xfrm>
          <a:prstGeom prst="roundRect">
            <a:avLst>
              <a:gd name="adj" fmla="val 24490"/>
            </a:avLst>
          </a:prstGeom>
          <a:solidFill>
            <a:srgbClr val="E7EEF8"/>
          </a:solidFill>
          <a:ln w="8890">
            <a:solidFill>
              <a:srgbClr val="E7EEF8"/>
            </a:solidFill>
            <a:prstDash val="solid"/>
          </a:ln>
        </p:spPr>
      </p:sp>
      <p:sp>
        <p:nvSpPr>
          <p:cNvPr id="19" name="takeaway"/>
          <p:cNvSpPr txBox="1"/>
          <p:nvPr/>
        </p:nvSpPr>
        <p:spPr>
          <a:xfrm>
            <a:off x="749808" y="5980176"/>
            <a:ext cx="10680192" cy="292608"/>
          </a:xfrm>
          <a:prstGeom prst="rect">
            <a:avLst/>
          </a:prstGeom>
          <a:noFill/>
          <a:ln/>
        </p:spPr>
        <p:txBody>
          <a:bodyPr wrap="square" lIns="0" tIns="0" rIns="0" bIns="0" rtlCol="0" anchor="ctr"/>
          <a:lstStyle/>
          <a:p>
            <a:pPr indent="0" marL="0">
              <a:buNone/>
            </a:pPr>
            <a:r>
              <a:rPr lang="en-US" sz="1750" b="1" dirty="0">
                <a:solidFill>
                  <a:srgbClr val="0969DA"/>
                </a:solidFill>
                <a:latin typeface="Segoe UI" pitchFamily="34" charset="0"/>
                <a:ea typeface="Segoe UI" pitchFamily="34" charset="-122"/>
                <a:cs typeface="Segoe UI" pitchFamily="34" charset="-120"/>
              </a:rPr>
              <a:t>Verified 19 Oct 2026. Recheck availability, preview status and policy before reuse.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MOSAIC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App: turn expertise into repeatable work</dc:title>
  <dc:subject>GitHub Copilot App customer demo and MOSAIC extensibility reference</dc:subject>
  <dc:creator>MOSAIC project</dc:creator>
  <cp:lastModifiedBy>MOSAIC project</cp:lastModifiedBy>
  <cp:revision>1</cp:revision>
  <dcterms:created xsi:type="dcterms:W3CDTF">2026-10-19T14:03:29Z</dcterms:created>
  <dcterms:modified xsi:type="dcterms:W3CDTF">2026-10-19T14:03:29Z</dcterms:modified>
</cp:coreProperties>
</file>